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84" r:id="rId1"/>
  </p:sldMasterIdLst>
  <p:notesMasterIdLst>
    <p:notesMasterId r:id="rId134"/>
  </p:notesMasterIdLst>
  <p:sldIdLst>
    <p:sldId id="414" r:id="rId2"/>
    <p:sldId id="748" r:id="rId3"/>
    <p:sldId id="750" r:id="rId4"/>
    <p:sldId id="751" r:id="rId5"/>
    <p:sldId id="745" r:id="rId6"/>
    <p:sldId id="867" r:id="rId7"/>
    <p:sldId id="868" r:id="rId8"/>
    <p:sldId id="870" r:id="rId9"/>
    <p:sldId id="873" r:id="rId10"/>
    <p:sldId id="874" r:id="rId11"/>
    <p:sldId id="875" r:id="rId12"/>
    <p:sldId id="876" r:id="rId13"/>
    <p:sldId id="878" r:id="rId14"/>
    <p:sldId id="877" r:id="rId15"/>
    <p:sldId id="879" r:id="rId16"/>
    <p:sldId id="882" r:id="rId17"/>
    <p:sldId id="884" r:id="rId18"/>
    <p:sldId id="885" r:id="rId19"/>
    <p:sldId id="752" r:id="rId20"/>
    <p:sldId id="768" r:id="rId21"/>
    <p:sldId id="929" r:id="rId22"/>
    <p:sldId id="769" r:id="rId23"/>
    <p:sldId id="770" r:id="rId24"/>
    <p:sldId id="773" r:id="rId25"/>
    <p:sldId id="774" r:id="rId26"/>
    <p:sldId id="776" r:id="rId27"/>
    <p:sldId id="749" r:id="rId28"/>
    <p:sldId id="777" r:id="rId29"/>
    <p:sldId id="778" r:id="rId30"/>
    <p:sldId id="779" r:id="rId31"/>
    <p:sldId id="781" r:id="rId32"/>
    <p:sldId id="782" r:id="rId33"/>
    <p:sldId id="783" r:id="rId34"/>
    <p:sldId id="784" r:id="rId35"/>
    <p:sldId id="785" r:id="rId36"/>
    <p:sldId id="787" r:id="rId37"/>
    <p:sldId id="899" r:id="rId38"/>
    <p:sldId id="744" r:id="rId39"/>
    <p:sldId id="900" r:id="rId40"/>
    <p:sldId id="903" r:id="rId41"/>
    <p:sldId id="927" r:id="rId42"/>
    <p:sldId id="904" r:id="rId43"/>
    <p:sldId id="928" r:id="rId44"/>
    <p:sldId id="905" r:id="rId45"/>
    <p:sldId id="889" r:id="rId46"/>
    <p:sldId id="891" r:id="rId47"/>
    <p:sldId id="892" r:id="rId48"/>
    <p:sldId id="893" r:id="rId49"/>
    <p:sldId id="894" r:id="rId50"/>
    <p:sldId id="895" r:id="rId51"/>
    <p:sldId id="896" r:id="rId52"/>
    <p:sldId id="897" r:id="rId53"/>
    <p:sldId id="753" r:id="rId54"/>
    <p:sldId id="788" r:id="rId55"/>
    <p:sldId id="789" r:id="rId56"/>
    <p:sldId id="790" r:id="rId57"/>
    <p:sldId id="793" r:id="rId58"/>
    <p:sldId id="794" r:id="rId59"/>
    <p:sldId id="796" r:id="rId60"/>
    <p:sldId id="754" r:id="rId61"/>
    <p:sldId id="721" r:id="rId62"/>
    <p:sldId id="799" r:id="rId63"/>
    <p:sldId id="800" r:id="rId64"/>
    <p:sldId id="801" r:id="rId65"/>
    <p:sldId id="805" r:id="rId66"/>
    <p:sldId id="806" r:id="rId67"/>
    <p:sldId id="807" r:id="rId68"/>
    <p:sldId id="755" r:id="rId69"/>
    <p:sldId id="730" r:id="rId70"/>
    <p:sldId id="811" r:id="rId71"/>
    <p:sldId id="812" r:id="rId72"/>
    <p:sldId id="813" r:id="rId73"/>
    <p:sldId id="817" r:id="rId74"/>
    <p:sldId id="818" r:id="rId75"/>
    <p:sldId id="819" r:id="rId76"/>
    <p:sldId id="820" r:id="rId77"/>
    <p:sldId id="756" r:id="rId78"/>
    <p:sldId id="822" r:id="rId79"/>
    <p:sldId id="824" r:id="rId80"/>
    <p:sldId id="825" r:id="rId81"/>
    <p:sldId id="828" r:id="rId82"/>
    <p:sldId id="829" r:id="rId83"/>
    <p:sldId id="830" r:id="rId84"/>
    <p:sldId id="832" r:id="rId85"/>
    <p:sldId id="823" r:id="rId86"/>
    <p:sldId id="757" r:id="rId87"/>
    <p:sldId id="709" r:id="rId88"/>
    <p:sldId id="762" r:id="rId89"/>
    <p:sldId id="763" r:id="rId90"/>
    <p:sldId id="930" r:id="rId91"/>
    <p:sldId id="765" r:id="rId92"/>
    <p:sldId id="766" r:id="rId93"/>
    <p:sldId id="767" r:id="rId94"/>
    <p:sldId id="758" r:id="rId95"/>
    <p:sldId id="834" r:id="rId96"/>
    <p:sldId id="836" r:id="rId97"/>
    <p:sldId id="835" r:id="rId98"/>
    <p:sldId id="839" r:id="rId99"/>
    <p:sldId id="841" r:id="rId100"/>
    <p:sldId id="840" r:id="rId101"/>
    <p:sldId id="760" r:id="rId102"/>
    <p:sldId id="846" r:id="rId103"/>
    <p:sldId id="847" r:id="rId104"/>
    <p:sldId id="848" r:id="rId105"/>
    <p:sldId id="850" r:id="rId106"/>
    <p:sldId id="853" r:id="rId107"/>
    <p:sldId id="854" r:id="rId108"/>
    <p:sldId id="856" r:id="rId109"/>
    <p:sldId id="761" r:id="rId110"/>
    <p:sldId id="861" r:id="rId111"/>
    <p:sldId id="863" r:id="rId112"/>
    <p:sldId id="864" r:id="rId113"/>
    <p:sldId id="865" r:id="rId114"/>
    <p:sldId id="906" r:id="rId115"/>
    <p:sldId id="907" r:id="rId116"/>
    <p:sldId id="909" r:id="rId117"/>
    <p:sldId id="910" r:id="rId118"/>
    <p:sldId id="908" r:id="rId119"/>
    <p:sldId id="912" r:id="rId120"/>
    <p:sldId id="913" r:id="rId121"/>
    <p:sldId id="917" r:id="rId122"/>
    <p:sldId id="732" r:id="rId123"/>
    <p:sldId id="918" r:id="rId124"/>
    <p:sldId id="919" r:id="rId125"/>
    <p:sldId id="920" r:id="rId126"/>
    <p:sldId id="922" r:id="rId127"/>
    <p:sldId id="923" r:id="rId128"/>
    <p:sldId id="925" r:id="rId129"/>
    <p:sldId id="735" r:id="rId130"/>
    <p:sldId id="736" r:id="rId131"/>
    <p:sldId id="741" r:id="rId132"/>
    <p:sldId id="588" r:id="rId1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ne Gibbons" initials="J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94624" autoAdjust="0"/>
  </p:normalViewPr>
  <p:slideViewPr>
    <p:cSldViewPr>
      <p:cViewPr varScale="1">
        <p:scale>
          <a:sx n="68" d="100"/>
          <a:sy n="68" d="100"/>
        </p:scale>
        <p:origin x="792" y="72"/>
      </p:cViewPr>
      <p:guideLst>
        <p:guide orient="horz" pos="2160"/>
        <p:guide pos="3840"/>
      </p:guideLst>
    </p:cSldViewPr>
  </p:slideViewPr>
  <p:outlineViewPr>
    <p:cViewPr>
      <p:scale>
        <a:sx n="33" d="100"/>
        <a:sy n="33" d="100"/>
      </p:scale>
      <p:origin x="0" y="12180"/>
    </p:cViewPr>
  </p:outlineViewPr>
  <p:notesTextViewPr>
    <p:cViewPr>
      <p:scale>
        <a:sx n="100" d="100"/>
        <a:sy n="100" d="100"/>
      </p:scale>
      <p:origin x="0" y="0"/>
    </p:cViewPr>
  </p:notesTextViewPr>
  <p:sorterViewPr>
    <p:cViewPr>
      <p:scale>
        <a:sx n="100" d="100"/>
        <a:sy n="100" d="100"/>
      </p:scale>
      <p:origin x="0" y="-3486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commentAuthors" Target="commentAuthor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55"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856"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857"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858"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9"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860"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extLst>
      <p:ext uri="{BB962C8B-B14F-4D97-AF65-F5344CB8AC3E}">
        <p14:creationId xmlns:p14="http://schemas.microsoft.com/office/powerpoint/2010/main" val="427417344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1048593" name="Title 1"/>
          <p:cNvSpPr>
            <a:spLocks noGrp="1"/>
          </p:cNvSpPr>
          <p:nvPr>
            <p:ph type="title"/>
          </p:nvPr>
        </p:nvSpPr>
        <p:spPr/>
        <p:txBody>
          <a:bodyPr/>
          <a:lstStyle/>
          <a:p>
            <a:r>
              <a:rPr lang="en-US"/>
              <a:t>Click to edit Master title style</a:t>
            </a:r>
          </a:p>
        </p:txBody>
      </p:sp>
      <p:sp>
        <p:nvSpPr>
          <p:cNvPr id="104859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5" name="Date Placeholder 3"/>
          <p:cNvSpPr>
            <a:spLocks noGrp="1"/>
          </p:cNvSpPr>
          <p:nvPr>
            <p:ph type="dt" sz="half" idx="10"/>
          </p:nvPr>
        </p:nvSpPr>
        <p:spPr/>
        <p:txBody>
          <a:bodyPr/>
          <a:lstStyle/>
          <a:p>
            <a:fld id="{AF4CC6F3-E786-43F2-A26B-353A3F4992FC}" type="datetimeFigureOut">
              <a:rPr lang="en-US" smtClean="0">
                <a:solidFill>
                  <a:prstClr val="black">
                    <a:tint val="75000"/>
                  </a:prstClr>
                </a:solidFill>
              </a:rPr>
              <a:pPr/>
              <a:t>11/14/2024</a:t>
            </a:fld>
            <a:endParaRPr lang="en-US">
              <a:solidFill>
                <a:prstClr val="black">
                  <a:tint val="75000"/>
                </a:prstClr>
              </a:solidFill>
            </a:endParaRPr>
          </a:p>
        </p:txBody>
      </p:sp>
      <p:sp>
        <p:nvSpPr>
          <p:cNvPr id="1048596" name="Footer Placeholder 4"/>
          <p:cNvSpPr>
            <a:spLocks noGrp="1"/>
          </p:cNvSpPr>
          <p:nvPr>
            <p:ph type="ftr" sz="quarter" idx="11"/>
          </p:nvPr>
        </p:nvSpPr>
        <p:spPr/>
        <p:txBody>
          <a:bodyPr/>
          <a:lstStyle/>
          <a:p>
            <a:endParaRPr lang="en-US">
              <a:solidFill>
                <a:prstClr val="black">
                  <a:tint val="75000"/>
                </a:prstClr>
              </a:solidFill>
            </a:endParaRPr>
          </a:p>
        </p:txBody>
      </p:sp>
      <p:sp>
        <p:nvSpPr>
          <p:cNvPr id="1048597" name="Slide Number Placeholder 5"/>
          <p:cNvSpPr>
            <a:spLocks noGrp="1"/>
          </p:cNvSpPr>
          <p:nvPr>
            <p:ph type="sldNum" sz="quarter" idx="12"/>
          </p:nvPr>
        </p:nvSpPr>
        <p:spPr/>
        <p:txBody>
          <a:bodyPr/>
          <a:lstStyle/>
          <a:p>
            <a:fld id="{9B5143F3-69BA-4D55-B422-1851F07DEEF7}"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r="-10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4CC6F3-E786-43F2-A26B-353A3F4992FC}" type="datetimeFigureOut">
              <a:rPr lang="en-US" smtClean="0">
                <a:solidFill>
                  <a:prstClr val="black">
                    <a:tint val="75000"/>
                  </a:prstClr>
                </a:solidFill>
              </a:rPr>
              <a:pPr/>
              <a:t>11/14/2024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143F3-69BA-4D55-B422-1851F07DEEF7}"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6"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107C08-8E08-4B58-A15F-6DD8812FD8C4}"/>
              </a:ext>
            </a:extLst>
          </p:cNvPr>
          <p:cNvPicPr>
            <a:picLocks noChangeAspect="1"/>
          </p:cNvPicPr>
          <p:nvPr/>
        </p:nvPicPr>
        <p:blipFill rotWithShape="1">
          <a:blip r:embed="rId2"/>
          <a:srcRect l="22665" t="21675" r="8585" b="29412"/>
          <a:stretch/>
        </p:blipFill>
        <p:spPr>
          <a:xfrm>
            <a:off x="0" y="0"/>
            <a:ext cx="12192000" cy="4953000"/>
          </a:xfrm>
          <a:prstGeom prst="rect">
            <a:avLst/>
          </a:prstGeom>
        </p:spPr>
      </p:pic>
      <p:sp>
        <p:nvSpPr>
          <p:cNvPr id="6" name="TextBox 5">
            <a:extLst>
              <a:ext uri="{FF2B5EF4-FFF2-40B4-BE49-F238E27FC236}">
                <a16:creationId xmlns:a16="http://schemas.microsoft.com/office/drawing/2014/main" id="{B9E05C74-B20E-4BC1-BF99-D6B2D1B64A81}"/>
              </a:ext>
            </a:extLst>
          </p:cNvPr>
          <p:cNvSpPr txBox="1"/>
          <p:nvPr/>
        </p:nvSpPr>
        <p:spPr>
          <a:xfrm>
            <a:off x="381000" y="5615969"/>
            <a:ext cx="2365456" cy="369332"/>
          </a:xfrm>
          <a:prstGeom prst="rect">
            <a:avLst/>
          </a:prstGeom>
          <a:noFill/>
        </p:spPr>
        <p:txBody>
          <a:bodyPr wrap="none" rtlCol="0">
            <a:spAutoFit/>
          </a:bodyPr>
          <a:lstStyle/>
          <a:p>
            <a:r>
              <a:rPr lang="en-US" b="1" dirty="0">
                <a:solidFill>
                  <a:schemeClr val="accent6"/>
                </a:solidFill>
                <a:effectLst>
                  <a:outerShdw blurRad="38100" dist="38100" dir="2700000" algn="tl">
                    <a:srgbClr val="000000">
                      <a:alpha val="43137"/>
                    </a:srgbClr>
                  </a:outerShdw>
                </a:effectLst>
              </a:rPr>
              <a:t>DR. STEPHEN K. DOTSE</a:t>
            </a:r>
          </a:p>
        </p:txBody>
      </p:sp>
      <p:sp>
        <p:nvSpPr>
          <p:cNvPr id="7" name="TextBox 6">
            <a:extLst>
              <a:ext uri="{FF2B5EF4-FFF2-40B4-BE49-F238E27FC236}">
                <a16:creationId xmlns:a16="http://schemas.microsoft.com/office/drawing/2014/main" id="{CD6F00EF-E879-47A5-91A2-0DE10186D139}"/>
              </a:ext>
            </a:extLst>
          </p:cNvPr>
          <p:cNvSpPr txBox="1"/>
          <p:nvPr/>
        </p:nvSpPr>
        <p:spPr>
          <a:xfrm>
            <a:off x="609600" y="2057400"/>
            <a:ext cx="9328388"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NETWORK COMPONENTS AND DEVICES</a:t>
            </a:r>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174D482-94A3-4E16-811A-E92BE0D574A9}"/>
              </a:ext>
            </a:extLst>
          </p:cNvPr>
          <p:cNvSpPr txBox="1"/>
          <p:nvPr/>
        </p:nvSpPr>
        <p:spPr>
          <a:xfrm>
            <a:off x="5029200" y="4267200"/>
            <a:ext cx="1627369" cy="461665"/>
          </a:xfrm>
          <a:prstGeom prst="rect">
            <a:avLst/>
          </a:prstGeom>
          <a:noFill/>
        </p:spPr>
        <p:txBody>
          <a:bodyPr wrap="none" rtlCol="0">
            <a:spAutoFit/>
          </a:bodyPr>
          <a:lstStyle/>
          <a:p>
            <a:r>
              <a:rPr lang="en-US" sz="2400" b="1" dirty="0">
                <a:solidFill>
                  <a:srgbClr val="002060"/>
                </a:solidFill>
              </a:rPr>
              <a:t>WEEK  FIVE</a:t>
            </a:r>
          </a:p>
        </p:txBody>
      </p:sp>
    </p:spTree>
    <p:extLst>
      <p:ext uri="{BB962C8B-B14F-4D97-AF65-F5344CB8AC3E}">
        <p14:creationId xmlns:p14="http://schemas.microsoft.com/office/powerpoint/2010/main" val="379627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F666-7DC2-4BFA-BE8A-D795B965B88C}"/>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NETWORK COMPONENTS AND DEVICES</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7C091E2-691E-476F-A2F7-D45F51470169}"/>
              </a:ext>
            </a:extLst>
          </p:cNvPr>
          <p:cNvSpPr>
            <a:spLocks noGrp="1"/>
          </p:cNvSpPr>
          <p:nvPr>
            <p:ph idx="1"/>
          </p:nvPr>
        </p:nvSpPr>
        <p:spPr/>
        <p:txBody>
          <a:bodyPr/>
          <a:lstStyle/>
          <a:p>
            <a:r>
              <a:rPr lang="en-US" dirty="0"/>
              <a:t>Network components and devices are hardware and software elements that work together to facilitate data communication within and between networks. </a:t>
            </a:r>
          </a:p>
          <a:p>
            <a:r>
              <a:rPr lang="en-US" dirty="0"/>
              <a:t>These devices help manage network traffic, connect devices, ensure security, and maintain reliable communication.</a:t>
            </a:r>
          </a:p>
          <a:p>
            <a:endParaRPr lang="en-US" dirty="0"/>
          </a:p>
        </p:txBody>
      </p:sp>
    </p:spTree>
    <p:extLst>
      <p:ext uri="{BB962C8B-B14F-4D97-AF65-F5344CB8AC3E}">
        <p14:creationId xmlns:p14="http://schemas.microsoft.com/office/powerpoint/2010/main" val="947660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97ED-1163-4A79-8E4E-60C35B682C6A}"/>
              </a:ext>
            </a:extLst>
          </p:cNvPr>
          <p:cNvSpPr>
            <a:spLocks noGrp="1"/>
          </p:cNvSpPr>
          <p:nvPr>
            <p:ph type="title"/>
          </p:nvPr>
        </p:nvSpPr>
        <p:spPr/>
        <p:txBody>
          <a:bodyPr>
            <a:normAutofit fontScale="90000"/>
          </a:bodyPr>
          <a:lstStyle/>
          <a:p>
            <a:r>
              <a:rPr lang="en-US" b="1" dirty="0"/>
              <a:t>Key Network Components and Devices</a:t>
            </a:r>
            <a:br>
              <a:rPr lang="en-US" b="1" dirty="0"/>
            </a:br>
            <a:endParaRPr lang="en-US" dirty="0"/>
          </a:p>
        </p:txBody>
      </p:sp>
      <p:sp>
        <p:nvSpPr>
          <p:cNvPr id="3" name="Content Placeholder 2">
            <a:extLst>
              <a:ext uri="{FF2B5EF4-FFF2-40B4-BE49-F238E27FC236}">
                <a16:creationId xmlns:a16="http://schemas.microsoft.com/office/drawing/2014/main" id="{29C14307-1374-4B2E-B8F3-FCA843D754CF}"/>
              </a:ext>
            </a:extLst>
          </p:cNvPr>
          <p:cNvSpPr>
            <a:spLocks noGrp="1"/>
          </p:cNvSpPr>
          <p:nvPr>
            <p:ph idx="1"/>
          </p:nvPr>
        </p:nvSpPr>
        <p:spPr>
          <a:xfrm>
            <a:off x="609600" y="990601"/>
            <a:ext cx="10972800" cy="5135564"/>
          </a:xfrm>
        </p:spPr>
        <p:txBody>
          <a:bodyPr>
            <a:normAutofit lnSpcReduction="10000"/>
          </a:bodyPr>
          <a:lstStyle/>
          <a:p>
            <a:r>
              <a:rPr lang="en-US" sz="2800" b="1" dirty="0"/>
              <a:t>1. Network Interface Card (NIC)</a:t>
            </a:r>
          </a:p>
          <a:p>
            <a:r>
              <a:rPr lang="en-US" sz="2800" b="1" dirty="0"/>
              <a:t>2. Switch</a:t>
            </a:r>
          </a:p>
          <a:p>
            <a:r>
              <a:rPr lang="en-US" sz="2800" b="1" dirty="0"/>
              <a:t>3. Router</a:t>
            </a:r>
          </a:p>
          <a:p>
            <a:r>
              <a:rPr lang="en-US" sz="2800" b="1" dirty="0"/>
              <a:t>4. Modem</a:t>
            </a:r>
            <a:br>
              <a:rPr lang="en-US" sz="2800" b="1" dirty="0"/>
            </a:br>
            <a:r>
              <a:rPr lang="en-US" sz="2800" b="1" dirty="0"/>
              <a:t>5. Access Point (AP)</a:t>
            </a:r>
          </a:p>
          <a:p>
            <a:r>
              <a:rPr lang="en-US" sz="2800" b="1" dirty="0"/>
              <a:t>6. Firewall</a:t>
            </a:r>
            <a:br>
              <a:rPr lang="en-US" sz="2800" b="1" dirty="0"/>
            </a:br>
            <a:r>
              <a:rPr lang="en-US" sz="2800" b="1" dirty="0"/>
              <a:t>7. Repeater</a:t>
            </a:r>
          </a:p>
          <a:p>
            <a:r>
              <a:rPr lang="en-US" sz="2800" b="1" dirty="0"/>
              <a:t>8. Bridge</a:t>
            </a:r>
          </a:p>
          <a:p>
            <a:r>
              <a:rPr lang="en-US" sz="2800" b="1" dirty="0"/>
              <a:t>9. Gateway</a:t>
            </a:r>
            <a:br>
              <a:rPr lang="en-US" sz="2800" b="1" dirty="0"/>
            </a:br>
            <a:r>
              <a:rPr lang="en-US" sz="2800" b="1" dirty="0"/>
              <a:t>10. Load Balancer</a:t>
            </a:r>
          </a:p>
          <a:p>
            <a:r>
              <a:rPr lang="en-US" sz="2800" b="1" dirty="0"/>
              <a:t>11. Network Attached Storage (NAS)</a:t>
            </a:r>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dirty="0"/>
          </a:p>
        </p:txBody>
      </p:sp>
    </p:spTree>
    <p:extLst>
      <p:ext uri="{BB962C8B-B14F-4D97-AF65-F5344CB8AC3E}">
        <p14:creationId xmlns:p14="http://schemas.microsoft.com/office/powerpoint/2010/main" val="1099837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8DF3-04AB-4548-96DC-682EC5AADABD}"/>
              </a:ext>
            </a:extLst>
          </p:cNvPr>
          <p:cNvSpPr>
            <a:spLocks noGrp="1"/>
          </p:cNvSpPr>
          <p:nvPr>
            <p:ph type="title"/>
          </p:nvPr>
        </p:nvSpPr>
        <p:spPr/>
        <p:txBody>
          <a:bodyPr>
            <a:normAutofit fontScale="90000"/>
          </a:bodyPr>
          <a:lstStyle/>
          <a:p>
            <a:r>
              <a:rPr lang="en-US" b="1" dirty="0"/>
              <a:t>1. Network Interface Card (NIC)</a:t>
            </a:r>
            <a:br>
              <a:rPr lang="en-US" b="1" dirty="0"/>
            </a:br>
            <a:endParaRPr lang="en-US" dirty="0"/>
          </a:p>
        </p:txBody>
      </p:sp>
      <p:sp>
        <p:nvSpPr>
          <p:cNvPr id="3" name="Content Placeholder 2">
            <a:extLst>
              <a:ext uri="{FF2B5EF4-FFF2-40B4-BE49-F238E27FC236}">
                <a16:creationId xmlns:a16="http://schemas.microsoft.com/office/drawing/2014/main" id="{E087BFDA-A5B6-4122-9CF3-631DC8212470}"/>
              </a:ext>
            </a:extLst>
          </p:cNvPr>
          <p:cNvSpPr>
            <a:spLocks noGrp="1"/>
          </p:cNvSpPr>
          <p:nvPr>
            <p:ph idx="1"/>
          </p:nvPr>
        </p:nvSpPr>
        <p:spPr>
          <a:xfrm>
            <a:off x="609600" y="1066801"/>
            <a:ext cx="10972800" cy="5059364"/>
          </a:xfrm>
        </p:spPr>
        <p:txBody>
          <a:bodyPr>
            <a:normAutofit lnSpcReduction="10000"/>
          </a:bodyPr>
          <a:lstStyle/>
          <a:p>
            <a:r>
              <a:rPr lang="en-US" b="1" dirty="0"/>
              <a:t>Description</a:t>
            </a:r>
            <a:r>
              <a:rPr lang="en-US" dirty="0"/>
              <a:t>: A </a:t>
            </a:r>
            <a:r>
              <a:rPr lang="en-US" b="1" dirty="0"/>
              <a:t>Network Interface Card (NIC)</a:t>
            </a:r>
            <a:r>
              <a:rPr lang="en-US" dirty="0"/>
              <a:t>, also known as a network adapter or LAN card, is a hardware component that enables a computer or other device to connect to a network. </a:t>
            </a:r>
          </a:p>
          <a:p>
            <a:r>
              <a:rPr lang="en-US" b="1" dirty="0"/>
              <a:t>Function</a:t>
            </a:r>
            <a:r>
              <a:rPr lang="en-US" dirty="0"/>
              <a:t>: Converts data from the device into a format suitable for transmission over the network and vice versa.</a:t>
            </a:r>
          </a:p>
          <a:p>
            <a:r>
              <a:rPr lang="en-US" b="1" dirty="0"/>
              <a:t>Types</a:t>
            </a:r>
            <a:r>
              <a:rPr lang="en-US" dirty="0"/>
              <a:t>:</a:t>
            </a:r>
          </a:p>
          <a:p>
            <a:pPr lvl="1"/>
            <a:r>
              <a:rPr lang="en-US" b="1" dirty="0"/>
              <a:t>Ethernet NIC</a:t>
            </a:r>
            <a:r>
              <a:rPr lang="en-US" dirty="0"/>
              <a:t>: For wired connections, typically using RJ-45 connectors.</a:t>
            </a:r>
          </a:p>
          <a:p>
            <a:pPr lvl="1"/>
            <a:r>
              <a:rPr lang="en-US" b="1" dirty="0"/>
              <a:t>Wireless NIC</a:t>
            </a:r>
            <a:r>
              <a:rPr lang="en-US" dirty="0"/>
              <a:t>: For wireless connections, often using Wi-Fi standards (e.g., 802.11n, 802.11ac).</a:t>
            </a:r>
          </a:p>
          <a:p>
            <a:endParaRPr lang="en-US" dirty="0"/>
          </a:p>
          <a:p>
            <a:endParaRPr lang="en-US" dirty="0"/>
          </a:p>
        </p:txBody>
      </p:sp>
    </p:spTree>
    <p:extLst>
      <p:ext uri="{BB962C8B-B14F-4D97-AF65-F5344CB8AC3E}">
        <p14:creationId xmlns:p14="http://schemas.microsoft.com/office/powerpoint/2010/main" val="1720988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NICs (Network Interface Cards) </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479550"/>
            <a:ext cx="7620000" cy="3898900"/>
          </a:xfrm>
          <a:prstGeom prst="rect">
            <a:avLst/>
          </a:prstGeom>
        </p:spPr>
      </p:pic>
    </p:spTree>
    <p:extLst>
      <p:ext uri="{BB962C8B-B14F-4D97-AF65-F5344CB8AC3E}">
        <p14:creationId xmlns:p14="http://schemas.microsoft.com/office/powerpoint/2010/main" val="978005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1AC3-C842-4D7F-8B8E-2C7BAEF939B7}"/>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Key Functions of NIC</a:t>
            </a:r>
            <a:br>
              <a:rPr lang="en-US" b="1" dirty="0"/>
            </a:br>
            <a:endParaRPr lang="en-US" dirty="0"/>
          </a:p>
        </p:txBody>
      </p:sp>
      <p:sp>
        <p:nvSpPr>
          <p:cNvPr id="3" name="Content Placeholder 2">
            <a:extLst>
              <a:ext uri="{FF2B5EF4-FFF2-40B4-BE49-F238E27FC236}">
                <a16:creationId xmlns:a16="http://schemas.microsoft.com/office/drawing/2014/main" id="{87E0541D-D968-4739-BFF4-13B7B2D0DDA0}"/>
              </a:ext>
            </a:extLst>
          </p:cNvPr>
          <p:cNvSpPr>
            <a:spLocks noGrp="1"/>
          </p:cNvSpPr>
          <p:nvPr>
            <p:ph idx="1"/>
          </p:nvPr>
        </p:nvSpPr>
        <p:spPr>
          <a:xfrm>
            <a:off x="609600" y="990601"/>
            <a:ext cx="10972800" cy="5135564"/>
          </a:xfrm>
        </p:spPr>
        <p:txBody>
          <a:bodyPr>
            <a:normAutofit fontScale="92500" lnSpcReduction="20000"/>
          </a:bodyPr>
          <a:lstStyle/>
          <a:p>
            <a:r>
              <a:rPr lang="en-US" b="1" dirty="0"/>
              <a:t>Data Transmission</a:t>
            </a:r>
            <a:r>
              <a:rPr lang="en-US" dirty="0"/>
              <a:t>: NICs send and receive data over the network, converting data into electrical, optical, or radio signals that the network medium can transmit.</a:t>
            </a:r>
          </a:p>
          <a:p>
            <a:r>
              <a:rPr lang="en-US" b="1" dirty="0"/>
              <a:t>Unique Identification</a:t>
            </a:r>
            <a:r>
              <a:rPr lang="en-US" dirty="0"/>
              <a:t>: Each NIC has a unique </a:t>
            </a:r>
            <a:r>
              <a:rPr lang="en-US" b="1" dirty="0"/>
              <a:t>MAC (Media Access Control) address</a:t>
            </a:r>
            <a:r>
              <a:rPr lang="en-US" dirty="0"/>
              <a:t> assigned by the manufacturer, ensuring each device on the network can be identified.</a:t>
            </a:r>
          </a:p>
          <a:p>
            <a:r>
              <a:rPr lang="en-US" b="1" dirty="0"/>
              <a:t>Protocol Processing</a:t>
            </a:r>
            <a:r>
              <a:rPr lang="en-US" dirty="0"/>
              <a:t>: NICs help process and encapsulate data into packets according to network protocols, such as Ethernet, Wi-Fi, or TCP/IP.</a:t>
            </a:r>
          </a:p>
          <a:p>
            <a:r>
              <a:rPr lang="en-US" b="1" dirty="0"/>
              <a:t>Speed and Performance</a:t>
            </a:r>
            <a:r>
              <a:rPr lang="en-US" dirty="0"/>
              <a:t>: NICs can enhance network performance by handling data transfer rates suited to the network’s capabilities, from standard speeds (10/100 Mbps) to high-speed (1 Gbps or 10 Gbps) connections.</a:t>
            </a:r>
          </a:p>
          <a:p>
            <a:endParaRPr lang="en-US" dirty="0"/>
          </a:p>
        </p:txBody>
      </p:sp>
    </p:spTree>
    <p:extLst>
      <p:ext uri="{BB962C8B-B14F-4D97-AF65-F5344CB8AC3E}">
        <p14:creationId xmlns:p14="http://schemas.microsoft.com/office/powerpoint/2010/main" val="979945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A248E-222A-46A4-9E5B-7D55D319AF36}"/>
              </a:ext>
            </a:extLst>
          </p:cNvPr>
          <p:cNvSpPr>
            <a:spLocks noGrp="1"/>
          </p:cNvSpPr>
          <p:nvPr>
            <p:ph type="title"/>
          </p:nvPr>
        </p:nvSpPr>
        <p:spPr/>
        <p:txBody>
          <a:bodyPr>
            <a:normAutofit fontScale="90000"/>
          </a:bodyPr>
          <a:lstStyle/>
          <a:p>
            <a:br>
              <a:rPr lang="en-US" b="1" dirty="0"/>
            </a:br>
            <a:r>
              <a:rPr lang="en-US" b="1" dirty="0"/>
              <a:t>Types of NICs</a:t>
            </a:r>
            <a:br>
              <a:rPr lang="en-US" b="1" dirty="0"/>
            </a:br>
            <a:endParaRPr lang="en-US" dirty="0"/>
          </a:p>
        </p:txBody>
      </p:sp>
      <p:sp>
        <p:nvSpPr>
          <p:cNvPr id="3" name="Content Placeholder 2">
            <a:extLst>
              <a:ext uri="{FF2B5EF4-FFF2-40B4-BE49-F238E27FC236}">
                <a16:creationId xmlns:a16="http://schemas.microsoft.com/office/drawing/2014/main" id="{8A5B725F-3AD9-479C-B2B0-879B05869EF4}"/>
              </a:ext>
            </a:extLst>
          </p:cNvPr>
          <p:cNvSpPr>
            <a:spLocks noGrp="1"/>
          </p:cNvSpPr>
          <p:nvPr>
            <p:ph idx="1"/>
          </p:nvPr>
        </p:nvSpPr>
        <p:spPr/>
        <p:txBody>
          <a:bodyPr>
            <a:normAutofit fontScale="70000" lnSpcReduction="20000"/>
          </a:bodyPr>
          <a:lstStyle/>
          <a:p>
            <a:r>
              <a:rPr lang="en-US" b="1" dirty="0"/>
              <a:t>Ethernet NIC</a:t>
            </a:r>
            <a:r>
              <a:rPr lang="en-US" dirty="0"/>
              <a:t>:</a:t>
            </a:r>
          </a:p>
          <a:p>
            <a:pPr lvl="1"/>
            <a:r>
              <a:rPr lang="en-US" b="1" dirty="0"/>
              <a:t>Wired Connection</a:t>
            </a:r>
            <a:r>
              <a:rPr lang="en-US" dirty="0"/>
              <a:t>: Connects via Ethernet cables (e.g., Cat5e, Cat6) to a network switch or router.</a:t>
            </a:r>
          </a:p>
          <a:p>
            <a:pPr lvl="1"/>
            <a:r>
              <a:rPr lang="en-US" b="1" dirty="0"/>
              <a:t>Standard Speeds</a:t>
            </a:r>
            <a:r>
              <a:rPr lang="en-US" dirty="0"/>
              <a:t>: Usually support data rates from 10 Mbps up to 10 Gbps and beyond.</a:t>
            </a:r>
          </a:p>
          <a:p>
            <a:pPr lvl="1"/>
            <a:r>
              <a:rPr lang="en-US" b="1" dirty="0"/>
              <a:t>Common Use</a:t>
            </a:r>
            <a:r>
              <a:rPr lang="en-US" dirty="0"/>
              <a:t>: Found in desktops, laptops, and servers in both home and enterprise environments.</a:t>
            </a:r>
          </a:p>
          <a:p>
            <a:r>
              <a:rPr lang="en-US" b="1" dirty="0"/>
              <a:t>Wireless NIC (Wi-Fi Adapter)</a:t>
            </a:r>
            <a:r>
              <a:rPr lang="en-US" dirty="0"/>
              <a:t>:</a:t>
            </a:r>
          </a:p>
          <a:p>
            <a:pPr lvl="1"/>
            <a:r>
              <a:rPr lang="en-US" b="1" dirty="0"/>
              <a:t>Wireless Connection</a:t>
            </a:r>
            <a:r>
              <a:rPr lang="en-US" dirty="0"/>
              <a:t>: Connects devices to Wi-Fi networks, enabling mobility and reducing the need for cables.</a:t>
            </a:r>
          </a:p>
          <a:p>
            <a:pPr lvl="1"/>
            <a:r>
              <a:rPr lang="en-US" b="1" dirty="0"/>
              <a:t>Data Rates and Standards</a:t>
            </a:r>
            <a:r>
              <a:rPr lang="en-US" dirty="0"/>
              <a:t>: Supports IEEE standards like 802.11n, 802.11ac, or 802.11ax (Wi-Fi 6) for various speeds and ranges.</a:t>
            </a:r>
          </a:p>
          <a:p>
            <a:pPr lvl="1"/>
            <a:r>
              <a:rPr lang="en-US" b="1" dirty="0"/>
              <a:t>Common Use</a:t>
            </a:r>
            <a:r>
              <a:rPr lang="en-US" dirty="0"/>
              <a:t>: Common in laptops, tablets, smartphones, and IoT devices.</a:t>
            </a:r>
          </a:p>
          <a:p>
            <a:r>
              <a:rPr lang="en-US" b="1" dirty="0"/>
              <a:t>Fiber NIC</a:t>
            </a:r>
            <a:r>
              <a:rPr lang="en-US" dirty="0"/>
              <a:t>:</a:t>
            </a:r>
          </a:p>
          <a:p>
            <a:pPr lvl="1"/>
            <a:r>
              <a:rPr lang="en-US" b="1" dirty="0"/>
              <a:t>Fiber Optic Connection</a:t>
            </a:r>
            <a:r>
              <a:rPr lang="en-US" dirty="0"/>
              <a:t>: Uses fiber optics for high-speed data transfer, typically in enterprise environments where high data throughput and long-distance connections are needed.</a:t>
            </a:r>
          </a:p>
          <a:p>
            <a:pPr lvl="1"/>
            <a:r>
              <a:rPr lang="en-US" b="1" dirty="0"/>
              <a:t>Application</a:t>
            </a:r>
            <a:r>
              <a:rPr lang="en-US" dirty="0"/>
              <a:t>: Used in data centers, high-performance computing, and telecommunications.</a:t>
            </a:r>
          </a:p>
          <a:p>
            <a:endParaRPr lang="en-US" dirty="0"/>
          </a:p>
        </p:txBody>
      </p:sp>
    </p:spTree>
    <p:extLst>
      <p:ext uri="{BB962C8B-B14F-4D97-AF65-F5344CB8AC3E}">
        <p14:creationId xmlns:p14="http://schemas.microsoft.com/office/powerpoint/2010/main" val="346097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5C5B-B6C0-490A-9479-D7975EB5B892}"/>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Key Components of a NIC</a:t>
            </a:r>
            <a:br>
              <a:rPr lang="en-US" b="1" dirty="0"/>
            </a:br>
            <a:endParaRPr lang="en-US" dirty="0"/>
          </a:p>
        </p:txBody>
      </p:sp>
      <p:sp>
        <p:nvSpPr>
          <p:cNvPr id="3" name="Content Placeholder 2">
            <a:extLst>
              <a:ext uri="{FF2B5EF4-FFF2-40B4-BE49-F238E27FC236}">
                <a16:creationId xmlns:a16="http://schemas.microsoft.com/office/drawing/2014/main" id="{AD6AC0DB-576C-4FCB-A78C-EAE83DE6B8F1}"/>
              </a:ext>
            </a:extLst>
          </p:cNvPr>
          <p:cNvSpPr>
            <a:spLocks noGrp="1"/>
          </p:cNvSpPr>
          <p:nvPr>
            <p:ph idx="1"/>
          </p:nvPr>
        </p:nvSpPr>
        <p:spPr>
          <a:xfrm>
            <a:off x="609600" y="990601"/>
            <a:ext cx="10972800" cy="5135564"/>
          </a:xfrm>
        </p:spPr>
        <p:txBody>
          <a:bodyPr>
            <a:normAutofit fontScale="92500" lnSpcReduction="10000"/>
          </a:bodyPr>
          <a:lstStyle/>
          <a:p>
            <a:r>
              <a:rPr lang="en-US" b="1" dirty="0"/>
              <a:t>MAC Address</a:t>
            </a:r>
            <a:r>
              <a:rPr lang="en-US" dirty="0"/>
              <a:t>: A unique identifier (48-bit) burned into the NIC’s ROM by the manufacturer, used for addressing in Ethernet networks.</a:t>
            </a:r>
          </a:p>
          <a:p>
            <a:r>
              <a:rPr lang="en-US" b="1" dirty="0"/>
              <a:t>Transceiver</a:t>
            </a:r>
            <a:r>
              <a:rPr lang="en-US" dirty="0"/>
              <a:t>: Converts digital data from the device into signals suitable for transmission over the network medium (e.g., electrical for Ethernet, radio for Wi-Fi).</a:t>
            </a:r>
          </a:p>
          <a:p>
            <a:r>
              <a:rPr lang="en-US" b="1" dirty="0"/>
              <a:t>Buffers and Memory</a:t>
            </a:r>
            <a:r>
              <a:rPr lang="en-US" dirty="0"/>
              <a:t>: Temporary storage on the NIC for incoming and outgoing data packets to ensure smooth data transfer.</a:t>
            </a:r>
          </a:p>
          <a:p>
            <a:r>
              <a:rPr lang="en-US" b="1" dirty="0"/>
              <a:t>Bus Interface</a:t>
            </a:r>
            <a:r>
              <a:rPr lang="en-US" dirty="0"/>
              <a:t>: Connects the NIC to the motherboard through slots like PCIe (Peripheral Component Interconnect Express) for desktops or embedded connections for laptops.</a:t>
            </a:r>
          </a:p>
          <a:p>
            <a:endParaRPr lang="en-US" dirty="0"/>
          </a:p>
        </p:txBody>
      </p:sp>
    </p:spTree>
    <p:extLst>
      <p:ext uri="{BB962C8B-B14F-4D97-AF65-F5344CB8AC3E}">
        <p14:creationId xmlns:p14="http://schemas.microsoft.com/office/powerpoint/2010/main" val="2240588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756B-EAD4-433C-B106-BC02F39487BE}"/>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Advantages of NICs</a:t>
            </a:r>
            <a:br>
              <a:rPr lang="en-US" b="1" dirty="0"/>
            </a:br>
            <a:endParaRPr lang="en-US" dirty="0"/>
          </a:p>
        </p:txBody>
      </p:sp>
      <p:sp>
        <p:nvSpPr>
          <p:cNvPr id="3" name="Content Placeholder 2">
            <a:extLst>
              <a:ext uri="{FF2B5EF4-FFF2-40B4-BE49-F238E27FC236}">
                <a16:creationId xmlns:a16="http://schemas.microsoft.com/office/drawing/2014/main" id="{DCB2BAC1-8F42-4F46-9B70-B65D2CA447FB}"/>
              </a:ext>
            </a:extLst>
          </p:cNvPr>
          <p:cNvSpPr>
            <a:spLocks noGrp="1"/>
          </p:cNvSpPr>
          <p:nvPr>
            <p:ph idx="1"/>
          </p:nvPr>
        </p:nvSpPr>
        <p:spPr>
          <a:xfrm>
            <a:off x="609600" y="990601"/>
            <a:ext cx="10972800" cy="5135564"/>
          </a:xfrm>
        </p:spPr>
        <p:txBody>
          <a:bodyPr>
            <a:normAutofit lnSpcReduction="10000"/>
          </a:bodyPr>
          <a:lstStyle/>
          <a:p>
            <a:r>
              <a:rPr lang="en-US" b="1" dirty="0"/>
              <a:t>Connectivity</a:t>
            </a:r>
            <a:r>
              <a:rPr lang="en-US" dirty="0"/>
              <a:t>: Enables network communication, allowing devices to connect to LAN, WAN, or the internet.</a:t>
            </a:r>
          </a:p>
          <a:p>
            <a:r>
              <a:rPr lang="en-US" b="1" dirty="0"/>
              <a:t>Enhanced Performance</a:t>
            </a:r>
            <a:r>
              <a:rPr lang="en-US" dirty="0"/>
              <a:t>: Supports different data rates and standards (Ethernet, Wi-Fi, Fiber) to improve network speed and reliability.</a:t>
            </a:r>
          </a:p>
          <a:p>
            <a:r>
              <a:rPr lang="en-US" b="1" dirty="0"/>
              <a:t>Flexibility</a:t>
            </a:r>
            <a:r>
              <a:rPr lang="en-US" dirty="0"/>
              <a:t>: Available in wired and wireless forms, making them versatile for different network environments.</a:t>
            </a:r>
          </a:p>
          <a:p>
            <a:r>
              <a:rPr lang="en-US" b="1" dirty="0"/>
              <a:t>Security</a:t>
            </a:r>
            <a:r>
              <a:rPr lang="en-US" dirty="0"/>
              <a:t>: Provides unique MAC addressing and supports features like hardware-based security protocols to protect data transfer.</a:t>
            </a:r>
          </a:p>
          <a:p>
            <a:endParaRPr lang="en-US" dirty="0"/>
          </a:p>
        </p:txBody>
      </p:sp>
    </p:spTree>
    <p:extLst>
      <p:ext uri="{BB962C8B-B14F-4D97-AF65-F5344CB8AC3E}">
        <p14:creationId xmlns:p14="http://schemas.microsoft.com/office/powerpoint/2010/main" val="1641773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755D2-5D81-4745-AADA-16590AF33DE0}"/>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Disadvantages of NICs</a:t>
            </a:r>
            <a:br>
              <a:rPr lang="en-US" b="1" dirty="0"/>
            </a:br>
            <a:endParaRPr lang="en-US" dirty="0"/>
          </a:p>
        </p:txBody>
      </p:sp>
      <p:sp>
        <p:nvSpPr>
          <p:cNvPr id="3" name="Content Placeholder 2">
            <a:extLst>
              <a:ext uri="{FF2B5EF4-FFF2-40B4-BE49-F238E27FC236}">
                <a16:creationId xmlns:a16="http://schemas.microsoft.com/office/drawing/2014/main" id="{AE00E956-9AE0-42E5-86E7-336748EAB591}"/>
              </a:ext>
            </a:extLst>
          </p:cNvPr>
          <p:cNvSpPr>
            <a:spLocks noGrp="1"/>
          </p:cNvSpPr>
          <p:nvPr>
            <p:ph idx="1"/>
          </p:nvPr>
        </p:nvSpPr>
        <p:spPr>
          <a:xfrm>
            <a:off x="609600" y="1066801"/>
            <a:ext cx="10972800" cy="5059364"/>
          </a:xfrm>
        </p:spPr>
        <p:txBody>
          <a:bodyPr>
            <a:normAutofit/>
          </a:bodyPr>
          <a:lstStyle/>
          <a:p>
            <a:r>
              <a:rPr lang="en-US" b="1" dirty="0"/>
              <a:t>Dependency on Network Type</a:t>
            </a:r>
            <a:r>
              <a:rPr lang="en-US" dirty="0"/>
              <a:t>: The performance of a NIC is tied to the type of network medium, so a slow network infrastructure limits the NIC’s speed potential.</a:t>
            </a:r>
          </a:p>
          <a:p>
            <a:r>
              <a:rPr lang="en-US" b="1" dirty="0"/>
              <a:t>Power Consumption</a:t>
            </a:r>
            <a:r>
              <a:rPr lang="en-US" dirty="0"/>
              <a:t>: Wireless NICs tend to consume more power than wired ones, impacting battery life in mobile devices.</a:t>
            </a:r>
          </a:p>
          <a:p>
            <a:r>
              <a:rPr lang="en-US" b="1" dirty="0"/>
              <a:t>Compatibility Issues</a:t>
            </a:r>
            <a:r>
              <a:rPr lang="en-US" dirty="0"/>
              <a:t>: Some older devices may have NICs that are incompatible with modern network speeds or standards.</a:t>
            </a:r>
          </a:p>
          <a:p>
            <a:endParaRPr lang="en-US" dirty="0"/>
          </a:p>
        </p:txBody>
      </p:sp>
    </p:spTree>
    <p:extLst>
      <p:ext uri="{BB962C8B-B14F-4D97-AF65-F5344CB8AC3E}">
        <p14:creationId xmlns:p14="http://schemas.microsoft.com/office/powerpoint/2010/main" val="441940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1E89-2E4A-4654-8ABF-79C32FC8DB33}"/>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NIC Troubleshooting</a:t>
            </a:r>
            <a:br>
              <a:rPr lang="en-US" b="1" dirty="0"/>
            </a:br>
            <a:endParaRPr lang="en-US" dirty="0"/>
          </a:p>
        </p:txBody>
      </p:sp>
      <p:sp>
        <p:nvSpPr>
          <p:cNvPr id="3" name="Content Placeholder 2">
            <a:extLst>
              <a:ext uri="{FF2B5EF4-FFF2-40B4-BE49-F238E27FC236}">
                <a16:creationId xmlns:a16="http://schemas.microsoft.com/office/drawing/2014/main" id="{9B0B4294-0E95-4E69-8E48-783BA2C14C19}"/>
              </a:ext>
            </a:extLst>
          </p:cNvPr>
          <p:cNvSpPr>
            <a:spLocks noGrp="1"/>
          </p:cNvSpPr>
          <p:nvPr>
            <p:ph idx="1"/>
          </p:nvPr>
        </p:nvSpPr>
        <p:spPr>
          <a:xfrm>
            <a:off x="609600" y="1143001"/>
            <a:ext cx="10972800" cy="4983164"/>
          </a:xfrm>
        </p:spPr>
        <p:txBody>
          <a:bodyPr>
            <a:normAutofit/>
          </a:bodyPr>
          <a:lstStyle/>
          <a:p>
            <a:r>
              <a:rPr lang="en-US" sz="3600" b="1" dirty="0"/>
              <a:t>Connectivity Issues</a:t>
            </a:r>
            <a:r>
              <a:rPr lang="en-US" sz="3600" dirty="0"/>
              <a:t>: Check for loose or damaged cables (for wired NICs) or weak signal areas (for wireless NICs).</a:t>
            </a:r>
          </a:p>
          <a:p>
            <a:r>
              <a:rPr lang="en-US" sz="3600" b="1" dirty="0"/>
              <a:t>Driver Problems</a:t>
            </a:r>
            <a:r>
              <a:rPr lang="en-US" sz="3600" dirty="0"/>
              <a:t>: Update or reinstall the NIC driver if the network card fails to connect.</a:t>
            </a:r>
          </a:p>
          <a:p>
            <a:r>
              <a:rPr lang="en-US" sz="3600" b="1" dirty="0"/>
              <a:t>Configuration Errors</a:t>
            </a:r>
            <a:r>
              <a:rPr lang="en-US" sz="3600" dirty="0"/>
              <a:t>: Ensure IP addresses and DNS settings are correctly configured in the network settings.</a:t>
            </a:r>
          </a:p>
          <a:p>
            <a:endParaRPr lang="en-US" sz="3600" dirty="0"/>
          </a:p>
        </p:txBody>
      </p:sp>
    </p:spTree>
    <p:extLst>
      <p:ext uri="{BB962C8B-B14F-4D97-AF65-F5344CB8AC3E}">
        <p14:creationId xmlns:p14="http://schemas.microsoft.com/office/powerpoint/2010/main" val="1716421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FA675-6BDC-4F64-B44F-C02334DDA71A}"/>
              </a:ext>
            </a:extLst>
          </p:cNvPr>
          <p:cNvSpPr>
            <a:spLocks noGrp="1"/>
          </p:cNvSpPr>
          <p:nvPr>
            <p:ph type="title"/>
          </p:nvPr>
        </p:nvSpPr>
        <p:spPr/>
        <p:txBody>
          <a:bodyPr>
            <a:normAutofit fontScale="90000"/>
          </a:bodyPr>
          <a:lstStyle/>
          <a:p>
            <a:r>
              <a:rPr lang="en-US" b="1" dirty="0"/>
              <a:t>Use Cases of NICs</a:t>
            </a:r>
            <a:br>
              <a:rPr lang="en-US" b="1" dirty="0"/>
            </a:br>
            <a:endParaRPr lang="en-US" dirty="0"/>
          </a:p>
        </p:txBody>
      </p:sp>
      <p:sp>
        <p:nvSpPr>
          <p:cNvPr id="3" name="Content Placeholder 2">
            <a:extLst>
              <a:ext uri="{FF2B5EF4-FFF2-40B4-BE49-F238E27FC236}">
                <a16:creationId xmlns:a16="http://schemas.microsoft.com/office/drawing/2014/main" id="{A51F344D-1573-40B2-A972-B2E51653D057}"/>
              </a:ext>
            </a:extLst>
          </p:cNvPr>
          <p:cNvSpPr>
            <a:spLocks noGrp="1"/>
          </p:cNvSpPr>
          <p:nvPr>
            <p:ph idx="1"/>
          </p:nvPr>
        </p:nvSpPr>
        <p:spPr/>
        <p:txBody>
          <a:bodyPr>
            <a:normAutofit lnSpcReduction="10000"/>
          </a:bodyPr>
          <a:lstStyle/>
          <a:p>
            <a:r>
              <a:rPr lang="en-US" b="1" dirty="0"/>
              <a:t>Desktops and Laptops</a:t>
            </a:r>
            <a:r>
              <a:rPr lang="en-US" dirty="0"/>
              <a:t>: NICs enable internet and LAN connectivity, supporting activities like browsing, file sharing, and gaming.</a:t>
            </a:r>
          </a:p>
          <a:p>
            <a:r>
              <a:rPr lang="en-US" b="1" dirty="0"/>
              <a:t>Servers</a:t>
            </a:r>
            <a:r>
              <a:rPr lang="en-US" dirty="0"/>
              <a:t>: NICs provide high-speed connectivity for data processing and communication in data centers, supporting high-performance applications.</a:t>
            </a:r>
          </a:p>
          <a:p>
            <a:r>
              <a:rPr lang="en-US" b="1" dirty="0"/>
              <a:t>IoT Devices</a:t>
            </a:r>
            <a:r>
              <a:rPr lang="en-US" dirty="0"/>
              <a:t>: NICs, especially wireless ones, connect IoT devices to home and industrial networks, enabling real-time data access and remote monitoring.</a:t>
            </a:r>
          </a:p>
          <a:p>
            <a:endParaRPr lang="en-US" dirty="0"/>
          </a:p>
        </p:txBody>
      </p:sp>
    </p:spTree>
    <p:extLst>
      <p:ext uri="{BB962C8B-B14F-4D97-AF65-F5344CB8AC3E}">
        <p14:creationId xmlns:p14="http://schemas.microsoft.com/office/powerpoint/2010/main" val="615101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98C30-5285-4D21-B206-33776235C1BB}"/>
              </a:ext>
            </a:extLst>
          </p:cNvPr>
          <p:cNvSpPr>
            <a:spLocks noGrp="1"/>
          </p:cNvSpPr>
          <p:nvPr>
            <p:ph type="title"/>
          </p:nvPr>
        </p:nvSpPr>
        <p:spPr/>
        <p:txBody>
          <a:bodyPr/>
          <a:lstStyle/>
          <a:p>
            <a:r>
              <a:rPr lang="en-US" b="1" dirty="0"/>
              <a:t>Hub</a:t>
            </a:r>
            <a:endParaRPr lang="en-US" dirty="0"/>
          </a:p>
        </p:txBody>
      </p:sp>
      <p:sp>
        <p:nvSpPr>
          <p:cNvPr id="3" name="Content Placeholder 2">
            <a:extLst>
              <a:ext uri="{FF2B5EF4-FFF2-40B4-BE49-F238E27FC236}">
                <a16:creationId xmlns:a16="http://schemas.microsoft.com/office/drawing/2014/main" id="{3BAACDCD-3DFF-4BAE-BAC4-F26A31E89CCF}"/>
              </a:ext>
            </a:extLst>
          </p:cNvPr>
          <p:cNvSpPr>
            <a:spLocks noGrp="1"/>
          </p:cNvSpPr>
          <p:nvPr>
            <p:ph idx="1"/>
          </p:nvPr>
        </p:nvSpPr>
        <p:spPr/>
        <p:txBody>
          <a:bodyPr/>
          <a:lstStyle/>
          <a:p>
            <a:r>
              <a:rPr lang="en-US" dirty="0"/>
              <a:t>A </a:t>
            </a:r>
            <a:r>
              <a:rPr lang="en-US" b="1" dirty="0"/>
              <a:t>Hub</a:t>
            </a:r>
            <a:r>
              <a:rPr lang="en-US" dirty="0"/>
              <a:t> is a basic networking device that connects multiple devices in a local area network (LAN). </a:t>
            </a:r>
          </a:p>
          <a:p>
            <a:r>
              <a:rPr lang="en-US" dirty="0"/>
              <a:t>It operates at the </a:t>
            </a:r>
            <a:r>
              <a:rPr lang="en-US" b="1" dirty="0"/>
              <a:t>physical layer (Layer 1)</a:t>
            </a:r>
            <a:r>
              <a:rPr lang="en-US" dirty="0"/>
              <a:t> of the OSI model, primarily forwarding data packets to all connected devices without any filtering or intelligence.</a:t>
            </a:r>
          </a:p>
        </p:txBody>
      </p:sp>
    </p:spTree>
    <p:extLst>
      <p:ext uri="{BB962C8B-B14F-4D97-AF65-F5344CB8AC3E}">
        <p14:creationId xmlns:p14="http://schemas.microsoft.com/office/powerpoint/2010/main" val="2818057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01D72-2446-4C28-B308-A0172A9507DB}"/>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Key Features of a Hub</a:t>
            </a:r>
            <a:br>
              <a:rPr lang="en-US" b="1" dirty="0"/>
            </a:br>
            <a:endParaRPr lang="en-US" dirty="0"/>
          </a:p>
        </p:txBody>
      </p:sp>
      <p:sp>
        <p:nvSpPr>
          <p:cNvPr id="3" name="Content Placeholder 2">
            <a:extLst>
              <a:ext uri="{FF2B5EF4-FFF2-40B4-BE49-F238E27FC236}">
                <a16:creationId xmlns:a16="http://schemas.microsoft.com/office/drawing/2014/main" id="{2AE7D7AC-7A23-4886-85DE-5A9615B569BC}"/>
              </a:ext>
            </a:extLst>
          </p:cNvPr>
          <p:cNvSpPr>
            <a:spLocks noGrp="1"/>
          </p:cNvSpPr>
          <p:nvPr>
            <p:ph idx="1"/>
          </p:nvPr>
        </p:nvSpPr>
        <p:spPr>
          <a:xfrm>
            <a:off x="609600" y="990601"/>
            <a:ext cx="10972800" cy="5135564"/>
          </a:xfrm>
        </p:spPr>
        <p:txBody>
          <a:bodyPr>
            <a:normAutofit/>
          </a:bodyPr>
          <a:lstStyle/>
          <a:p>
            <a:r>
              <a:rPr lang="en-US" b="1" dirty="0"/>
              <a:t>Data Broadcasting</a:t>
            </a:r>
            <a:r>
              <a:rPr lang="en-US" dirty="0"/>
              <a:t>: When a data packet arrives at one port, a hub replicates it and broadcasts it to all other ports, making the data accessible to every connected device.</a:t>
            </a:r>
          </a:p>
          <a:p>
            <a:r>
              <a:rPr lang="en-US" b="1" dirty="0"/>
              <a:t>No Filtering or Routing</a:t>
            </a:r>
            <a:r>
              <a:rPr lang="en-US" dirty="0"/>
              <a:t>: Unlike switches or routers, hubs don’t examine data packets or direct them to specific destinations, resulting in a simpler and more affordable device.</a:t>
            </a:r>
          </a:p>
          <a:p>
            <a:r>
              <a:rPr lang="en-US" b="1" dirty="0"/>
              <a:t>Limited Intelligence</a:t>
            </a:r>
            <a:r>
              <a:rPr lang="en-US" dirty="0"/>
              <a:t>: Hubs don’t store or manage information about the devices connected to the network. They simply retransmit signals, treating every device as equal.</a:t>
            </a:r>
          </a:p>
          <a:p>
            <a:endParaRPr lang="en-US" dirty="0"/>
          </a:p>
        </p:txBody>
      </p:sp>
    </p:spTree>
    <p:extLst>
      <p:ext uri="{BB962C8B-B14F-4D97-AF65-F5344CB8AC3E}">
        <p14:creationId xmlns:p14="http://schemas.microsoft.com/office/powerpoint/2010/main" val="2633554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A04F2-6AB9-446F-B01C-32EA35E6312E}"/>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Types of Hubs</a:t>
            </a:r>
            <a:br>
              <a:rPr lang="en-US" b="1" dirty="0"/>
            </a:br>
            <a:endParaRPr lang="en-US" dirty="0"/>
          </a:p>
        </p:txBody>
      </p:sp>
      <p:sp>
        <p:nvSpPr>
          <p:cNvPr id="3" name="Content Placeholder 2">
            <a:extLst>
              <a:ext uri="{FF2B5EF4-FFF2-40B4-BE49-F238E27FC236}">
                <a16:creationId xmlns:a16="http://schemas.microsoft.com/office/drawing/2014/main" id="{DB447264-DB0E-46D0-970E-8602B862A7E4}"/>
              </a:ext>
            </a:extLst>
          </p:cNvPr>
          <p:cNvSpPr>
            <a:spLocks noGrp="1"/>
          </p:cNvSpPr>
          <p:nvPr>
            <p:ph idx="1"/>
          </p:nvPr>
        </p:nvSpPr>
        <p:spPr>
          <a:xfrm>
            <a:off x="609600" y="1143001"/>
            <a:ext cx="10972800" cy="4983164"/>
          </a:xfrm>
        </p:spPr>
        <p:txBody>
          <a:bodyPr>
            <a:normAutofit fontScale="77500" lnSpcReduction="20000"/>
          </a:bodyPr>
          <a:lstStyle/>
          <a:p>
            <a:r>
              <a:rPr lang="en-US" b="1" dirty="0"/>
              <a:t>Passive Hub</a:t>
            </a:r>
            <a:r>
              <a:rPr lang="en-US" dirty="0"/>
              <a:t>:</a:t>
            </a:r>
          </a:p>
          <a:p>
            <a:pPr lvl="1"/>
            <a:r>
              <a:rPr lang="en-US" b="1" dirty="0"/>
              <a:t>Basic Functionality</a:t>
            </a:r>
            <a:r>
              <a:rPr lang="en-US" dirty="0"/>
              <a:t>: Simply forwards data to all connected devices without amplifying or processing the signal.</a:t>
            </a:r>
          </a:p>
          <a:p>
            <a:pPr lvl="1"/>
            <a:r>
              <a:rPr lang="en-US" b="1" dirty="0"/>
              <a:t>Power Source</a:t>
            </a:r>
            <a:r>
              <a:rPr lang="en-US" dirty="0"/>
              <a:t>: Doesn’t require external power and is used only to split the connection within small networks.</a:t>
            </a:r>
          </a:p>
          <a:p>
            <a:r>
              <a:rPr lang="en-US" b="1" dirty="0"/>
              <a:t>Active Hub</a:t>
            </a:r>
            <a:r>
              <a:rPr lang="en-US" dirty="0"/>
              <a:t>:</a:t>
            </a:r>
          </a:p>
          <a:p>
            <a:pPr lvl="1"/>
            <a:r>
              <a:rPr lang="en-US" b="1" dirty="0"/>
              <a:t>Signal Amplification</a:t>
            </a:r>
            <a:r>
              <a:rPr lang="en-US" dirty="0"/>
              <a:t>: Amplifies or regenerates the incoming signal before forwarding it to ensure data integrity across longer distances.</a:t>
            </a:r>
          </a:p>
          <a:p>
            <a:pPr lvl="1"/>
            <a:r>
              <a:rPr lang="en-US" b="1" dirty="0"/>
              <a:t>Power Source</a:t>
            </a:r>
            <a:r>
              <a:rPr lang="en-US" dirty="0"/>
              <a:t>: Requires an external power source and is more suitable for larger networks where signal quality is crucial.</a:t>
            </a:r>
          </a:p>
          <a:p>
            <a:r>
              <a:rPr lang="en-US" b="1" dirty="0"/>
              <a:t>Intelligent Hub</a:t>
            </a:r>
            <a:r>
              <a:rPr lang="en-US" dirty="0"/>
              <a:t>:</a:t>
            </a:r>
          </a:p>
          <a:p>
            <a:pPr lvl="1"/>
            <a:r>
              <a:rPr lang="en-US" b="1" dirty="0"/>
              <a:t>Management Features</a:t>
            </a:r>
            <a:r>
              <a:rPr lang="en-US" dirty="0"/>
              <a:t>: Equipped with basic monitoring capabilities, like logging and data traffic information.</a:t>
            </a:r>
          </a:p>
          <a:p>
            <a:pPr lvl="1"/>
            <a:r>
              <a:rPr lang="en-US" b="1" dirty="0"/>
              <a:t>Usage</a:t>
            </a:r>
            <a:r>
              <a:rPr lang="en-US" dirty="0"/>
              <a:t>: Often used in enterprise settings to provide limited insights on network traffic, but still less intelligent than switches.</a:t>
            </a:r>
          </a:p>
          <a:p>
            <a:endParaRPr lang="en-US" dirty="0"/>
          </a:p>
        </p:txBody>
      </p:sp>
    </p:spTree>
    <p:extLst>
      <p:ext uri="{BB962C8B-B14F-4D97-AF65-F5344CB8AC3E}">
        <p14:creationId xmlns:p14="http://schemas.microsoft.com/office/powerpoint/2010/main" val="1039180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F1865-D9F8-400A-9C6F-A821E48E1D13}"/>
              </a:ext>
            </a:extLst>
          </p:cNvPr>
          <p:cNvSpPr>
            <a:spLocks noGrp="1"/>
          </p:cNvSpPr>
          <p:nvPr>
            <p:ph type="title"/>
          </p:nvPr>
        </p:nvSpPr>
        <p:spPr>
          <a:xfrm>
            <a:off x="609600" y="274638"/>
            <a:ext cx="10972800" cy="1173162"/>
          </a:xfrm>
        </p:spPr>
        <p:txBody>
          <a:bodyPr>
            <a:normAutofit fontScale="90000"/>
          </a:bodyPr>
          <a:lstStyle/>
          <a:p>
            <a:br>
              <a:rPr lang="en-US" b="1" dirty="0"/>
            </a:br>
            <a:r>
              <a:rPr lang="en-US" b="1" dirty="0"/>
              <a:t>Advantages of Hubs</a:t>
            </a:r>
            <a:br>
              <a:rPr lang="en-US" b="1" dirty="0"/>
            </a:br>
            <a:endParaRPr lang="en-US" dirty="0"/>
          </a:p>
        </p:txBody>
      </p:sp>
      <p:sp>
        <p:nvSpPr>
          <p:cNvPr id="3" name="Content Placeholder 2">
            <a:extLst>
              <a:ext uri="{FF2B5EF4-FFF2-40B4-BE49-F238E27FC236}">
                <a16:creationId xmlns:a16="http://schemas.microsoft.com/office/drawing/2014/main" id="{B088B918-ABF1-4721-ABF6-F60878145291}"/>
              </a:ext>
            </a:extLst>
          </p:cNvPr>
          <p:cNvSpPr>
            <a:spLocks noGrp="1"/>
          </p:cNvSpPr>
          <p:nvPr>
            <p:ph idx="1"/>
          </p:nvPr>
        </p:nvSpPr>
        <p:spPr>
          <a:xfrm>
            <a:off x="609600" y="1447801"/>
            <a:ext cx="10972800" cy="4678364"/>
          </a:xfrm>
        </p:spPr>
        <p:txBody>
          <a:bodyPr/>
          <a:lstStyle/>
          <a:p>
            <a:r>
              <a:rPr lang="en-US" b="1" dirty="0"/>
              <a:t>Cost-Effective</a:t>
            </a:r>
            <a:r>
              <a:rPr lang="en-US" dirty="0"/>
              <a:t>: Simple design makes hubs cheaper than switches or routers, suitable for basic or temporary network setups.</a:t>
            </a:r>
          </a:p>
          <a:p>
            <a:r>
              <a:rPr lang="en-US" b="1" dirty="0"/>
              <a:t>Easy to Set Up</a:t>
            </a:r>
            <a:r>
              <a:rPr lang="en-US" dirty="0"/>
              <a:t>: Straightforward installation, ideal for small or non-intensive network environments.</a:t>
            </a:r>
          </a:p>
          <a:p>
            <a:r>
              <a:rPr lang="en-US" b="1" dirty="0"/>
              <a:t>Quick Expansion</a:t>
            </a:r>
            <a:r>
              <a:rPr lang="en-US" dirty="0"/>
              <a:t>: Easily add more devices to the network by connecting them to the hub’s ports.</a:t>
            </a:r>
          </a:p>
          <a:p>
            <a:endParaRPr lang="en-US" dirty="0"/>
          </a:p>
        </p:txBody>
      </p:sp>
    </p:spTree>
    <p:extLst>
      <p:ext uri="{BB962C8B-B14F-4D97-AF65-F5344CB8AC3E}">
        <p14:creationId xmlns:p14="http://schemas.microsoft.com/office/powerpoint/2010/main" val="244758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91616-CC16-46C7-A363-73947A537510}"/>
              </a:ext>
            </a:extLst>
          </p:cNvPr>
          <p:cNvSpPr>
            <a:spLocks noGrp="1"/>
          </p:cNvSpPr>
          <p:nvPr>
            <p:ph type="title"/>
          </p:nvPr>
        </p:nvSpPr>
        <p:spPr>
          <a:xfrm>
            <a:off x="609600" y="274638"/>
            <a:ext cx="10972800" cy="792162"/>
          </a:xfrm>
        </p:spPr>
        <p:txBody>
          <a:bodyPr>
            <a:normAutofit fontScale="90000"/>
          </a:bodyPr>
          <a:lstStyle/>
          <a:p>
            <a:br>
              <a:rPr lang="en-US" b="1" dirty="0"/>
            </a:br>
            <a:r>
              <a:rPr lang="en-US" b="1" dirty="0"/>
              <a:t>Disadvantages of Hubs</a:t>
            </a:r>
            <a:br>
              <a:rPr lang="en-US" b="1" dirty="0"/>
            </a:br>
            <a:endParaRPr lang="en-US" dirty="0"/>
          </a:p>
        </p:txBody>
      </p:sp>
      <p:sp>
        <p:nvSpPr>
          <p:cNvPr id="3" name="Content Placeholder 2">
            <a:extLst>
              <a:ext uri="{FF2B5EF4-FFF2-40B4-BE49-F238E27FC236}">
                <a16:creationId xmlns:a16="http://schemas.microsoft.com/office/drawing/2014/main" id="{675C64D5-0523-44D5-A30A-829F879DA05E}"/>
              </a:ext>
            </a:extLst>
          </p:cNvPr>
          <p:cNvSpPr>
            <a:spLocks noGrp="1"/>
          </p:cNvSpPr>
          <p:nvPr>
            <p:ph idx="1"/>
          </p:nvPr>
        </p:nvSpPr>
        <p:spPr/>
        <p:txBody>
          <a:bodyPr>
            <a:normAutofit lnSpcReduction="10000"/>
          </a:bodyPr>
          <a:lstStyle/>
          <a:p>
            <a:r>
              <a:rPr lang="en-US" b="1" dirty="0"/>
              <a:t>No Traffic Filtering</a:t>
            </a:r>
            <a:r>
              <a:rPr lang="en-US" dirty="0"/>
              <a:t>: Hubs don’t filter traffic, leading to unnecessary data transmission to all devices and potential data collisions.</a:t>
            </a:r>
          </a:p>
          <a:p>
            <a:r>
              <a:rPr lang="en-US" b="1" dirty="0"/>
              <a:t>Single Collision Domain</a:t>
            </a:r>
            <a:r>
              <a:rPr lang="en-US" dirty="0"/>
              <a:t>: Increases chances of data collisions, especially in networks with high traffic, reducing overall network efficiency.</a:t>
            </a:r>
          </a:p>
          <a:p>
            <a:r>
              <a:rPr lang="en-US" b="1" dirty="0"/>
              <a:t>Limited Scalability</a:t>
            </a:r>
            <a:r>
              <a:rPr lang="en-US" dirty="0"/>
              <a:t>: As network size increases, hubs become less efficient due to higher collision rates and lower data handling capabilities.</a:t>
            </a:r>
          </a:p>
          <a:p>
            <a:endParaRPr lang="en-US" dirty="0"/>
          </a:p>
        </p:txBody>
      </p:sp>
    </p:spTree>
    <p:extLst>
      <p:ext uri="{BB962C8B-B14F-4D97-AF65-F5344CB8AC3E}">
        <p14:creationId xmlns:p14="http://schemas.microsoft.com/office/powerpoint/2010/main" val="1630435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0693-FA42-4BF5-BA09-2E8BC0F6057C}"/>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Use Cases of Hubs</a:t>
            </a:r>
            <a:br>
              <a:rPr lang="en-US" b="1" dirty="0"/>
            </a:br>
            <a:endParaRPr lang="en-US" dirty="0"/>
          </a:p>
        </p:txBody>
      </p:sp>
      <p:sp>
        <p:nvSpPr>
          <p:cNvPr id="3" name="Content Placeholder 2">
            <a:extLst>
              <a:ext uri="{FF2B5EF4-FFF2-40B4-BE49-F238E27FC236}">
                <a16:creationId xmlns:a16="http://schemas.microsoft.com/office/drawing/2014/main" id="{53DA5014-7EBF-4E42-99CF-0080C0022222}"/>
              </a:ext>
            </a:extLst>
          </p:cNvPr>
          <p:cNvSpPr>
            <a:spLocks noGrp="1"/>
          </p:cNvSpPr>
          <p:nvPr>
            <p:ph idx="1"/>
          </p:nvPr>
        </p:nvSpPr>
        <p:spPr>
          <a:xfrm>
            <a:off x="609600" y="1143001"/>
            <a:ext cx="10972800" cy="4983164"/>
          </a:xfrm>
        </p:spPr>
        <p:txBody>
          <a:bodyPr>
            <a:normAutofit/>
          </a:bodyPr>
          <a:lstStyle/>
          <a:p>
            <a:r>
              <a:rPr lang="en-US" b="1" dirty="0"/>
              <a:t>Small Office or Home Networks</a:t>
            </a:r>
            <a:r>
              <a:rPr lang="en-US" dirty="0"/>
              <a:t>: Where limited devices need to be connected without high traffic, hubs can provide basic connectivity at a low cost.</a:t>
            </a:r>
          </a:p>
          <a:p>
            <a:r>
              <a:rPr lang="en-US" b="1" dirty="0"/>
              <a:t>Network Testing and Monitoring</a:t>
            </a:r>
            <a:r>
              <a:rPr lang="en-US" dirty="0"/>
              <a:t>: Hubs are sometimes used in network testing environments to passively monitor traffic since they broadcast all data packets.</a:t>
            </a:r>
          </a:p>
          <a:p>
            <a:r>
              <a:rPr lang="en-US" b="1" dirty="0"/>
              <a:t>Temporary Networks</a:t>
            </a:r>
            <a:r>
              <a:rPr lang="en-US" dirty="0"/>
              <a:t>: In temporary setups, such as conference rooms or training environments, hubs can quickly and affordably connect multiple devices.</a:t>
            </a:r>
          </a:p>
          <a:p>
            <a:endParaRPr lang="en-US" dirty="0"/>
          </a:p>
        </p:txBody>
      </p:sp>
    </p:spTree>
    <p:extLst>
      <p:ext uri="{BB962C8B-B14F-4D97-AF65-F5344CB8AC3E}">
        <p14:creationId xmlns:p14="http://schemas.microsoft.com/office/powerpoint/2010/main" val="1474494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C8AB3-3879-4151-B86A-027CEBEE5884}"/>
              </a:ext>
            </a:extLst>
          </p:cNvPr>
          <p:cNvSpPr>
            <a:spLocks noGrp="1"/>
          </p:cNvSpPr>
          <p:nvPr>
            <p:ph type="title"/>
          </p:nvPr>
        </p:nvSpPr>
        <p:spPr/>
        <p:txBody>
          <a:bodyPr>
            <a:normAutofit fontScale="90000"/>
          </a:bodyPr>
          <a:lstStyle/>
          <a:p>
            <a:r>
              <a:rPr lang="en-US" b="1" dirty="0"/>
              <a:t>Switch</a:t>
            </a:r>
            <a:br>
              <a:rPr lang="en-US" b="1" dirty="0"/>
            </a:br>
            <a:endParaRPr lang="en-US" dirty="0"/>
          </a:p>
        </p:txBody>
      </p:sp>
      <p:sp>
        <p:nvSpPr>
          <p:cNvPr id="3" name="Content Placeholder 2">
            <a:extLst>
              <a:ext uri="{FF2B5EF4-FFF2-40B4-BE49-F238E27FC236}">
                <a16:creationId xmlns:a16="http://schemas.microsoft.com/office/drawing/2014/main" id="{9E814CE1-4BE9-4382-BB4A-E200D6518EB3}"/>
              </a:ext>
            </a:extLst>
          </p:cNvPr>
          <p:cNvSpPr>
            <a:spLocks noGrp="1"/>
          </p:cNvSpPr>
          <p:nvPr>
            <p:ph idx="1"/>
          </p:nvPr>
        </p:nvSpPr>
        <p:spPr>
          <a:xfrm>
            <a:off x="609600" y="1143001"/>
            <a:ext cx="10972800" cy="4983164"/>
          </a:xfrm>
        </p:spPr>
        <p:txBody>
          <a:bodyPr>
            <a:normAutofit/>
          </a:bodyPr>
          <a:lstStyle/>
          <a:p>
            <a:r>
              <a:rPr lang="en-US" b="1" dirty="0"/>
              <a:t>Description</a:t>
            </a:r>
            <a:r>
              <a:rPr lang="en-US" dirty="0"/>
              <a:t>: A </a:t>
            </a:r>
            <a:r>
              <a:rPr lang="en-US" b="1" dirty="0"/>
              <a:t>network switch</a:t>
            </a:r>
            <a:r>
              <a:rPr lang="en-US" dirty="0"/>
              <a:t> is a hardware device that connects multiple devices within a local area network (LAN), enabling them to communicate efficiently. </a:t>
            </a:r>
          </a:p>
          <a:p>
            <a:r>
              <a:rPr lang="en-US" b="1" dirty="0"/>
              <a:t>Function</a:t>
            </a:r>
            <a:r>
              <a:rPr lang="en-US" dirty="0"/>
              <a:t>: Operates at the data link layer (Layer 2) of the OSI model, managing data traffic efficiently to reduce collisions.</a:t>
            </a:r>
          </a:p>
          <a:p>
            <a:r>
              <a:rPr lang="en-US" b="1" dirty="0"/>
              <a:t>Types</a:t>
            </a:r>
            <a:r>
              <a:rPr lang="en-US" dirty="0"/>
              <a:t>:</a:t>
            </a:r>
          </a:p>
          <a:p>
            <a:pPr lvl="1"/>
            <a:r>
              <a:rPr lang="en-US" b="1" dirty="0"/>
              <a:t>Unmanaged Switch</a:t>
            </a:r>
            <a:r>
              <a:rPr lang="en-US" dirty="0"/>
              <a:t>: Plug-and-play, with no configuration needed.</a:t>
            </a:r>
          </a:p>
          <a:p>
            <a:pPr lvl="1"/>
            <a:r>
              <a:rPr lang="en-US" b="1" dirty="0"/>
              <a:t>Managed Switch</a:t>
            </a:r>
            <a:r>
              <a:rPr lang="en-US" dirty="0"/>
              <a:t>: Offers advanced features such as VLAN support, traffic monitoring, and remote management.</a:t>
            </a:r>
          </a:p>
          <a:p>
            <a:endParaRPr lang="en-US" dirty="0"/>
          </a:p>
        </p:txBody>
      </p:sp>
    </p:spTree>
    <p:extLst>
      <p:ext uri="{BB962C8B-B14F-4D97-AF65-F5344CB8AC3E}">
        <p14:creationId xmlns:p14="http://schemas.microsoft.com/office/powerpoint/2010/main" val="2143052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C6DD-9A50-4ED8-BEA3-33C171067908}"/>
              </a:ext>
            </a:extLst>
          </p:cNvPr>
          <p:cNvSpPr>
            <a:spLocks noGrp="1"/>
          </p:cNvSpPr>
          <p:nvPr>
            <p:ph type="title"/>
          </p:nvPr>
        </p:nvSpPr>
        <p:spPr>
          <a:xfrm>
            <a:off x="583809" y="25252"/>
            <a:ext cx="10972800" cy="715962"/>
          </a:xfrm>
        </p:spPr>
        <p:txBody>
          <a:bodyPr>
            <a:normAutofit fontScale="90000"/>
          </a:bodyPr>
          <a:lstStyle/>
          <a:p>
            <a:br>
              <a:rPr lang="en-US" b="1" dirty="0"/>
            </a:br>
            <a:r>
              <a:rPr lang="en-US" b="1" dirty="0"/>
              <a:t>Key Functions of a Network Switch</a:t>
            </a:r>
            <a:br>
              <a:rPr lang="en-US" b="1" dirty="0"/>
            </a:br>
            <a:endParaRPr lang="en-US" dirty="0"/>
          </a:p>
        </p:txBody>
      </p:sp>
      <p:sp>
        <p:nvSpPr>
          <p:cNvPr id="3" name="Content Placeholder 2">
            <a:extLst>
              <a:ext uri="{FF2B5EF4-FFF2-40B4-BE49-F238E27FC236}">
                <a16:creationId xmlns:a16="http://schemas.microsoft.com/office/drawing/2014/main" id="{0AAE9AC8-3CE8-4041-A999-03D77FFBB31D}"/>
              </a:ext>
            </a:extLst>
          </p:cNvPr>
          <p:cNvSpPr>
            <a:spLocks noGrp="1"/>
          </p:cNvSpPr>
          <p:nvPr>
            <p:ph idx="1"/>
          </p:nvPr>
        </p:nvSpPr>
        <p:spPr>
          <a:xfrm>
            <a:off x="609600" y="741215"/>
            <a:ext cx="10972800" cy="5384950"/>
          </a:xfrm>
        </p:spPr>
        <p:txBody>
          <a:bodyPr>
            <a:normAutofit/>
          </a:bodyPr>
          <a:lstStyle/>
          <a:p>
            <a:r>
              <a:rPr lang="en-US" sz="3600" b="1" dirty="0"/>
              <a:t>Data Forwarding</a:t>
            </a:r>
            <a:r>
              <a:rPr lang="en-US" sz="3600" dirty="0"/>
              <a:t>: Switches receive data packets and use MAC addresses to determine the correct destination within the network, forwarding the packet only to the intended recipient.</a:t>
            </a:r>
          </a:p>
          <a:p>
            <a:r>
              <a:rPr lang="en-US" sz="3600" b="1" dirty="0"/>
              <a:t>Traffic Segmentation</a:t>
            </a:r>
            <a:r>
              <a:rPr lang="en-US" sz="3600" dirty="0"/>
              <a:t>: Switches reduce unnecessary traffic within a LAN by creating separate collision domains for each connected device, improving overall network performance.</a:t>
            </a:r>
          </a:p>
        </p:txBody>
      </p:sp>
    </p:spTree>
    <p:extLst>
      <p:ext uri="{BB962C8B-B14F-4D97-AF65-F5344CB8AC3E}">
        <p14:creationId xmlns:p14="http://schemas.microsoft.com/office/powerpoint/2010/main" val="3232325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4E0F2-F3FE-41F8-AB6D-F6345A420462}"/>
              </a:ext>
            </a:extLst>
          </p:cNvPr>
          <p:cNvSpPr>
            <a:spLocks noGrp="1"/>
          </p:cNvSpPr>
          <p:nvPr>
            <p:ph type="title"/>
          </p:nvPr>
        </p:nvSpPr>
        <p:spPr/>
        <p:txBody>
          <a:bodyPr>
            <a:normAutofit fontScale="90000"/>
          </a:bodyPr>
          <a:lstStyle/>
          <a:p>
            <a:br>
              <a:rPr lang="en-US" b="1" dirty="0"/>
            </a:br>
            <a:r>
              <a:rPr lang="en-US" b="1" dirty="0"/>
              <a:t>Key Functions of a Network Switch</a:t>
            </a:r>
            <a:br>
              <a:rPr lang="en-US" b="1" dirty="0"/>
            </a:br>
            <a:endParaRPr lang="en-US" dirty="0"/>
          </a:p>
        </p:txBody>
      </p:sp>
      <p:sp>
        <p:nvSpPr>
          <p:cNvPr id="3" name="Content Placeholder 2">
            <a:extLst>
              <a:ext uri="{FF2B5EF4-FFF2-40B4-BE49-F238E27FC236}">
                <a16:creationId xmlns:a16="http://schemas.microsoft.com/office/drawing/2014/main" id="{7E3D9912-7A1F-4BB9-A5DE-328987F66586}"/>
              </a:ext>
            </a:extLst>
          </p:cNvPr>
          <p:cNvSpPr>
            <a:spLocks noGrp="1"/>
          </p:cNvSpPr>
          <p:nvPr>
            <p:ph idx="1"/>
          </p:nvPr>
        </p:nvSpPr>
        <p:spPr/>
        <p:txBody>
          <a:bodyPr/>
          <a:lstStyle/>
          <a:p>
            <a:r>
              <a:rPr lang="en-US" b="1" dirty="0"/>
              <a:t>Packet Filtering and Switching</a:t>
            </a:r>
            <a:r>
              <a:rPr lang="en-US" dirty="0"/>
              <a:t>: Switches analyze incoming packets, filter out unnecessary data, and switch packets to the correct port based on the destination MAC address.</a:t>
            </a:r>
          </a:p>
          <a:p>
            <a:r>
              <a:rPr lang="en-US" b="1" dirty="0"/>
              <a:t>Collision Domain Isolation</a:t>
            </a:r>
            <a:r>
              <a:rPr lang="en-US" dirty="0"/>
              <a:t>: By creating a dedicated collision domain per port, switches help eliminate collisions, enabling faster and more efficient communication within the network.</a:t>
            </a:r>
          </a:p>
          <a:p>
            <a:endParaRPr lang="en-US" dirty="0"/>
          </a:p>
          <a:p>
            <a:endParaRPr lang="en-US" dirty="0"/>
          </a:p>
        </p:txBody>
      </p:sp>
    </p:spTree>
    <p:extLst>
      <p:ext uri="{BB962C8B-B14F-4D97-AF65-F5344CB8AC3E}">
        <p14:creationId xmlns:p14="http://schemas.microsoft.com/office/powerpoint/2010/main" val="3843190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30CE-B71C-4ADE-82BC-BD8919222C3A}"/>
              </a:ext>
            </a:extLst>
          </p:cNvPr>
          <p:cNvSpPr>
            <a:spLocks noGrp="1"/>
          </p:cNvSpPr>
          <p:nvPr>
            <p:ph type="title"/>
          </p:nvPr>
        </p:nvSpPr>
        <p:spPr>
          <a:xfrm>
            <a:off x="583809" y="37514"/>
            <a:ext cx="10972800" cy="563562"/>
          </a:xfrm>
        </p:spPr>
        <p:txBody>
          <a:bodyPr>
            <a:normAutofit fontScale="90000"/>
          </a:bodyPr>
          <a:lstStyle/>
          <a:p>
            <a:br>
              <a:rPr lang="en-US" b="1" dirty="0"/>
            </a:br>
            <a:r>
              <a:rPr lang="en-US" b="1" dirty="0"/>
              <a:t>Types of Network Switches</a:t>
            </a:r>
            <a:br>
              <a:rPr lang="en-US" b="1" dirty="0"/>
            </a:br>
            <a:endParaRPr lang="en-US" dirty="0"/>
          </a:p>
        </p:txBody>
      </p:sp>
      <p:sp>
        <p:nvSpPr>
          <p:cNvPr id="3" name="Content Placeholder 2">
            <a:extLst>
              <a:ext uri="{FF2B5EF4-FFF2-40B4-BE49-F238E27FC236}">
                <a16:creationId xmlns:a16="http://schemas.microsoft.com/office/drawing/2014/main" id="{141791A4-F2B9-4BB5-BA1C-D871776E8CC7}"/>
              </a:ext>
            </a:extLst>
          </p:cNvPr>
          <p:cNvSpPr>
            <a:spLocks noGrp="1"/>
          </p:cNvSpPr>
          <p:nvPr>
            <p:ph idx="1"/>
          </p:nvPr>
        </p:nvSpPr>
        <p:spPr>
          <a:xfrm>
            <a:off x="609600" y="601077"/>
            <a:ext cx="10972800" cy="5525088"/>
          </a:xfrm>
        </p:spPr>
        <p:txBody>
          <a:bodyPr>
            <a:normAutofit fontScale="70000" lnSpcReduction="20000"/>
          </a:bodyPr>
          <a:lstStyle/>
          <a:p>
            <a:r>
              <a:rPr lang="en-US" b="1" dirty="0"/>
              <a:t>Unmanaged Switch</a:t>
            </a:r>
            <a:r>
              <a:rPr lang="en-US" dirty="0"/>
              <a:t>:</a:t>
            </a:r>
          </a:p>
          <a:p>
            <a:pPr lvl="1"/>
            <a:r>
              <a:rPr lang="en-US" b="1" dirty="0"/>
              <a:t>Description</a:t>
            </a:r>
            <a:r>
              <a:rPr lang="en-US" dirty="0"/>
              <a:t>: A plug-and-play switch that requires no configuration and is typically used in small networks.</a:t>
            </a:r>
          </a:p>
          <a:p>
            <a:pPr lvl="1"/>
            <a:r>
              <a:rPr lang="en-US" b="1" dirty="0"/>
              <a:t>Function</a:t>
            </a:r>
            <a:r>
              <a:rPr lang="en-US" dirty="0"/>
              <a:t>: Provides basic connectivity without advanced features like VLANs or traffic management.</a:t>
            </a:r>
          </a:p>
          <a:p>
            <a:pPr lvl="1"/>
            <a:r>
              <a:rPr lang="en-US" b="1" dirty="0"/>
              <a:t>Application</a:t>
            </a:r>
            <a:r>
              <a:rPr lang="en-US" dirty="0"/>
              <a:t>: Ideal for small office or home networks needing simple device connections.</a:t>
            </a:r>
          </a:p>
          <a:p>
            <a:r>
              <a:rPr lang="en-US" b="1" dirty="0"/>
              <a:t>Managed Switch</a:t>
            </a:r>
            <a:r>
              <a:rPr lang="en-US" dirty="0"/>
              <a:t>:</a:t>
            </a:r>
          </a:p>
          <a:p>
            <a:pPr lvl="1"/>
            <a:r>
              <a:rPr lang="en-US" b="1" dirty="0"/>
              <a:t>Description</a:t>
            </a:r>
            <a:r>
              <a:rPr lang="en-US" dirty="0"/>
              <a:t>: Offers advanced configuration and control features, such as VLAN support, QoS, traffic monitoring, and remote management.</a:t>
            </a:r>
          </a:p>
          <a:p>
            <a:pPr lvl="1"/>
            <a:r>
              <a:rPr lang="en-US" b="1" dirty="0"/>
              <a:t>Function</a:t>
            </a:r>
            <a:r>
              <a:rPr lang="en-US" dirty="0"/>
              <a:t>: Allows network administrators to optimize network performance, segment traffic, and enhance security.</a:t>
            </a:r>
          </a:p>
          <a:p>
            <a:pPr lvl="1"/>
            <a:r>
              <a:rPr lang="en-US" b="1" dirty="0"/>
              <a:t>Application</a:t>
            </a:r>
            <a:r>
              <a:rPr lang="en-US" dirty="0"/>
              <a:t>: Used in enterprise environments or larger networks that require detailed control and monitoring.</a:t>
            </a:r>
          </a:p>
          <a:p>
            <a:r>
              <a:rPr lang="en-US" b="1" dirty="0"/>
              <a:t>Layer 3 (Multilayer) Switch</a:t>
            </a:r>
            <a:r>
              <a:rPr lang="en-US" dirty="0"/>
              <a:t>:</a:t>
            </a:r>
          </a:p>
          <a:p>
            <a:pPr lvl="1"/>
            <a:r>
              <a:rPr lang="en-US" b="1" dirty="0"/>
              <a:t>Description</a:t>
            </a:r>
            <a:r>
              <a:rPr lang="en-US" dirty="0"/>
              <a:t>: A switch that operates at both Layer 2 and Layer 3, providing routing capabilities in addition to traditional switching.</a:t>
            </a:r>
          </a:p>
          <a:p>
            <a:pPr lvl="1"/>
            <a:r>
              <a:rPr lang="en-US" b="1" dirty="0"/>
              <a:t>Function</a:t>
            </a:r>
            <a:r>
              <a:rPr lang="en-US" dirty="0"/>
              <a:t>: Supports IP routing between VLANs, enabling better inter-network communication.</a:t>
            </a:r>
          </a:p>
          <a:p>
            <a:pPr lvl="1"/>
            <a:r>
              <a:rPr lang="en-US" b="1" dirty="0"/>
              <a:t>Application</a:t>
            </a:r>
            <a:r>
              <a:rPr lang="en-US" dirty="0"/>
              <a:t>: Suitable for large or complex networks that require both switching and routing capabilities.</a:t>
            </a:r>
          </a:p>
        </p:txBody>
      </p:sp>
    </p:spTree>
    <p:extLst>
      <p:ext uri="{BB962C8B-B14F-4D97-AF65-F5344CB8AC3E}">
        <p14:creationId xmlns:p14="http://schemas.microsoft.com/office/powerpoint/2010/main" val="3494839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B911-2102-4BF8-AA99-564ABE3935A4}"/>
              </a:ext>
            </a:extLst>
          </p:cNvPr>
          <p:cNvSpPr>
            <a:spLocks noGrp="1"/>
          </p:cNvSpPr>
          <p:nvPr>
            <p:ph type="title"/>
          </p:nvPr>
        </p:nvSpPr>
        <p:spPr>
          <a:xfrm>
            <a:off x="609600" y="228600"/>
            <a:ext cx="10972800" cy="715962"/>
          </a:xfrm>
        </p:spPr>
        <p:txBody>
          <a:bodyPr>
            <a:normAutofit fontScale="90000"/>
          </a:bodyPr>
          <a:lstStyle/>
          <a:p>
            <a:br>
              <a:rPr lang="en-US" b="1" dirty="0"/>
            </a:br>
            <a:r>
              <a:rPr lang="en-US" b="1" dirty="0"/>
              <a:t>Types of Network Switches</a:t>
            </a:r>
            <a:br>
              <a:rPr lang="en-US" b="1" dirty="0"/>
            </a:br>
            <a:endParaRPr lang="en-US" dirty="0"/>
          </a:p>
        </p:txBody>
      </p:sp>
      <p:sp>
        <p:nvSpPr>
          <p:cNvPr id="3" name="Content Placeholder 2">
            <a:extLst>
              <a:ext uri="{FF2B5EF4-FFF2-40B4-BE49-F238E27FC236}">
                <a16:creationId xmlns:a16="http://schemas.microsoft.com/office/drawing/2014/main" id="{90583F8B-DF25-4637-9CAB-0332856754E4}"/>
              </a:ext>
            </a:extLst>
          </p:cNvPr>
          <p:cNvSpPr>
            <a:spLocks noGrp="1"/>
          </p:cNvSpPr>
          <p:nvPr>
            <p:ph idx="1"/>
          </p:nvPr>
        </p:nvSpPr>
        <p:spPr>
          <a:xfrm>
            <a:off x="609600" y="944562"/>
            <a:ext cx="10972800" cy="5181603"/>
          </a:xfrm>
        </p:spPr>
        <p:txBody>
          <a:bodyPr>
            <a:normAutofit fontScale="85000" lnSpcReduction="20000"/>
          </a:bodyPr>
          <a:lstStyle/>
          <a:p>
            <a:r>
              <a:rPr lang="en-US" b="1" dirty="0"/>
              <a:t>PoE (Power over Ethernet) Switch</a:t>
            </a:r>
            <a:r>
              <a:rPr lang="en-US" dirty="0"/>
              <a:t>:</a:t>
            </a:r>
          </a:p>
          <a:p>
            <a:pPr lvl="1"/>
            <a:r>
              <a:rPr lang="en-US" b="1" dirty="0"/>
              <a:t>Description</a:t>
            </a:r>
            <a:r>
              <a:rPr lang="en-US" dirty="0"/>
              <a:t>: Provides power to connected devices (like IP cameras or wireless access points) through Ethernet cables.</a:t>
            </a:r>
          </a:p>
          <a:p>
            <a:pPr lvl="1"/>
            <a:r>
              <a:rPr lang="en-US" b="1" dirty="0"/>
              <a:t>Function</a:t>
            </a:r>
            <a:r>
              <a:rPr lang="en-US" dirty="0"/>
              <a:t>: Combines data and power delivery over a single cable, simplifying installation.</a:t>
            </a:r>
          </a:p>
          <a:p>
            <a:pPr lvl="1"/>
            <a:r>
              <a:rPr lang="en-US" b="1" dirty="0"/>
              <a:t>Application</a:t>
            </a:r>
            <a:r>
              <a:rPr lang="en-US" dirty="0"/>
              <a:t>: Commonly used in environments with devices that lack a power source near their installation location.</a:t>
            </a:r>
          </a:p>
          <a:p>
            <a:r>
              <a:rPr lang="en-US" b="1" dirty="0"/>
              <a:t>Smart Switch</a:t>
            </a:r>
            <a:r>
              <a:rPr lang="en-US" dirty="0"/>
              <a:t>:</a:t>
            </a:r>
          </a:p>
          <a:p>
            <a:pPr lvl="1"/>
            <a:r>
              <a:rPr lang="en-US" b="1" dirty="0"/>
              <a:t>Description</a:t>
            </a:r>
            <a:r>
              <a:rPr lang="en-US" dirty="0"/>
              <a:t>: Offers a balance between unmanaged and managed switches, with limited management features.</a:t>
            </a:r>
          </a:p>
          <a:p>
            <a:pPr lvl="1"/>
            <a:r>
              <a:rPr lang="en-US" b="1" dirty="0"/>
              <a:t>Function</a:t>
            </a:r>
            <a:r>
              <a:rPr lang="en-US" dirty="0"/>
              <a:t>: Provides basic VLAN, QoS, and security options without the complexity of fully managed switches.</a:t>
            </a:r>
          </a:p>
          <a:p>
            <a:pPr lvl="1"/>
            <a:r>
              <a:rPr lang="en-US" b="1" dirty="0"/>
              <a:t>Application</a:t>
            </a:r>
            <a:r>
              <a:rPr lang="en-US" dirty="0"/>
              <a:t>: Often used in small-to-medium-sized networks requiring some level of control.</a:t>
            </a:r>
          </a:p>
          <a:p>
            <a:endParaRPr lang="en-US" dirty="0"/>
          </a:p>
          <a:p>
            <a:endParaRPr lang="en-US" dirty="0"/>
          </a:p>
        </p:txBody>
      </p:sp>
    </p:spTree>
    <p:extLst>
      <p:ext uri="{BB962C8B-B14F-4D97-AF65-F5344CB8AC3E}">
        <p14:creationId xmlns:p14="http://schemas.microsoft.com/office/powerpoint/2010/main" val="4213359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2CC99-2C99-4BE3-81CC-E2AC7A81B3C7}"/>
              </a:ext>
            </a:extLst>
          </p:cNvPr>
          <p:cNvSpPr>
            <a:spLocks noGrp="1"/>
          </p:cNvSpPr>
          <p:nvPr>
            <p:ph type="title"/>
          </p:nvPr>
        </p:nvSpPr>
        <p:spPr/>
        <p:txBody>
          <a:bodyPr>
            <a:normAutofit fontScale="90000"/>
          </a:bodyPr>
          <a:lstStyle/>
          <a:p>
            <a:r>
              <a:rPr lang="en-US" b="1" dirty="0"/>
              <a:t>Advantages of Network Switches</a:t>
            </a:r>
            <a:br>
              <a:rPr lang="en-US" b="1" dirty="0"/>
            </a:br>
            <a:endParaRPr lang="en-US" dirty="0"/>
          </a:p>
        </p:txBody>
      </p:sp>
      <p:sp>
        <p:nvSpPr>
          <p:cNvPr id="3" name="Content Placeholder 2">
            <a:extLst>
              <a:ext uri="{FF2B5EF4-FFF2-40B4-BE49-F238E27FC236}">
                <a16:creationId xmlns:a16="http://schemas.microsoft.com/office/drawing/2014/main" id="{4B7F6896-AB37-4394-B105-A2F93BF47957}"/>
              </a:ext>
            </a:extLst>
          </p:cNvPr>
          <p:cNvSpPr>
            <a:spLocks noGrp="1"/>
          </p:cNvSpPr>
          <p:nvPr>
            <p:ph idx="1"/>
          </p:nvPr>
        </p:nvSpPr>
        <p:spPr/>
        <p:txBody>
          <a:bodyPr>
            <a:normAutofit fontScale="92500" lnSpcReduction="20000"/>
          </a:bodyPr>
          <a:lstStyle/>
          <a:p>
            <a:r>
              <a:rPr lang="en-US" b="1" dirty="0"/>
              <a:t>Improved Network Performance</a:t>
            </a:r>
            <a:r>
              <a:rPr lang="en-US" dirty="0"/>
              <a:t>: Switches reduce network congestion by forwarding packets only to the intended recipient, improving data transfer efficiency.</a:t>
            </a:r>
          </a:p>
          <a:p>
            <a:r>
              <a:rPr lang="en-US" b="1" dirty="0"/>
              <a:t>Enhanced Security</a:t>
            </a:r>
            <a:r>
              <a:rPr lang="en-US" dirty="0"/>
              <a:t>: Managed switches offer advanced security features like VLANs, port security, and traffic filtering to protect sensitive data.</a:t>
            </a:r>
          </a:p>
          <a:p>
            <a:r>
              <a:rPr lang="en-US" b="1" dirty="0"/>
              <a:t>Scalability</a:t>
            </a:r>
            <a:r>
              <a:rPr lang="en-US" dirty="0"/>
              <a:t>: Switches allow easy expansion of a network by adding more devices without compromising network performance.</a:t>
            </a:r>
          </a:p>
          <a:p>
            <a:r>
              <a:rPr lang="en-US" b="1" dirty="0"/>
              <a:t>Reduced Collisions</a:t>
            </a:r>
            <a:r>
              <a:rPr lang="en-US" dirty="0"/>
              <a:t>: By providing dedicated collision domains per port, switches eliminate collisions that can slow down network traffic.</a:t>
            </a:r>
          </a:p>
          <a:p>
            <a:endParaRPr lang="en-US" dirty="0"/>
          </a:p>
        </p:txBody>
      </p:sp>
    </p:spTree>
    <p:extLst>
      <p:ext uri="{BB962C8B-B14F-4D97-AF65-F5344CB8AC3E}">
        <p14:creationId xmlns:p14="http://schemas.microsoft.com/office/powerpoint/2010/main" val="1938629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8EC6D-4E67-446E-B1AE-C978F5431723}"/>
              </a:ext>
            </a:extLst>
          </p:cNvPr>
          <p:cNvSpPr>
            <a:spLocks noGrp="1"/>
          </p:cNvSpPr>
          <p:nvPr>
            <p:ph type="title"/>
          </p:nvPr>
        </p:nvSpPr>
        <p:spPr/>
        <p:txBody>
          <a:bodyPr>
            <a:normAutofit fontScale="90000"/>
          </a:bodyPr>
          <a:lstStyle/>
          <a:p>
            <a:r>
              <a:rPr lang="en-US" b="1" dirty="0"/>
              <a:t>Disadvantages of Network Switches</a:t>
            </a:r>
            <a:br>
              <a:rPr lang="en-US" b="1" dirty="0"/>
            </a:br>
            <a:endParaRPr lang="en-US" dirty="0"/>
          </a:p>
        </p:txBody>
      </p:sp>
      <p:sp>
        <p:nvSpPr>
          <p:cNvPr id="3" name="Content Placeholder 2">
            <a:extLst>
              <a:ext uri="{FF2B5EF4-FFF2-40B4-BE49-F238E27FC236}">
                <a16:creationId xmlns:a16="http://schemas.microsoft.com/office/drawing/2014/main" id="{651847E1-C48F-426A-A236-1C0AC23CC95C}"/>
              </a:ext>
            </a:extLst>
          </p:cNvPr>
          <p:cNvSpPr>
            <a:spLocks noGrp="1"/>
          </p:cNvSpPr>
          <p:nvPr>
            <p:ph idx="1"/>
          </p:nvPr>
        </p:nvSpPr>
        <p:spPr/>
        <p:txBody>
          <a:bodyPr>
            <a:normAutofit/>
          </a:bodyPr>
          <a:lstStyle/>
          <a:p>
            <a:r>
              <a:rPr lang="en-US" b="1" dirty="0"/>
              <a:t>Cost</a:t>
            </a:r>
            <a:r>
              <a:rPr lang="en-US" dirty="0"/>
              <a:t>: Managed switches, particularly Layer 3 switches, can be more expensive than basic network devices like hubs.</a:t>
            </a:r>
          </a:p>
          <a:p>
            <a:r>
              <a:rPr lang="en-US" b="1" dirty="0"/>
              <a:t>Configuration Complexity</a:t>
            </a:r>
            <a:r>
              <a:rPr lang="en-US" dirty="0"/>
              <a:t>: Managed switches require proper configuration, which can be challenging without adequate networking knowledge.</a:t>
            </a:r>
          </a:p>
          <a:p>
            <a:r>
              <a:rPr lang="en-US" b="1" dirty="0"/>
              <a:t>Broadcast Traffic</a:t>
            </a:r>
            <a:r>
              <a:rPr lang="en-US" dirty="0"/>
              <a:t>: Switches may still forward broadcast traffic across all ports, which can cause congestion in larger networks if not managed properly.</a:t>
            </a:r>
          </a:p>
          <a:p>
            <a:endParaRPr lang="en-US" dirty="0"/>
          </a:p>
        </p:txBody>
      </p:sp>
    </p:spTree>
    <p:extLst>
      <p:ext uri="{BB962C8B-B14F-4D97-AF65-F5344CB8AC3E}">
        <p14:creationId xmlns:p14="http://schemas.microsoft.com/office/powerpoint/2010/main" val="3695140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D52F-7F20-40DF-B0B7-88124F2F68D1}"/>
              </a:ext>
            </a:extLst>
          </p:cNvPr>
          <p:cNvSpPr>
            <a:spLocks noGrp="1"/>
          </p:cNvSpPr>
          <p:nvPr>
            <p:ph type="title"/>
          </p:nvPr>
        </p:nvSpPr>
        <p:spPr/>
        <p:txBody>
          <a:bodyPr>
            <a:normAutofit fontScale="90000"/>
          </a:bodyPr>
          <a:lstStyle/>
          <a:p>
            <a:r>
              <a:rPr lang="en-US" b="1" dirty="0"/>
              <a:t>Use Cases for Network Switches</a:t>
            </a:r>
            <a:br>
              <a:rPr lang="en-US" b="1" dirty="0"/>
            </a:br>
            <a:endParaRPr lang="en-US" dirty="0"/>
          </a:p>
        </p:txBody>
      </p:sp>
      <p:sp>
        <p:nvSpPr>
          <p:cNvPr id="3" name="Content Placeholder 2">
            <a:extLst>
              <a:ext uri="{FF2B5EF4-FFF2-40B4-BE49-F238E27FC236}">
                <a16:creationId xmlns:a16="http://schemas.microsoft.com/office/drawing/2014/main" id="{C4EBD5C1-F986-4C62-9C7A-32DB35430B16}"/>
              </a:ext>
            </a:extLst>
          </p:cNvPr>
          <p:cNvSpPr>
            <a:spLocks noGrp="1"/>
          </p:cNvSpPr>
          <p:nvPr>
            <p:ph idx="1"/>
          </p:nvPr>
        </p:nvSpPr>
        <p:spPr/>
        <p:txBody>
          <a:bodyPr>
            <a:normAutofit fontScale="85000" lnSpcReduction="10000"/>
          </a:bodyPr>
          <a:lstStyle/>
          <a:p>
            <a:r>
              <a:rPr lang="en-US" b="1" dirty="0"/>
              <a:t>Enterprise Networks</a:t>
            </a:r>
            <a:r>
              <a:rPr lang="en-US" dirty="0"/>
              <a:t>: Managed switches are widely used in enterprise networks for detailed traffic management, security, and scalability.</a:t>
            </a:r>
          </a:p>
          <a:p>
            <a:r>
              <a:rPr lang="en-US" b="1" dirty="0"/>
              <a:t>Home and Small Office Networks</a:t>
            </a:r>
            <a:r>
              <a:rPr lang="en-US" dirty="0"/>
              <a:t>: Unmanaged switches are suitable for home and small offices requiring basic device connectivity.</a:t>
            </a:r>
          </a:p>
          <a:p>
            <a:r>
              <a:rPr lang="en-US" b="1" dirty="0"/>
              <a:t>Data Centers</a:t>
            </a:r>
            <a:r>
              <a:rPr lang="en-US" dirty="0"/>
              <a:t>: High-performance switches with Layer 3 capabilities are often used in data centers for both switching and routing within large-scale infrastructure.</a:t>
            </a:r>
          </a:p>
          <a:p>
            <a:r>
              <a:rPr lang="en-US" b="1" dirty="0"/>
              <a:t>VoIP and Video Streaming</a:t>
            </a:r>
            <a:r>
              <a:rPr lang="en-US" dirty="0"/>
              <a:t>: Switches with QoS are essential in networks with VoIP or video streaming, as they can prioritize these services for better quality.</a:t>
            </a:r>
          </a:p>
          <a:p>
            <a:endParaRPr lang="en-US" dirty="0"/>
          </a:p>
        </p:txBody>
      </p:sp>
    </p:spTree>
    <p:extLst>
      <p:ext uri="{BB962C8B-B14F-4D97-AF65-F5344CB8AC3E}">
        <p14:creationId xmlns:p14="http://schemas.microsoft.com/office/powerpoint/2010/main" val="822273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6596-B9F5-4283-8C6D-D2D68B7C7811}"/>
              </a:ext>
            </a:extLst>
          </p:cNvPr>
          <p:cNvSpPr>
            <a:spLocks noGrp="1"/>
          </p:cNvSpPr>
          <p:nvPr>
            <p:ph type="title"/>
          </p:nvPr>
        </p:nvSpPr>
        <p:spPr>
          <a:xfrm>
            <a:off x="609600" y="19389"/>
            <a:ext cx="10972800" cy="715963"/>
          </a:xfrm>
        </p:spPr>
        <p:txBody>
          <a:bodyPr>
            <a:normAutofit fontScale="90000"/>
          </a:bodyPr>
          <a:lstStyle/>
          <a:p>
            <a:br>
              <a:rPr lang="en-US" b="1" dirty="0"/>
            </a:br>
            <a:r>
              <a:rPr lang="en-US" b="1" dirty="0"/>
              <a:t>Router</a:t>
            </a:r>
            <a:br>
              <a:rPr lang="en-US" b="1" dirty="0"/>
            </a:br>
            <a:endParaRPr lang="en-US" dirty="0"/>
          </a:p>
        </p:txBody>
      </p:sp>
      <p:sp>
        <p:nvSpPr>
          <p:cNvPr id="3" name="Content Placeholder 2">
            <a:extLst>
              <a:ext uri="{FF2B5EF4-FFF2-40B4-BE49-F238E27FC236}">
                <a16:creationId xmlns:a16="http://schemas.microsoft.com/office/drawing/2014/main" id="{1EBFCCFC-B5D3-4B7A-8BDB-865F36FEF8AB}"/>
              </a:ext>
            </a:extLst>
          </p:cNvPr>
          <p:cNvSpPr>
            <a:spLocks noGrp="1"/>
          </p:cNvSpPr>
          <p:nvPr>
            <p:ph idx="1"/>
          </p:nvPr>
        </p:nvSpPr>
        <p:spPr>
          <a:xfrm>
            <a:off x="609600" y="990601"/>
            <a:ext cx="10972800" cy="5135564"/>
          </a:xfrm>
        </p:spPr>
        <p:txBody>
          <a:bodyPr>
            <a:normAutofit/>
          </a:bodyPr>
          <a:lstStyle/>
          <a:p>
            <a:r>
              <a:rPr lang="en-US" b="1" dirty="0"/>
              <a:t>Description</a:t>
            </a:r>
            <a:r>
              <a:rPr lang="en-US" dirty="0"/>
              <a:t>: A </a:t>
            </a:r>
            <a:r>
              <a:rPr lang="en-US" b="1" dirty="0"/>
              <a:t>router</a:t>
            </a:r>
            <a:r>
              <a:rPr lang="en-US" dirty="0"/>
              <a:t> is a networking device that connects multiple networks and directs data traffic between them, allowing devices on different networks to communicate. </a:t>
            </a:r>
          </a:p>
          <a:p>
            <a:r>
              <a:rPr lang="en-US" b="1" dirty="0"/>
              <a:t>Function</a:t>
            </a:r>
            <a:r>
              <a:rPr lang="en-US" dirty="0"/>
              <a:t>: Operates at the network layer (Layer 3) of the OSI model, using IP addresses to route traffic between devices on different networks (e.g., connecting a home network to the internet).</a:t>
            </a:r>
          </a:p>
          <a:p>
            <a:r>
              <a:rPr lang="en-US" b="1" dirty="0"/>
              <a:t>Features</a:t>
            </a:r>
            <a:r>
              <a:rPr lang="en-US" dirty="0"/>
              <a:t>: May include firewall capabilities, DHCP server functions, and network address translation (NAT).</a:t>
            </a:r>
          </a:p>
          <a:p>
            <a:endParaRPr lang="en-US" dirty="0"/>
          </a:p>
        </p:txBody>
      </p:sp>
    </p:spTree>
    <p:extLst>
      <p:ext uri="{BB962C8B-B14F-4D97-AF65-F5344CB8AC3E}">
        <p14:creationId xmlns:p14="http://schemas.microsoft.com/office/powerpoint/2010/main" val="2868908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4E37-89E0-474B-B46E-FF2E3A25672E}"/>
              </a:ext>
            </a:extLst>
          </p:cNvPr>
          <p:cNvSpPr>
            <a:spLocks noGrp="1"/>
          </p:cNvSpPr>
          <p:nvPr>
            <p:ph type="title"/>
          </p:nvPr>
        </p:nvSpPr>
        <p:spPr>
          <a:xfrm>
            <a:off x="609600" y="9378"/>
            <a:ext cx="10972800" cy="639762"/>
          </a:xfrm>
        </p:spPr>
        <p:txBody>
          <a:bodyPr>
            <a:normAutofit fontScale="90000"/>
          </a:bodyPr>
          <a:lstStyle/>
          <a:p>
            <a:br>
              <a:rPr lang="en-US" b="1" dirty="0"/>
            </a:br>
            <a:r>
              <a:rPr lang="en-US" b="1" dirty="0"/>
              <a:t>Key Functions of a Router</a:t>
            </a:r>
            <a:br>
              <a:rPr lang="en-US" b="1" dirty="0"/>
            </a:br>
            <a:endParaRPr lang="en-US" dirty="0"/>
          </a:p>
        </p:txBody>
      </p:sp>
      <p:sp>
        <p:nvSpPr>
          <p:cNvPr id="3" name="Content Placeholder 2">
            <a:extLst>
              <a:ext uri="{FF2B5EF4-FFF2-40B4-BE49-F238E27FC236}">
                <a16:creationId xmlns:a16="http://schemas.microsoft.com/office/drawing/2014/main" id="{B23B8052-3495-4632-87FF-FE8E2C6C6A24}"/>
              </a:ext>
            </a:extLst>
          </p:cNvPr>
          <p:cNvSpPr>
            <a:spLocks noGrp="1"/>
          </p:cNvSpPr>
          <p:nvPr>
            <p:ph idx="1"/>
          </p:nvPr>
        </p:nvSpPr>
        <p:spPr>
          <a:xfrm>
            <a:off x="609600" y="649141"/>
            <a:ext cx="10972800" cy="5477024"/>
          </a:xfrm>
        </p:spPr>
        <p:txBody>
          <a:bodyPr>
            <a:normAutofit fontScale="92500" lnSpcReduction="10000"/>
          </a:bodyPr>
          <a:lstStyle/>
          <a:p>
            <a:r>
              <a:rPr lang="en-US" b="1" dirty="0"/>
              <a:t>Packet Forwarding</a:t>
            </a:r>
            <a:r>
              <a:rPr lang="en-US" dirty="0"/>
              <a:t>: Routers analyze the destination IP address of each packet and determine the most efficient path to forward it toward its destination.</a:t>
            </a:r>
          </a:p>
          <a:p>
            <a:r>
              <a:rPr lang="en-US" b="1" dirty="0"/>
              <a:t>Network Address Translation (NAT)</a:t>
            </a:r>
            <a:r>
              <a:rPr lang="en-US" dirty="0"/>
              <a:t>: Routers can translate private IP addresses within a local network to a public IP address for internet access, enhancing network security.</a:t>
            </a:r>
          </a:p>
          <a:p>
            <a:r>
              <a:rPr lang="en-US" b="1" dirty="0"/>
              <a:t>Traffic Control and Prioritization</a:t>
            </a:r>
            <a:r>
              <a:rPr lang="en-US" dirty="0"/>
              <a:t>: By directing traffic along optimal routes, routers prevent congestion and prioritize certain types of data (such as VoIP or streaming).</a:t>
            </a:r>
          </a:p>
          <a:p>
            <a:r>
              <a:rPr lang="en-US" b="1" dirty="0"/>
              <a:t>Security</a:t>
            </a:r>
            <a:r>
              <a:rPr lang="en-US" dirty="0"/>
              <a:t>: Routers often act as a basic firewall, blocking unauthorized traffic from entering the network, and filtering data based on IP addresses.</a:t>
            </a:r>
          </a:p>
          <a:p>
            <a:endParaRPr lang="en-US" dirty="0"/>
          </a:p>
        </p:txBody>
      </p:sp>
    </p:spTree>
    <p:extLst>
      <p:ext uri="{BB962C8B-B14F-4D97-AF65-F5344CB8AC3E}">
        <p14:creationId xmlns:p14="http://schemas.microsoft.com/office/powerpoint/2010/main" val="2807048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8602-7861-42CA-A342-28B183AC6288}"/>
              </a:ext>
            </a:extLst>
          </p:cNvPr>
          <p:cNvSpPr>
            <a:spLocks noGrp="1"/>
          </p:cNvSpPr>
          <p:nvPr>
            <p:ph type="title"/>
          </p:nvPr>
        </p:nvSpPr>
        <p:spPr>
          <a:xfrm>
            <a:off x="577948" y="0"/>
            <a:ext cx="10972800" cy="639762"/>
          </a:xfrm>
        </p:spPr>
        <p:txBody>
          <a:bodyPr>
            <a:normAutofit fontScale="90000"/>
          </a:bodyPr>
          <a:lstStyle/>
          <a:p>
            <a:br>
              <a:rPr lang="en-US" b="1" dirty="0"/>
            </a:br>
            <a:r>
              <a:rPr lang="en-US" b="1" dirty="0"/>
              <a:t>Types of Routers</a:t>
            </a:r>
            <a:br>
              <a:rPr lang="en-US" b="1" dirty="0"/>
            </a:br>
            <a:endParaRPr lang="en-US" dirty="0"/>
          </a:p>
        </p:txBody>
      </p:sp>
      <p:sp>
        <p:nvSpPr>
          <p:cNvPr id="3" name="Content Placeholder 2">
            <a:extLst>
              <a:ext uri="{FF2B5EF4-FFF2-40B4-BE49-F238E27FC236}">
                <a16:creationId xmlns:a16="http://schemas.microsoft.com/office/drawing/2014/main" id="{EFC6A123-8EC1-45E2-99C6-9B7728658828}"/>
              </a:ext>
            </a:extLst>
          </p:cNvPr>
          <p:cNvSpPr>
            <a:spLocks noGrp="1"/>
          </p:cNvSpPr>
          <p:nvPr>
            <p:ph idx="1"/>
          </p:nvPr>
        </p:nvSpPr>
        <p:spPr>
          <a:xfrm>
            <a:off x="609600" y="639763"/>
            <a:ext cx="10972800" cy="5486402"/>
          </a:xfrm>
        </p:spPr>
        <p:txBody>
          <a:bodyPr>
            <a:normAutofit fontScale="70000" lnSpcReduction="20000"/>
          </a:bodyPr>
          <a:lstStyle/>
          <a:p>
            <a:r>
              <a:rPr lang="en-US" b="1" dirty="0"/>
              <a:t>Wired Routers</a:t>
            </a:r>
            <a:r>
              <a:rPr lang="en-US" dirty="0"/>
              <a:t>:</a:t>
            </a:r>
          </a:p>
          <a:p>
            <a:pPr lvl="1"/>
            <a:r>
              <a:rPr lang="en-US" b="1" dirty="0"/>
              <a:t>Description</a:t>
            </a:r>
            <a:r>
              <a:rPr lang="en-US" dirty="0"/>
              <a:t>: Routers connected to a modem or other network devices through Ethernet cables.</a:t>
            </a:r>
          </a:p>
          <a:p>
            <a:pPr lvl="1"/>
            <a:r>
              <a:rPr lang="en-US" b="1" dirty="0"/>
              <a:t>Function</a:t>
            </a:r>
            <a:r>
              <a:rPr lang="en-US" dirty="0"/>
              <a:t>: Provides a reliable, stable connection ideal for wired networks.</a:t>
            </a:r>
          </a:p>
          <a:p>
            <a:pPr lvl="1"/>
            <a:r>
              <a:rPr lang="en-US" b="1" dirty="0"/>
              <a:t>Application</a:t>
            </a:r>
            <a:r>
              <a:rPr lang="en-US" dirty="0"/>
              <a:t>: Common in enterprise environments or locations requiring high-speed, secure connections.</a:t>
            </a:r>
          </a:p>
          <a:p>
            <a:r>
              <a:rPr lang="en-US" b="1" dirty="0"/>
              <a:t>Wireless Routers</a:t>
            </a:r>
            <a:r>
              <a:rPr lang="en-US" dirty="0"/>
              <a:t>:</a:t>
            </a:r>
          </a:p>
          <a:p>
            <a:pPr lvl="1"/>
            <a:r>
              <a:rPr lang="en-US" b="1" dirty="0"/>
              <a:t>Description</a:t>
            </a:r>
            <a:r>
              <a:rPr lang="en-US" dirty="0"/>
              <a:t>: Combines routing capabilities with a wireless access point, enabling devices to connect over Wi-Fi.</a:t>
            </a:r>
          </a:p>
          <a:p>
            <a:pPr lvl="1"/>
            <a:r>
              <a:rPr lang="en-US" b="1" dirty="0"/>
              <a:t>Function</a:t>
            </a:r>
            <a:r>
              <a:rPr lang="en-US" dirty="0"/>
              <a:t>: Provides flexible, wireless connectivity while managing traffic across multiple connected devices.</a:t>
            </a:r>
          </a:p>
          <a:p>
            <a:pPr lvl="1"/>
            <a:r>
              <a:rPr lang="en-US" b="1" dirty="0"/>
              <a:t>Application</a:t>
            </a:r>
            <a:r>
              <a:rPr lang="en-US" dirty="0"/>
              <a:t>: Common in homes, small offices, and places where wired connections are not feasible.</a:t>
            </a:r>
          </a:p>
          <a:p>
            <a:r>
              <a:rPr lang="en-US" b="1" dirty="0"/>
              <a:t>Core Routers</a:t>
            </a:r>
            <a:r>
              <a:rPr lang="en-US" dirty="0"/>
              <a:t>:</a:t>
            </a:r>
          </a:p>
          <a:p>
            <a:pPr lvl="1"/>
            <a:r>
              <a:rPr lang="en-US" b="1" dirty="0"/>
              <a:t>Description</a:t>
            </a:r>
            <a:r>
              <a:rPr lang="en-US" dirty="0"/>
              <a:t>: High-capacity routers used at the center of large networks, such as data centers or ISPs.</a:t>
            </a:r>
          </a:p>
          <a:p>
            <a:pPr lvl="1"/>
            <a:r>
              <a:rPr lang="en-US" b="1" dirty="0"/>
              <a:t>Function</a:t>
            </a:r>
            <a:r>
              <a:rPr lang="en-US" dirty="0"/>
              <a:t>: Routes data within a major network (like a data center) rather than between different networks.</a:t>
            </a:r>
          </a:p>
          <a:p>
            <a:pPr lvl="1"/>
            <a:r>
              <a:rPr lang="en-US" b="1" dirty="0"/>
              <a:t>Application</a:t>
            </a:r>
            <a:r>
              <a:rPr lang="en-US" dirty="0"/>
              <a:t>: Used in enterprise or service provider environments where massive data throughput is required.</a:t>
            </a:r>
          </a:p>
        </p:txBody>
      </p:sp>
    </p:spTree>
    <p:extLst>
      <p:ext uri="{BB962C8B-B14F-4D97-AF65-F5344CB8AC3E}">
        <p14:creationId xmlns:p14="http://schemas.microsoft.com/office/powerpoint/2010/main" val="1378883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4EBD1-96B0-40E6-A84A-550493E97647}"/>
              </a:ext>
            </a:extLst>
          </p:cNvPr>
          <p:cNvSpPr>
            <a:spLocks noGrp="1"/>
          </p:cNvSpPr>
          <p:nvPr>
            <p:ph type="title"/>
          </p:nvPr>
        </p:nvSpPr>
        <p:spPr>
          <a:xfrm>
            <a:off x="597877" y="168274"/>
            <a:ext cx="10972800" cy="563562"/>
          </a:xfrm>
        </p:spPr>
        <p:txBody>
          <a:bodyPr>
            <a:normAutofit fontScale="90000"/>
          </a:bodyPr>
          <a:lstStyle/>
          <a:p>
            <a:br>
              <a:rPr lang="en-US" b="1" dirty="0"/>
            </a:br>
            <a:r>
              <a:rPr lang="en-US" b="1" dirty="0"/>
              <a:t>Types of Routers</a:t>
            </a:r>
            <a:br>
              <a:rPr lang="en-US" b="1" dirty="0"/>
            </a:br>
            <a:endParaRPr lang="en-US" dirty="0"/>
          </a:p>
        </p:txBody>
      </p:sp>
      <p:sp>
        <p:nvSpPr>
          <p:cNvPr id="3" name="Content Placeholder 2">
            <a:extLst>
              <a:ext uri="{FF2B5EF4-FFF2-40B4-BE49-F238E27FC236}">
                <a16:creationId xmlns:a16="http://schemas.microsoft.com/office/drawing/2014/main" id="{4F0C19C5-95DC-45AB-9C2F-6E275F0A2C0E}"/>
              </a:ext>
            </a:extLst>
          </p:cNvPr>
          <p:cNvSpPr>
            <a:spLocks noGrp="1"/>
          </p:cNvSpPr>
          <p:nvPr>
            <p:ph idx="1"/>
          </p:nvPr>
        </p:nvSpPr>
        <p:spPr>
          <a:xfrm>
            <a:off x="609600" y="731836"/>
            <a:ext cx="10972800" cy="5394329"/>
          </a:xfrm>
        </p:spPr>
        <p:txBody>
          <a:bodyPr>
            <a:noAutofit/>
          </a:bodyPr>
          <a:lstStyle/>
          <a:p>
            <a:r>
              <a:rPr lang="en-US" sz="1900" b="1" dirty="0"/>
              <a:t>Edge Routers</a:t>
            </a:r>
            <a:r>
              <a:rPr lang="en-US" sz="1900" dirty="0"/>
              <a:t>:</a:t>
            </a:r>
          </a:p>
          <a:p>
            <a:pPr lvl="1"/>
            <a:r>
              <a:rPr lang="en-US" sz="1900" b="1" dirty="0"/>
              <a:t>Description</a:t>
            </a:r>
            <a:r>
              <a:rPr lang="en-US" sz="1900" dirty="0"/>
              <a:t>: Routers located at the edge of a network, connecting internal networks to external networks, such as the internet.</a:t>
            </a:r>
          </a:p>
          <a:p>
            <a:pPr lvl="1"/>
            <a:r>
              <a:rPr lang="en-US" sz="1900" b="1" dirty="0"/>
              <a:t>Function</a:t>
            </a:r>
            <a:r>
              <a:rPr lang="en-US" sz="1900" dirty="0"/>
              <a:t>: Manages traffic going in and out of the network, applying NAT and security features.</a:t>
            </a:r>
          </a:p>
          <a:p>
            <a:pPr lvl="1"/>
            <a:r>
              <a:rPr lang="en-US" sz="1900" b="1" dirty="0"/>
              <a:t>Application</a:t>
            </a:r>
            <a:r>
              <a:rPr lang="en-US" sz="1900" dirty="0"/>
              <a:t>: Common in corporate networks to control access to and from the internet.</a:t>
            </a:r>
          </a:p>
          <a:p>
            <a:r>
              <a:rPr lang="en-US" sz="1900" b="1" dirty="0"/>
              <a:t>Virtual Routers</a:t>
            </a:r>
            <a:r>
              <a:rPr lang="en-US" sz="1900" dirty="0"/>
              <a:t>:</a:t>
            </a:r>
          </a:p>
          <a:p>
            <a:pPr lvl="1"/>
            <a:r>
              <a:rPr lang="en-US" sz="1900" b="1" dirty="0"/>
              <a:t>Description</a:t>
            </a:r>
            <a:r>
              <a:rPr lang="en-US" sz="1900" dirty="0"/>
              <a:t>: Software-based routers that perform the same functions as physical routers, often within cloud or virtualized environments.</a:t>
            </a:r>
          </a:p>
          <a:p>
            <a:pPr lvl="1"/>
            <a:r>
              <a:rPr lang="en-US" sz="1900" b="1" dirty="0"/>
              <a:t>Function</a:t>
            </a:r>
            <a:r>
              <a:rPr lang="en-US" sz="1900" dirty="0"/>
              <a:t>: Provide routing services in environments where physical devices are impractical or costly.</a:t>
            </a:r>
          </a:p>
          <a:p>
            <a:pPr lvl="1"/>
            <a:r>
              <a:rPr lang="en-US" sz="1900" b="1" dirty="0"/>
              <a:t>Application</a:t>
            </a:r>
            <a:r>
              <a:rPr lang="en-US" sz="1900" dirty="0"/>
              <a:t>: Used in cloud-based networks, virtualized data centers, and software-defined networking (SDN) environments.</a:t>
            </a:r>
          </a:p>
          <a:p>
            <a:r>
              <a:rPr lang="en-US" sz="1900" b="1" dirty="0"/>
              <a:t>Distribution Routers</a:t>
            </a:r>
            <a:r>
              <a:rPr lang="en-US" sz="1900" dirty="0"/>
              <a:t>:</a:t>
            </a:r>
          </a:p>
          <a:p>
            <a:pPr lvl="1"/>
            <a:r>
              <a:rPr lang="en-US" sz="1900" b="1" dirty="0"/>
              <a:t>Description</a:t>
            </a:r>
            <a:r>
              <a:rPr lang="en-US" sz="1900" dirty="0"/>
              <a:t>: Routers that aggregate traffic from multiple access routers or switches before forwarding it to core routers.</a:t>
            </a:r>
          </a:p>
          <a:p>
            <a:pPr lvl="1"/>
            <a:r>
              <a:rPr lang="en-US" sz="1900" b="1" dirty="0"/>
              <a:t>Function</a:t>
            </a:r>
            <a:r>
              <a:rPr lang="en-US" sz="1900" dirty="0"/>
              <a:t>: Reduce traffic loads on core routers by handling local traffic within a branch or department.</a:t>
            </a:r>
          </a:p>
          <a:p>
            <a:pPr lvl="1"/>
            <a:r>
              <a:rPr lang="en-US" sz="1900" b="1" dirty="0"/>
              <a:t>Application</a:t>
            </a:r>
            <a:r>
              <a:rPr lang="en-US" sz="1900" dirty="0"/>
              <a:t>: Used in medium to large networks with a hierarchical structure.</a:t>
            </a:r>
          </a:p>
          <a:p>
            <a:endParaRPr lang="en-US" sz="1900" dirty="0"/>
          </a:p>
          <a:p>
            <a:endParaRPr lang="en-US" sz="1900" dirty="0"/>
          </a:p>
        </p:txBody>
      </p:sp>
    </p:spTree>
    <p:extLst>
      <p:ext uri="{BB962C8B-B14F-4D97-AF65-F5344CB8AC3E}">
        <p14:creationId xmlns:p14="http://schemas.microsoft.com/office/powerpoint/2010/main" val="3367442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5C1A3-BC70-42E5-A996-7F17151E3F70}"/>
              </a:ext>
            </a:extLst>
          </p:cNvPr>
          <p:cNvSpPr>
            <a:spLocks noGrp="1"/>
          </p:cNvSpPr>
          <p:nvPr>
            <p:ph type="title"/>
          </p:nvPr>
        </p:nvSpPr>
        <p:spPr/>
        <p:txBody>
          <a:bodyPr>
            <a:normAutofit fontScale="90000"/>
          </a:bodyPr>
          <a:lstStyle/>
          <a:p>
            <a:r>
              <a:rPr lang="en-US" b="1" dirty="0"/>
              <a:t>Key Features of Routers</a:t>
            </a:r>
            <a:br>
              <a:rPr lang="en-US" b="1" dirty="0"/>
            </a:br>
            <a:endParaRPr lang="en-US" dirty="0"/>
          </a:p>
        </p:txBody>
      </p:sp>
      <p:sp>
        <p:nvSpPr>
          <p:cNvPr id="3" name="Content Placeholder 2">
            <a:extLst>
              <a:ext uri="{FF2B5EF4-FFF2-40B4-BE49-F238E27FC236}">
                <a16:creationId xmlns:a16="http://schemas.microsoft.com/office/drawing/2014/main" id="{83CEA448-5A07-44EF-BD30-BEE192A4F5CD}"/>
              </a:ext>
            </a:extLst>
          </p:cNvPr>
          <p:cNvSpPr>
            <a:spLocks noGrp="1"/>
          </p:cNvSpPr>
          <p:nvPr>
            <p:ph idx="1"/>
          </p:nvPr>
        </p:nvSpPr>
        <p:spPr/>
        <p:txBody>
          <a:bodyPr>
            <a:normAutofit fontScale="85000" lnSpcReduction="20000"/>
          </a:bodyPr>
          <a:lstStyle/>
          <a:p>
            <a:r>
              <a:rPr lang="en-US" b="1" dirty="0"/>
              <a:t>Network Address Translation (NAT)</a:t>
            </a:r>
            <a:r>
              <a:rPr lang="en-US" dirty="0"/>
              <a:t>: Enables multiple devices on a local network to share a single public IP address for internet access.</a:t>
            </a:r>
          </a:p>
          <a:p>
            <a:r>
              <a:rPr lang="en-US" b="1" dirty="0"/>
              <a:t>Dynamic Host Configuration Protocol (DHCP)</a:t>
            </a:r>
            <a:r>
              <a:rPr lang="en-US" dirty="0"/>
              <a:t>: Some routers act as DHCP servers, automatically assigning IP addresses to devices on the network.</a:t>
            </a:r>
          </a:p>
          <a:p>
            <a:r>
              <a:rPr lang="en-US" b="1" dirty="0"/>
              <a:t>Firewall Capabilities</a:t>
            </a:r>
            <a:r>
              <a:rPr lang="en-US" dirty="0"/>
              <a:t>: Routers often include basic firewall functions, blocking unwanted traffic and protecting the network from external threats.</a:t>
            </a:r>
          </a:p>
          <a:p>
            <a:r>
              <a:rPr lang="en-US" b="1" dirty="0"/>
              <a:t>Quality of Service (QoS)</a:t>
            </a:r>
            <a:r>
              <a:rPr lang="en-US" dirty="0"/>
              <a:t>: Routers can prioritize traffic types, such as video calls or gaming, to improve performance for critical applications.</a:t>
            </a:r>
          </a:p>
          <a:p>
            <a:r>
              <a:rPr lang="en-US" b="1" dirty="0"/>
              <a:t>VPN Support</a:t>
            </a:r>
            <a:r>
              <a:rPr lang="en-US" dirty="0"/>
              <a:t>: Many routers support Virtual Private Network (VPN) connections, providing secure, encrypted remote access to a private network.</a:t>
            </a:r>
          </a:p>
          <a:p>
            <a:endParaRPr lang="en-US" dirty="0"/>
          </a:p>
        </p:txBody>
      </p:sp>
    </p:spTree>
    <p:extLst>
      <p:ext uri="{BB962C8B-B14F-4D97-AF65-F5344CB8AC3E}">
        <p14:creationId xmlns:p14="http://schemas.microsoft.com/office/powerpoint/2010/main" val="2835206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85DA-D0C4-4533-BBF6-E63CD28711DB}"/>
              </a:ext>
            </a:extLst>
          </p:cNvPr>
          <p:cNvSpPr>
            <a:spLocks noGrp="1"/>
          </p:cNvSpPr>
          <p:nvPr>
            <p:ph type="title"/>
          </p:nvPr>
        </p:nvSpPr>
        <p:spPr>
          <a:xfrm>
            <a:off x="609600" y="152400"/>
            <a:ext cx="10972800" cy="792162"/>
          </a:xfrm>
        </p:spPr>
        <p:txBody>
          <a:bodyPr>
            <a:normAutofit fontScale="90000"/>
          </a:bodyPr>
          <a:lstStyle/>
          <a:p>
            <a:br>
              <a:rPr lang="en-US" b="1" dirty="0"/>
            </a:br>
            <a:r>
              <a:rPr lang="en-US" b="1" dirty="0"/>
              <a:t>Key Features of Routers</a:t>
            </a:r>
            <a:br>
              <a:rPr lang="en-US" b="1" dirty="0"/>
            </a:br>
            <a:endParaRPr lang="en-US" dirty="0"/>
          </a:p>
        </p:txBody>
      </p:sp>
      <p:sp>
        <p:nvSpPr>
          <p:cNvPr id="3" name="Content Placeholder 2">
            <a:extLst>
              <a:ext uri="{FF2B5EF4-FFF2-40B4-BE49-F238E27FC236}">
                <a16:creationId xmlns:a16="http://schemas.microsoft.com/office/drawing/2014/main" id="{F00BB258-84BA-427E-97D5-E4420F4DE6FE}"/>
              </a:ext>
            </a:extLst>
          </p:cNvPr>
          <p:cNvSpPr>
            <a:spLocks noGrp="1"/>
          </p:cNvSpPr>
          <p:nvPr>
            <p:ph idx="1"/>
          </p:nvPr>
        </p:nvSpPr>
        <p:spPr>
          <a:xfrm>
            <a:off x="609600" y="944563"/>
            <a:ext cx="10972800" cy="5181602"/>
          </a:xfrm>
        </p:spPr>
        <p:txBody>
          <a:bodyPr>
            <a:normAutofit fontScale="85000" lnSpcReduction="10000"/>
          </a:bodyPr>
          <a:lstStyle/>
          <a:p>
            <a:r>
              <a:rPr lang="en-US" b="1" dirty="0"/>
              <a:t>Network Address Translation (NAT)</a:t>
            </a:r>
            <a:r>
              <a:rPr lang="en-US" dirty="0"/>
              <a:t>: Enables multiple devices on a local network to share a single public IP address for internet access.</a:t>
            </a:r>
          </a:p>
          <a:p>
            <a:r>
              <a:rPr lang="en-US" b="1" dirty="0"/>
              <a:t>Dynamic Host Configuration Protocol (DHCP)</a:t>
            </a:r>
            <a:r>
              <a:rPr lang="en-US" dirty="0"/>
              <a:t>: Some routers act as DHCP servers, automatically assigning IP addresses to devices on the network.</a:t>
            </a:r>
          </a:p>
          <a:p>
            <a:r>
              <a:rPr lang="en-US" b="1" dirty="0"/>
              <a:t>Firewall Capabilities</a:t>
            </a:r>
            <a:r>
              <a:rPr lang="en-US" dirty="0"/>
              <a:t>: Routers often include basic firewall functions, blocking unwanted traffic and protecting the network from external threats.</a:t>
            </a:r>
          </a:p>
          <a:p>
            <a:r>
              <a:rPr lang="en-US" b="1" dirty="0"/>
              <a:t>Quality of Service (QoS)</a:t>
            </a:r>
            <a:r>
              <a:rPr lang="en-US" dirty="0"/>
              <a:t>: Routers can prioritize traffic types, such as video calls or gaming, to improve performance for critical applications.</a:t>
            </a:r>
          </a:p>
          <a:p>
            <a:r>
              <a:rPr lang="en-US" b="1" dirty="0"/>
              <a:t>VPN Support</a:t>
            </a:r>
            <a:r>
              <a:rPr lang="en-US" dirty="0"/>
              <a:t>: Many routers support Virtual Private Network (VPN) connections, providing secure, encrypted remote access to a private network.</a:t>
            </a:r>
          </a:p>
          <a:p>
            <a:endParaRPr lang="en-US" dirty="0"/>
          </a:p>
        </p:txBody>
      </p:sp>
    </p:spTree>
    <p:extLst>
      <p:ext uri="{BB962C8B-B14F-4D97-AF65-F5344CB8AC3E}">
        <p14:creationId xmlns:p14="http://schemas.microsoft.com/office/powerpoint/2010/main" val="2199436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BAD5-50E0-4E7A-B2CA-9B031607BD4B}"/>
              </a:ext>
            </a:extLst>
          </p:cNvPr>
          <p:cNvSpPr>
            <a:spLocks noGrp="1"/>
          </p:cNvSpPr>
          <p:nvPr>
            <p:ph type="title"/>
          </p:nvPr>
        </p:nvSpPr>
        <p:spPr/>
        <p:txBody>
          <a:bodyPr>
            <a:normAutofit fontScale="90000"/>
          </a:bodyPr>
          <a:lstStyle/>
          <a:p>
            <a:r>
              <a:rPr lang="en-US" b="1" dirty="0"/>
              <a:t>Advantages of Routers</a:t>
            </a:r>
            <a:br>
              <a:rPr lang="en-US" b="1" dirty="0"/>
            </a:br>
            <a:endParaRPr lang="en-US" dirty="0"/>
          </a:p>
        </p:txBody>
      </p:sp>
      <p:sp>
        <p:nvSpPr>
          <p:cNvPr id="3" name="Content Placeholder 2">
            <a:extLst>
              <a:ext uri="{FF2B5EF4-FFF2-40B4-BE49-F238E27FC236}">
                <a16:creationId xmlns:a16="http://schemas.microsoft.com/office/drawing/2014/main" id="{2194FBF0-823B-4D7A-8DA1-14320FEBDE35}"/>
              </a:ext>
            </a:extLst>
          </p:cNvPr>
          <p:cNvSpPr>
            <a:spLocks noGrp="1"/>
          </p:cNvSpPr>
          <p:nvPr>
            <p:ph idx="1"/>
          </p:nvPr>
        </p:nvSpPr>
        <p:spPr/>
        <p:txBody>
          <a:bodyPr>
            <a:normAutofit fontScale="92500" lnSpcReduction="10000"/>
          </a:bodyPr>
          <a:lstStyle/>
          <a:p>
            <a:r>
              <a:rPr lang="en-US" b="1" dirty="0"/>
              <a:t>Network Segmentation and Traffic Control</a:t>
            </a:r>
            <a:r>
              <a:rPr lang="en-US" dirty="0"/>
              <a:t>: Routers enable separate networks to connect without merging, allowing for more controlled and efficient traffic management.</a:t>
            </a:r>
          </a:p>
          <a:p>
            <a:r>
              <a:rPr lang="en-US" b="1" dirty="0"/>
              <a:t>Enhanced Security</a:t>
            </a:r>
            <a:r>
              <a:rPr lang="en-US" dirty="0"/>
              <a:t>: With NAT and firewall capabilities, routers protect networks from unauthorized access and attacks.</a:t>
            </a:r>
          </a:p>
          <a:p>
            <a:r>
              <a:rPr lang="en-US" b="1" dirty="0"/>
              <a:t>Scalability</a:t>
            </a:r>
            <a:r>
              <a:rPr lang="en-US" dirty="0"/>
              <a:t>: Routers allow organizations to scale and interconnect multiple LANs, WANs, and internet links.</a:t>
            </a:r>
          </a:p>
          <a:p>
            <a:r>
              <a:rPr lang="en-US" b="1" dirty="0"/>
              <a:t>Redundancy and Reliability</a:t>
            </a:r>
            <a:r>
              <a:rPr lang="en-US" dirty="0"/>
              <a:t>: Routers with dynamic routing protocols can find alternate routes if a path becomes unavailable, enhancing network resilience.</a:t>
            </a:r>
          </a:p>
          <a:p>
            <a:endParaRPr lang="en-US" dirty="0"/>
          </a:p>
        </p:txBody>
      </p:sp>
    </p:spTree>
    <p:extLst>
      <p:ext uri="{BB962C8B-B14F-4D97-AF65-F5344CB8AC3E}">
        <p14:creationId xmlns:p14="http://schemas.microsoft.com/office/powerpoint/2010/main" val="391367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6B82-0703-4C4B-B567-62A3B355A8C2}"/>
              </a:ext>
            </a:extLst>
          </p:cNvPr>
          <p:cNvSpPr>
            <a:spLocks noGrp="1"/>
          </p:cNvSpPr>
          <p:nvPr>
            <p:ph type="title"/>
          </p:nvPr>
        </p:nvSpPr>
        <p:spPr/>
        <p:txBody>
          <a:bodyPr>
            <a:normAutofit fontScale="90000"/>
          </a:bodyPr>
          <a:lstStyle/>
          <a:p>
            <a:r>
              <a:rPr lang="en-US" b="1" dirty="0"/>
              <a:t>Disadvantages of Routers</a:t>
            </a:r>
            <a:br>
              <a:rPr lang="en-US" b="1" dirty="0"/>
            </a:br>
            <a:endParaRPr lang="en-US" dirty="0"/>
          </a:p>
        </p:txBody>
      </p:sp>
      <p:sp>
        <p:nvSpPr>
          <p:cNvPr id="3" name="Content Placeholder 2">
            <a:extLst>
              <a:ext uri="{FF2B5EF4-FFF2-40B4-BE49-F238E27FC236}">
                <a16:creationId xmlns:a16="http://schemas.microsoft.com/office/drawing/2014/main" id="{D47A6D70-4836-4684-8C87-DB4E32AE9FBB}"/>
              </a:ext>
            </a:extLst>
          </p:cNvPr>
          <p:cNvSpPr>
            <a:spLocks noGrp="1"/>
          </p:cNvSpPr>
          <p:nvPr>
            <p:ph idx="1"/>
          </p:nvPr>
        </p:nvSpPr>
        <p:spPr/>
        <p:txBody>
          <a:bodyPr>
            <a:normAutofit/>
          </a:bodyPr>
          <a:lstStyle/>
          <a:p>
            <a:r>
              <a:rPr lang="en-US" b="1" dirty="0"/>
              <a:t>Complexity and Cost</a:t>
            </a:r>
            <a:r>
              <a:rPr lang="en-US" dirty="0"/>
              <a:t>: Routers are generally more complex to configure and more expensive than switches or hubs.</a:t>
            </a:r>
          </a:p>
          <a:p>
            <a:r>
              <a:rPr lang="en-US" b="1" dirty="0"/>
              <a:t>Latency</a:t>
            </a:r>
            <a:r>
              <a:rPr lang="en-US" dirty="0"/>
              <a:t>: Routers inspect packet headers and determine paths, which can introduce latency, especially if filtering and firewall rules are applied.</a:t>
            </a:r>
          </a:p>
          <a:p>
            <a:r>
              <a:rPr lang="en-US" b="1" dirty="0"/>
              <a:t>Limited Broadcast Traffic</a:t>
            </a:r>
            <a:r>
              <a:rPr lang="en-US" dirty="0"/>
              <a:t>: Routers do not forward broadcast packets, which can sometimes limit network discovery and communication in certain configurations.</a:t>
            </a:r>
          </a:p>
          <a:p>
            <a:endParaRPr lang="en-US" dirty="0"/>
          </a:p>
        </p:txBody>
      </p:sp>
    </p:spTree>
    <p:extLst>
      <p:ext uri="{BB962C8B-B14F-4D97-AF65-F5344CB8AC3E}">
        <p14:creationId xmlns:p14="http://schemas.microsoft.com/office/powerpoint/2010/main" val="1911248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CA86-654A-46F0-B3B5-43035BE4F71B}"/>
              </a:ext>
            </a:extLst>
          </p:cNvPr>
          <p:cNvSpPr>
            <a:spLocks noGrp="1"/>
          </p:cNvSpPr>
          <p:nvPr>
            <p:ph type="title"/>
          </p:nvPr>
        </p:nvSpPr>
        <p:spPr/>
        <p:txBody>
          <a:bodyPr>
            <a:normAutofit fontScale="90000"/>
          </a:bodyPr>
          <a:lstStyle/>
          <a:p>
            <a:br>
              <a:rPr lang="en-US" b="1" dirty="0"/>
            </a:br>
            <a:r>
              <a:rPr lang="en-US" b="1" dirty="0"/>
              <a:t>Use Cases for Routers</a:t>
            </a:r>
            <a:br>
              <a:rPr lang="en-US" b="1" dirty="0"/>
            </a:br>
            <a:endParaRPr lang="en-US" dirty="0"/>
          </a:p>
        </p:txBody>
      </p:sp>
      <p:sp>
        <p:nvSpPr>
          <p:cNvPr id="3" name="Content Placeholder 2">
            <a:extLst>
              <a:ext uri="{FF2B5EF4-FFF2-40B4-BE49-F238E27FC236}">
                <a16:creationId xmlns:a16="http://schemas.microsoft.com/office/drawing/2014/main" id="{13BECB54-56A0-4FE4-B5FF-2753D65B6465}"/>
              </a:ext>
            </a:extLst>
          </p:cNvPr>
          <p:cNvSpPr>
            <a:spLocks noGrp="1"/>
          </p:cNvSpPr>
          <p:nvPr>
            <p:ph idx="1"/>
          </p:nvPr>
        </p:nvSpPr>
        <p:spPr/>
        <p:txBody>
          <a:bodyPr>
            <a:normAutofit fontScale="92500" lnSpcReduction="10000"/>
          </a:bodyPr>
          <a:lstStyle/>
          <a:p>
            <a:r>
              <a:rPr lang="en-US" b="1" dirty="0"/>
              <a:t>Enterprise Networks</a:t>
            </a:r>
            <a:r>
              <a:rPr lang="en-US" dirty="0"/>
              <a:t>: Routers connect multiple departments and branch offices, managing traffic between internal and external networks.</a:t>
            </a:r>
          </a:p>
          <a:p>
            <a:r>
              <a:rPr lang="en-US" b="1" dirty="0"/>
              <a:t>Home Networks</a:t>
            </a:r>
            <a:r>
              <a:rPr lang="en-US" dirty="0"/>
              <a:t>: Home routers provide internet connectivity, Wi-Fi, and basic security for home users.</a:t>
            </a:r>
          </a:p>
          <a:p>
            <a:r>
              <a:rPr lang="en-US" b="1" dirty="0"/>
              <a:t>Data Centers</a:t>
            </a:r>
            <a:r>
              <a:rPr lang="en-US" dirty="0"/>
              <a:t>: Core and distribution routers handle high volumes of traffic, providing reliability and redundancy.</a:t>
            </a:r>
          </a:p>
          <a:p>
            <a:r>
              <a:rPr lang="en-US" b="1" dirty="0"/>
              <a:t>Service Providers (ISPs)</a:t>
            </a:r>
            <a:r>
              <a:rPr lang="en-US" dirty="0"/>
              <a:t>: ISPs use BGP routers to direct traffic across the internet and between networks of different organizations.</a:t>
            </a:r>
          </a:p>
          <a:p>
            <a:endParaRPr lang="en-US" dirty="0"/>
          </a:p>
        </p:txBody>
      </p:sp>
    </p:spTree>
    <p:extLst>
      <p:ext uri="{BB962C8B-B14F-4D97-AF65-F5344CB8AC3E}">
        <p14:creationId xmlns:p14="http://schemas.microsoft.com/office/powerpoint/2010/main" val="2388063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DF34-9AF4-4403-8A64-C602F266ABD8}"/>
              </a:ext>
            </a:extLst>
          </p:cNvPr>
          <p:cNvSpPr>
            <a:spLocks noGrp="1"/>
          </p:cNvSpPr>
          <p:nvPr>
            <p:ph type="title"/>
          </p:nvPr>
        </p:nvSpPr>
        <p:spPr>
          <a:xfrm>
            <a:off x="609600" y="92074"/>
            <a:ext cx="10972800" cy="639762"/>
          </a:xfrm>
        </p:spPr>
        <p:txBody>
          <a:bodyPr>
            <a:normAutofit fontScale="90000"/>
          </a:bodyPr>
          <a:lstStyle/>
          <a:p>
            <a:br>
              <a:rPr lang="en-US" b="1" dirty="0"/>
            </a:br>
            <a:r>
              <a:rPr lang="en-US" b="1" dirty="0"/>
              <a:t>Common Router Protocols</a:t>
            </a:r>
            <a:br>
              <a:rPr lang="en-US" b="1" dirty="0"/>
            </a:br>
            <a:endParaRPr lang="en-US" dirty="0"/>
          </a:p>
        </p:txBody>
      </p:sp>
      <p:sp>
        <p:nvSpPr>
          <p:cNvPr id="3" name="Content Placeholder 2">
            <a:extLst>
              <a:ext uri="{FF2B5EF4-FFF2-40B4-BE49-F238E27FC236}">
                <a16:creationId xmlns:a16="http://schemas.microsoft.com/office/drawing/2014/main" id="{B661F6BB-D08E-4066-A434-3D9B2961C342}"/>
              </a:ext>
            </a:extLst>
          </p:cNvPr>
          <p:cNvSpPr>
            <a:spLocks noGrp="1"/>
          </p:cNvSpPr>
          <p:nvPr>
            <p:ph idx="1"/>
          </p:nvPr>
        </p:nvSpPr>
        <p:spPr>
          <a:xfrm>
            <a:off x="609600" y="838201"/>
            <a:ext cx="10972800" cy="5287964"/>
          </a:xfrm>
        </p:spPr>
        <p:txBody>
          <a:bodyPr>
            <a:normAutofit/>
          </a:bodyPr>
          <a:lstStyle/>
          <a:p>
            <a:r>
              <a:rPr lang="en-US" b="1" dirty="0"/>
              <a:t>Static Routing</a:t>
            </a:r>
            <a:r>
              <a:rPr lang="en-US" dirty="0"/>
              <a:t>: Involves manually setting routes within the router, suitable for small networks with fixed paths.</a:t>
            </a:r>
          </a:p>
          <a:p>
            <a:r>
              <a:rPr lang="en-US" b="1" dirty="0"/>
              <a:t>Dynamic Routing Protocols</a:t>
            </a:r>
            <a:r>
              <a:rPr lang="en-US" dirty="0"/>
              <a:t>:</a:t>
            </a:r>
          </a:p>
          <a:p>
            <a:pPr lvl="1"/>
            <a:r>
              <a:rPr lang="en-US" b="1" dirty="0"/>
              <a:t>RIP</a:t>
            </a:r>
            <a:r>
              <a:rPr lang="en-US" dirty="0"/>
              <a:t>: Suitable for small networks with limited complexity, it uses hop count as the metric.</a:t>
            </a:r>
          </a:p>
          <a:p>
            <a:pPr lvl="1"/>
            <a:r>
              <a:rPr lang="en-US" b="1" dirty="0"/>
              <a:t>OSPF</a:t>
            </a:r>
            <a:r>
              <a:rPr lang="en-US" dirty="0"/>
              <a:t>: Used in large, enterprise networks, it calculates routes based on path cost, allowing for efficient routing.</a:t>
            </a:r>
          </a:p>
          <a:p>
            <a:pPr lvl="1"/>
            <a:r>
              <a:rPr lang="en-US" b="1" dirty="0"/>
              <a:t>BGP</a:t>
            </a:r>
            <a:r>
              <a:rPr lang="en-US" dirty="0"/>
              <a:t>: Used on the internet and by ISPs to route data between large networks and manage global traffic.</a:t>
            </a:r>
          </a:p>
          <a:p>
            <a:endParaRPr lang="en-US" dirty="0"/>
          </a:p>
        </p:txBody>
      </p:sp>
    </p:spTree>
    <p:extLst>
      <p:ext uri="{BB962C8B-B14F-4D97-AF65-F5344CB8AC3E}">
        <p14:creationId xmlns:p14="http://schemas.microsoft.com/office/powerpoint/2010/main" val="2842990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C2DE-63B5-44F9-BEEE-B7C68559D8B5}"/>
              </a:ext>
            </a:extLst>
          </p:cNvPr>
          <p:cNvSpPr>
            <a:spLocks noGrp="1"/>
          </p:cNvSpPr>
          <p:nvPr>
            <p:ph type="title"/>
          </p:nvPr>
        </p:nvSpPr>
        <p:spPr/>
        <p:txBody>
          <a:bodyPr/>
          <a:lstStyle/>
          <a:p>
            <a:r>
              <a:rPr lang="en-US" b="1" dirty="0" err="1"/>
              <a:t>Brouter</a:t>
            </a:r>
            <a:endParaRPr lang="en-US" dirty="0"/>
          </a:p>
        </p:txBody>
      </p:sp>
      <p:sp>
        <p:nvSpPr>
          <p:cNvPr id="3" name="Content Placeholder 2">
            <a:extLst>
              <a:ext uri="{FF2B5EF4-FFF2-40B4-BE49-F238E27FC236}">
                <a16:creationId xmlns:a16="http://schemas.microsoft.com/office/drawing/2014/main" id="{54CAABDE-6483-45C0-B6B1-1A235ECE1752}"/>
              </a:ext>
            </a:extLst>
          </p:cNvPr>
          <p:cNvSpPr>
            <a:spLocks noGrp="1"/>
          </p:cNvSpPr>
          <p:nvPr>
            <p:ph idx="1"/>
          </p:nvPr>
        </p:nvSpPr>
        <p:spPr/>
        <p:txBody>
          <a:bodyPr/>
          <a:lstStyle/>
          <a:p>
            <a:r>
              <a:rPr lang="en-US" dirty="0"/>
              <a:t>A </a:t>
            </a:r>
            <a:r>
              <a:rPr lang="en-US" b="1" dirty="0" err="1"/>
              <a:t>Brouter</a:t>
            </a:r>
            <a:r>
              <a:rPr lang="en-US" dirty="0"/>
              <a:t> (Bridge Router) is a hybrid networking device that combines the functionalities of a </a:t>
            </a:r>
            <a:r>
              <a:rPr lang="en-US" b="1" dirty="0"/>
              <a:t>bridge</a:t>
            </a:r>
            <a:r>
              <a:rPr lang="en-US" dirty="0"/>
              <a:t> and a </a:t>
            </a:r>
            <a:r>
              <a:rPr lang="en-US" b="1" dirty="0"/>
              <a:t>router</a:t>
            </a:r>
            <a:r>
              <a:rPr lang="en-US" dirty="0"/>
              <a:t>. </a:t>
            </a:r>
          </a:p>
          <a:p>
            <a:r>
              <a:rPr lang="en-US" dirty="0"/>
              <a:t>It operates at both the </a:t>
            </a:r>
            <a:r>
              <a:rPr lang="en-US" b="1" dirty="0"/>
              <a:t>data link layer (Layer 2)</a:t>
            </a:r>
            <a:r>
              <a:rPr lang="en-US" dirty="0"/>
              <a:t> and the </a:t>
            </a:r>
            <a:r>
              <a:rPr lang="en-US" b="1" dirty="0"/>
              <a:t>network layer (Layer 3)</a:t>
            </a:r>
            <a:r>
              <a:rPr lang="en-US" dirty="0"/>
              <a:t> of the OSI model, allowing it to route packets between different networks while also filtering traffic at the data link layer.</a:t>
            </a:r>
          </a:p>
        </p:txBody>
      </p:sp>
    </p:spTree>
    <p:extLst>
      <p:ext uri="{BB962C8B-B14F-4D97-AF65-F5344CB8AC3E}">
        <p14:creationId xmlns:p14="http://schemas.microsoft.com/office/powerpoint/2010/main" val="3583521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400050"/>
            <a:ext cx="8915400" cy="4457700"/>
          </a:xfrm>
          <a:prstGeom prst="rect">
            <a:avLst/>
          </a:prstGeom>
        </p:spPr>
      </p:pic>
    </p:spTree>
    <p:extLst>
      <p:ext uri="{BB962C8B-B14F-4D97-AF65-F5344CB8AC3E}">
        <p14:creationId xmlns:p14="http://schemas.microsoft.com/office/powerpoint/2010/main" val="1598563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BCA9-2BAC-4E96-B882-A360EC3BC724}"/>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Key Features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07EFFDEE-16A2-4EBD-B99F-9AE2B7D00F75}"/>
              </a:ext>
            </a:extLst>
          </p:cNvPr>
          <p:cNvSpPr>
            <a:spLocks noGrp="1"/>
          </p:cNvSpPr>
          <p:nvPr>
            <p:ph idx="1"/>
          </p:nvPr>
        </p:nvSpPr>
        <p:spPr>
          <a:xfrm>
            <a:off x="609600" y="1143001"/>
            <a:ext cx="10972800" cy="4983164"/>
          </a:xfrm>
        </p:spPr>
        <p:txBody>
          <a:bodyPr>
            <a:normAutofit fontScale="92500" lnSpcReduction="10000"/>
          </a:bodyPr>
          <a:lstStyle/>
          <a:p>
            <a:r>
              <a:rPr lang="en-US" b="1" dirty="0"/>
              <a:t>Hybrid Functionality</a:t>
            </a:r>
            <a:r>
              <a:rPr lang="en-US" dirty="0"/>
              <a:t>: </a:t>
            </a:r>
            <a:r>
              <a:rPr lang="en-US" dirty="0" err="1"/>
              <a:t>Brouters</a:t>
            </a:r>
            <a:r>
              <a:rPr lang="en-US" dirty="0"/>
              <a:t> can perform both bridging (connecting multiple networks and filtering traffic) and routing (directing packets between networks based on IP addresses).</a:t>
            </a:r>
          </a:p>
          <a:p>
            <a:r>
              <a:rPr lang="en-US" b="1" dirty="0"/>
              <a:t>Traffic Filtering</a:t>
            </a:r>
            <a:r>
              <a:rPr lang="en-US" dirty="0"/>
              <a:t>: They can filter traffic at the data link layer, reducing unnecessary data transmission across networks and improving overall efficiency.</a:t>
            </a:r>
          </a:p>
          <a:p>
            <a:r>
              <a:rPr lang="en-US" b="1" dirty="0"/>
              <a:t>Routing Capabilities</a:t>
            </a:r>
            <a:r>
              <a:rPr lang="en-US" dirty="0"/>
              <a:t>: </a:t>
            </a:r>
            <a:r>
              <a:rPr lang="en-US" dirty="0" err="1"/>
              <a:t>Brouters</a:t>
            </a:r>
            <a:r>
              <a:rPr lang="en-US" dirty="0"/>
              <a:t> can route packets between different IP networks, allowing them to manage traffic between local area networks (LANs) and wide area networks (WANs).</a:t>
            </a:r>
          </a:p>
          <a:p>
            <a:r>
              <a:rPr lang="en-US" b="1" dirty="0"/>
              <a:t>Protocol Handling</a:t>
            </a:r>
            <a:r>
              <a:rPr lang="en-US" dirty="0"/>
              <a:t>: They can handle multiple protocols, making them versatile for different network environments.</a:t>
            </a:r>
          </a:p>
          <a:p>
            <a:endParaRPr lang="en-US" dirty="0"/>
          </a:p>
        </p:txBody>
      </p:sp>
    </p:spTree>
    <p:extLst>
      <p:ext uri="{BB962C8B-B14F-4D97-AF65-F5344CB8AC3E}">
        <p14:creationId xmlns:p14="http://schemas.microsoft.com/office/powerpoint/2010/main" val="2013775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3D5D1-2A6A-47EF-8A0D-9ADEF6ABAEAF}"/>
              </a:ext>
            </a:extLst>
          </p:cNvPr>
          <p:cNvSpPr>
            <a:spLocks noGrp="1"/>
          </p:cNvSpPr>
          <p:nvPr>
            <p:ph type="title"/>
          </p:nvPr>
        </p:nvSpPr>
        <p:spPr>
          <a:xfrm>
            <a:off x="609600" y="274638"/>
            <a:ext cx="10972800" cy="868362"/>
          </a:xfrm>
        </p:spPr>
        <p:txBody>
          <a:bodyPr>
            <a:normAutofit fontScale="90000"/>
          </a:bodyPr>
          <a:lstStyle/>
          <a:p>
            <a:br>
              <a:rPr lang="en-US" b="1" dirty="0"/>
            </a:br>
            <a:r>
              <a:rPr lang="en-US" b="1" dirty="0"/>
              <a:t>Advantages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9E40A699-3966-44F0-BAAA-CF1DF69151F9}"/>
              </a:ext>
            </a:extLst>
          </p:cNvPr>
          <p:cNvSpPr>
            <a:spLocks noGrp="1"/>
          </p:cNvSpPr>
          <p:nvPr>
            <p:ph idx="1"/>
          </p:nvPr>
        </p:nvSpPr>
        <p:spPr>
          <a:xfrm>
            <a:off x="609600" y="1143001"/>
            <a:ext cx="10972800" cy="4983164"/>
          </a:xfrm>
        </p:spPr>
        <p:txBody>
          <a:bodyPr>
            <a:normAutofit/>
          </a:bodyPr>
          <a:lstStyle/>
          <a:p>
            <a:r>
              <a:rPr lang="en-US" sz="4000" b="1" dirty="0"/>
              <a:t>Efficiency</a:t>
            </a:r>
            <a:r>
              <a:rPr lang="en-US" sz="4000" dirty="0"/>
              <a:t>: </a:t>
            </a:r>
            <a:r>
              <a:rPr lang="en-US" sz="4000" dirty="0" err="1"/>
              <a:t>Brouters</a:t>
            </a:r>
            <a:r>
              <a:rPr lang="en-US" sz="4000" dirty="0"/>
              <a:t> can reduce network congestion by filtering traffic at the data link layer, ensuring only necessary packets are routed.</a:t>
            </a:r>
          </a:p>
          <a:p>
            <a:r>
              <a:rPr lang="en-US" sz="4000" b="1" dirty="0"/>
              <a:t>Cost-Effective</a:t>
            </a:r>
            <a:r>
              <a:rPr lang="en-US" sz="4000" dirty="0"/>
              <a:t>: By combining bridging and routing functions, </a:t>
            </a:r>
            <a:r>
              <a:rPr lang="en-US" sz="4000" dirty="0" err="1"/>
              <a:t>brouters</a:t>
            </a:r>
            <a:r>
              <a:rPr lang="en-US" sz="4000" dirty="0"/>
              <a:t> can reduce the number of devices needed in a network, leading to cost savings.</a:t>
            </a:r>
          </a:p>
          <a:p>
            <a:endParaRPr lang="en-US" sz="4000" dirty="0"/>
          </a:p>
        </p:txBody>
      </p:sp>
    </p:spTree>
    <p:extLst>
      <p:ext uri="{BB962C8B-B14F-4D97-AF65-F5344CB8AC3E}">
        <p14:creationId xmlns:p14="http://schemas.microsoft.com/office/powerpoint/2010/main" val="348846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3D5D1-2A6A-47EF-8A0D-9ADEF6ABAEAF}"/>
              </a:ext>
            </a:extLst>
          </p:cNvPr>
          <p:cNvSpPr>
            <a:spLocks noGrp="1"/>
          </p:cNvSpPr>
          <p:nvPr>
            <p:ph type="title"/>
          </p:nvPr>
        </p:nvSpPr>
        <p:spPr>
          <a:xfrm>
            <a:off x="609600" y="274638"/>
            <a:ext cx="10972800" cy="868362"/>
          </a:xfrm>
        </p:spPr>
        <p:txBody>
          <a:bodyPr>
            <a:normAutofit fontScale="90000"/>
          </a:bodyPr>
          <a:lstStyle/>
          <a:p>
            <a:br>
              <a:rPr lang="en-US" b="1" dirty="0"/>
            </a:br>
            <a:r>
              <a:rPr lang="en-US" b="1" dirty="0"/>
              <a:t>Advantages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9E40A699-3966-44F0-BAAA-CF1DF69151F9}"/>
              </a:ext>
            </a:extLst>
          </p:cNvPr>
          <p:cNvSpPr>
            <a:spLocks noGrp="1"/>
          </p:cNvSpPr>
          <p:nvPr>
            <p:ph idx="1"/>
          </p:nvPr>
        </p:nvSpPr>
        <p:spPr>
          <a:xfrm>
            <a:off x="609600" y="1143001"/>
            <a:ext cx="10972800" cy="4983164"/>
          </a:xfrm>
        </p:spPr>
        <p:txBody>
          <a:bodyPr>
            <a:normAutofit/>
          </a:bodyPr>
          <a:lstStyle/>
          <a:p>
            <a:r>
              <a:rPr lang="en-US" sz="4000" b="1" dirty="0"/>
              <a:t>Flexible Network Design</a:t>
            </a:r>
            <a:r>
              <a:rPr lang="en-US" sz="4000" dirty="0"/>
              <a:t>: They allow for more complex network designs that can accommodate multiple protocols and traffic types.</a:t>
            </a:r>
          </a:p>
          <a:p>
            <a:r>
              <a:rPr lang="en-US" sz="4000" b="1" dirty="0"/>
              <a:t>Enhanced Performance</a:t>
            </a:r>
            <a:r>
              <a:rPr lang="en-US" sz="4000" dirty="0"/>
              <a:t>: By managing both local and remote traffic effectively, </a:t>
            </a:r>
            <a:r>
              <a:rPr lang="en-US" sz="4000" dirty="0" err="1"/>
              <a:t>brouters</a:t>
            </a:r>
            <a:r>
              <a:rPr lang="en-US" sz="4000" dirty="0"/>
              <a:t> can improve overall network performance.</a:t>
            </a:r>
          </a:p>
          <a:p>
            <a:endParaRPr lang="en-US" sz="4000" dirty="0"/>
          </a:p>
        </p:txBody>
      </p:sp>
    </p:spTree>
    <p:extLst>
      <p:ext uri="{BB962C8B-B14F-4D97-AF65-F5344CB8AC3E}">
        <p14:creationId xmlns:p14="http://schemas.microsoft.com/office/powerpoint/2010/main" val="1509341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0AECD-3C98-48C9-AE8B-241A87D1AD24}"/>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Disadvantages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A6410EC3-7938-45F0-90E3-2CFC1DC1A536}"/>
              </a:ext>
            </a:extLst>
          </p:cNvPr>
          <p:cNvSpPr>
            <a:spLocks noGrp="1"/>
          </p:cNvSpPr>
          <p:nvPr>
            <p:ph idx="1"/>
          </p:nvPr>
        </p:nvSpPr>
        <p:spPr>
          <a:xfrm>
            <a:off x="609600" y="1143001"/>
            <a:ext cx="10972800" cy="4983164"/>
          </a:xfrm>
        </p:spPr>
        <p:txBody>
          <a:bodyPr>
            <a:normAutofit/>
          </a:bodyPr>
          <a:lstStyle/>
          <a:p>
            <a:r>
              <a:rPr lang="en-US" b="1" dirty="0"/>
              <a:t>Complex Configuration</a:t>
            </a:r>
            <a:r>
              <a:rPr lang="en-US" dirty="0"/>
              <a:t>: Setting up and managing a </a:t>
            </a:r>
            <a:r>
              <a:rPr lang="en-US" dirty="0" err="1"/>
              <a:t>brouter</a:t>
            </a:r>
            <a:r>
              <a:rPr lang="en-US" dirty="0"/>
              <a:t> may require more expertise compared to using dedicated routers or bridges.</a:t>
            </a:r>
          </a:p>
          <a:p>
            <a:r>
              <a:rPr lang="en-US" b="1" dirty="0"/>
              <a:t>Limited Protocol Support</a:t>
            </a:r>
            <a:r>
              <a:rPr lang="en-US" dirty="0"/>
              <a:t>: Some </a:t>
            </a:r>
            <a:r>
              <a:rPr lang="en-US" dirty="0" err="1"/>
              <a:t>brouters</a:t>
            </a:r>
            <a:r>
              <a:rPr lang="en-US" dirty="0"/>
              <a:t> may only support specific protocols, which could limit their usability in diverse network environments.</a:t>
            </a:r>
          </a:p>
        </p:txBody>
      </p:sp>
    </p:spTree>
    <p:extLst>
      <p:ext uri="{BB962C8B-B14F-4D97-AF65-F5344CB8AC3E}">
        <p14:creationId xmlns:p14="http://schemas.microsoft.com/office/powerpoint/2010/main" val="3509291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516C-039D-4D1D-8D13-D40F35B62FB4}"/>
              </a:ext>
            </a:extLst>
          </p:cNvPr>
          <p:cNvSpPr>
            <a:spLocks noGrp="1"/>
          </p:cNvSpPr>
          <p:nvPr>
            <p:ph type="title"/>
          </p:nvPr>
        </p:nvSpPr>
        <p:spPr/>
        <p:txBody>
          <a:bodyPr>
            <a:normAutofit fontScale="90000"/>
          </a:bodyPr>
          <a:lstStyle/>
          <a:p>
            <a:br>
              <a:rPr lang="en-US" b="1" dirty="0"/>
            </a:br>
            <a:r>
              <a:rPr lang="en-US" b="1" dirty="0"/>
              <a:t>Disadvantages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F117F8E3-9070-484B-AB6F-198A848D2188}"/>
              </a:ext>
            </a:extLst>
          </p:cNvPr>
          <p:cNvSpPr>
            <a:spLocks noGrp="1"/>
          </p:cNvSpPr>
          <p:nvPr>
            <p:ph idx="1"/>
          </p:nvPr>
        </p:nvSpPr>
        <p:spPr/>
        <p:txBody>
          <a:bodyPr/>
          <a:lstStyle/>
          <a:p>
            <a:r>
              <a:rPr lang="en-US" b="1" dirty="0"/>
              <a:t>Potential Bottlenecks</a:t>
            </a:r>
            <a:r>
              <a:rPr lang="en-US" dirty="0"/>
              <a:t>: If not properly managed, the combination of bridging and routing functions can lead to performance bottlenecks under heavy traffic conditions.</a:t>
            </a:r>
          </a:p>
          <a:p>
            <a:r>
              <a:rPr lang="en-US" b="1" dirty="0"/>
              <a:t>Cost</a:t>
            </a:r>
            <a:r>
              <a:rPr lang="en-US" dirty="0"/>
              <a:t>: While cost-effective in some scenarios, </a:t>
            </a:r>
            <a:r>
              <a:rPr lang="en-US" dirty="0" err="1"/>
              <a:t>brouters</a:t>
            </a:r>
            <a:r>
              <a:rPr lang="en-US" dirty="0"/>
              <a:t> can be more expensive than dedicated bridges or routers, especially for small networks.</a:t>
            </a:r>
          </a:p>
          <a:p>
            <a:endParaRPr lang="en-US" dirty="0"/>
          </a:p>
          <a:p>
            <a:endParaRPr lang="en-US" dirty="0"/>
          </a:p>
        </p:txBody>
      </p:sp>
    </p:spTree>
    <p:extLst>
      <p:ext uri="{BB962C8B-B14F-4D97-AF65-F5344CB8AC3E}">
        <p14:creationId xmlns:p14="http://schemas.microsoft.com/office/powerpoint/2010/main" val="237241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BB1F-347C-4720-BE0B-2AC0590CFEFF}"/>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Use Cases of </a:t>
            </a:r>
            <a:r>
              <a:rPr lang="en-US" b="1" dirty="0" err="1"/>
              <a:t>Brouters</a:t>
            </a:r>
            <a:br>
              <a:rPr lang="en-US" b="1" dirty="0"/>
            </a:br>
            <a:endParaRPr lang="en-US" dirty="0"/>
          </a:p>
        </p:txBody>
      </p:sp>
      <p:sp>
        <p:nvSpPr>
          <p:cNvPr id="3" name="Content Placeholder 2">
            <a:extLst>
              <a:ext uri="{FF2B5EF4-FFF2-40B4-BE49-F238E27FC236}">
                <a16:creationId xmlns:a16="http://schemas.microsoft.com/office/drawing/2014/main" id="{53EFA1C0-3477-41F5-978A-FEF862C0C582}"/>
              </a:ext>
            </a:extLst>
          </p:cNvPr>
          <p:cNvSpPr>
            <a:spLocks noGrp="1"/>
          </p:cNvSpPr>
          <p:nvPr>
            <p:ph idx="1"/>
          </p:nvPr>
        </p:nvSpPr>
        <p:spPr>
          <a:xfrm>
            <a:off x="609600" y="1066801"/>
            <a:ext cx="10972800" cy="5059364"/>
          </a:xfrm>
        </p:spPr>
        <p:txBody>
          <a:bodyPr>
            <a:normAutofit/>
          </a:bodyPr>
          <a:lstStyle/>
          <a:p>
            <a:r>
              <a:rPr lang="en-US" b="1" dirty="0"/>
              <a:t>Complex Network Environments</a:t>
            </a:r>
            <a:r>
              <a:rPr lang="en-US" dirty="0"/>
              <a:t>: </a:t>
            </a:r>
            <a:r>
              <a:rPr lang="en-US" dirty="0" err="1"/>
              <a:t>Brouters</a:t>
            </a:r>
            <a:r>
              <a:rPr lang="en-US" dirty="0"/>
              <a:t> are useful in networks that require both bridging and routing capabilities, such as corporate networks with multiple subnets.</a:t>
            </a:r>
          </a:p>
          <a:p>
            <a:r>
              <a:rPr lang="en-US" b="1" dirty="0"/>
              <a:t>Protocol Conversion</a:t>
            </a:r>
            <a:r>
              <a:rPr lang="en-US" dirty="0"/>
              <a:t>: In scenarios where different network protocols need to communicate, </a:t>
            </a:r>
            <a:r>
              <a:rPr lang="en-US" dirty="0" err="1"/>
              <a:t>brouters</a:t>
            </a:r>
            <a:r>
              <a:rPr lang="en-US" dirty="0"/>
              <a:t> can facilitate communication between them.</a:t>
            </a:r>
          </a:p>
          <a:p>
            <a:r>
              <a:rPr lang="en-US" b="1" dirty="0"/>
              <a:t>Integrated Network Solutions</a:t>
            </a:r>
            <a:r>
              <a:rPr lang="en-US" dirty="0"/>
              <a:t>: Organizations looking to streamline their network infrastructure might use </a:t>
            </a:r>
            <a:r>
              <a:rPr lang="en-US" dirty="0" err="1"/>
              <a:t>brouters</a:t>
            </a:r>
            <a:r>
              <a:rPr lang="en-US" dirty="0"/>
              <a:t> to reduce the number of devices needed.</a:t>
            </a:r>
          </a:p>
          <a:p>
            <a:endParaRPr lang="en-US" dirty="0"/>
          </a:p>
        </p:txBody>
      </p:sp>
    </p:spTree>
    <p:extLst>
      <p:ext uri="{BB962C8B-B14F-4D97-AF65-F5344CB8AC3E}">
        <p14:creationId xmlns:p14="http://schemas.microsoft.com/office/powerpoint/2010/main" val="3228591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D3C29-00DF-4FA2-9B78-5AF94AF84964}"/>
              </a:ext>
            </a:extLst>
          </p:cNvPr>
          <p:cNvSpPr>
            <a:spLocks noGrp="1"/>
          </p:cNvSpPr>
          <p:nvPr>
            <p:ph type="title"/>
          </p:nvPr>
        </p:nvSpPr>
        <p:spPr/>
        <p:txBody>
          <a:bodyPr/>
          <a:lstStyle/>
          <a:p>
            <a:r>
              <a:rPr lang="en-US" b="1" dirty="0"/>
              <a:t>SOHO Router</a:t>
            </a:r>
            <a:endParaRPr lang="en-US" dirty="0"/>
          </a:p>
        </p:txBody>
      </p:sp>
      <p:sp>
        <p:nvSpPr>
          <p:cNvPr id="3" name="Content Placeholder 2">
            <a:extLst>
              <a:ext uri="{FF2B5EF4-FFF2-40B4-BE49-F238E27FC236}">
                <a16:creationId xmlns:a16="http://schemas.microsoft.com/office/drawing/2014/main" id="{EDF779D8-6111-4A30-8821-7E2A56510032}"/>
              </a:ext>
            </a:extLst>
          </p:cNvPr>
          <p:cNvSpPr>
            <a:spLocks noGrp="1"/>
          </p:cNvSpPr>
          <p:nvPr>
            <p:ph idx="1"/>
          </p:nvPr>
        </p:nvSpPr>
        <p:spPr/>
        <p:txBody>
          <a:bodyPr/>
          <a:lstStyle/>
          <a:p>
            <a:r>
              <a:rPr lang="en-US" dirty="0"/>
              <a:t>A </a:t>
            </a:r>
            <a:r>
              <a:rPr lang="en-US" b="1" dirty="0"/>
              <a:t>SOHO Router</a:t>
            </a:r>
            <a:r>
              <a:rPr lang="en-US" dirty="0"/>
              <a:t> (Small Office/Home Office Router) is a networking device designed for small businesses and home office environments. </a:t>
            </a:r>
          </a:p>
          <a:p>
            <a:r>
              <a:rPr lang="en-US" dirty="0"/>
              <a:t>It serves as a gateway between a local area network (LAN) and the internet, enabling multiple devices to connect to the internet and communicate with each other.</a:t>
            </a:r>
          </a:p>
        </p:txBody>
      </p:sp>
    </p:spTree>
    <p:extLst>
      <p:ext uri="{BB962C8B-B14F-4D97-AF65-F5344CB8AC3E}">
        <p14:creationId xmlns:p14="http://schemas.microsoft.com/office/powerpoint/2010/main" val="651516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CA9B1-9C33-47F2-821F-1BBC55C97BBA}"/>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Key Features of SOHO Routers</a:t>
            </a:r>
            <a:br>
              <a:rPr lang="en-US" b="1" dirty="0"/>
            </a:br>
            <a:endParaRPr lang="en-US" dirty="0"/>
          </a:p>
        </p:txBody>
      </p:sp>
      <p:sp>
        <p:nvSpPr>
          <p:cNvPr id="3" name="Content Placeholder 2">
            <a:extLst>
              <a:ext uri="{FF2B5EF4-FFF2-40B4-BE49-F238E27FC236}">
                <a16:creationId xmlns:a16="http://schemas.microsoft.com/office/drawing/2014/main" id="{006FFB3D-6CC2-472C-BB6C-9085D93C3D49}"/>
              </a:ext>
            </a:extLst>
          </p:cNvPr>
          <p:cNvSpPr>
            <a:spLocks noGrp="1"/>
          </p:cNvSpPr>
          <p:nvPr>
            <p:ph idx="1"/>
          </p:nvPr>
        </p:nvSpPr>
        <p:spPr/>
        <p:txBody>
          <a:bodyPr>
            <a:normAutofit fontScale="85000" lnSpcReduction="10000"/>
          </a:bodyPr>
          <a:lstStyle/>
          <a:p>
            <a:r>
              <a:rPr lang="en-US" b="1" dirty="0"/>
              <a:t>Routing Capabilities</a:t>
            </a:r>
            <a:r>
              <a:rPr lang="en-US" dirty="0"/>
              <a:t>: SOHO routers direct traffic between the local network and the internet, using IP addressing to determine the best path for data packets.</a:t>
            </a:r>
          </a:p>
          <a:p>
            <a:r>
              <a:rPr lang="en-US" b="1" dirty="0"/>
              <a:t>NAT (Network Address Translation)</a:t>
            </a:r>
            <a:r>
              <a:rPr lang="en-US" dirty="0"/>
              <a:t>: Allows multiple devices on a local network to share a single public IP address by translating private IP addresses to the public address when accessing the internet.</a:t>
            </a:r>
          </a:p>
          <a:p>
            <a:r>
              <a:rPr lang="en-US" b="1" dirty="0"/>
              <a:t>DHCP Server</a:t>
            </a:r>
            <a:r>
              <a:rPr lang="en-US" dirty="0"/>
              <a:t>: Automatically assigns IP addresses to devices on the local network, simplifying network configuration and management.</a:t>
            </a:r>
          </a:p>
          <a:p>
            <a:r>
              <a:rPr lang="en-US" b="1" dirty="0"/>
              <a:t>Wireless Connectivity</a:t>
            </a:r>
            <a:r>
              <a:rPr lang="en-US" dirty="0"/>
              <a:t>: Most SOHO routers include wireless capabilities (Wi-Fi), enabling wireless devices to connect without the need for Ethernet cables.</a:t>
            </a:r>
          </a:p>
        </p:txBody>
      </p:sp>
    </p:spTree>
    <p:extLst>
      <p:ext uri="{BB962C8B-B14F-4D97-AF65-F5344CB8AC3E}">
        <p14:creationId xmlns:p14="http://schemas.microsoft.com/office/powerpoint/2010/main" val="1817255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2CAA-BC3B-4192-A3A4-EDE326F072C6}"/>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Key Features of SOHO Routers</a:t>
            </a:r>
            <a:br>
              <a:rPr lang="en-US" b="1" dirty="0"/>
            </a:br>
            <a:endParaRPr lang="en-US" dirty="0"/>
          </a:p>
        </p:txBody>
      </p:sp>
      <p:sp>
        <p:nvSpPr>
          <p:cNvPr id="3" name="Content Placeholder 2">
            <a:extLst>
              <a:ext uri="{FF2B5EF4-FFF2-40B4-BE49-F238E27FC236}">
                <a16:creationId xmlns:a16="http://schemas.microsoft.com/office/drawing/2014/main" id="{F0B97F9E-9259-4D46-9A2F-F0F032B8B6AA}"/>
              </a:ext>
            </a:extLst>
          </p:cNvPr>
          <p:cNvSpPr>
            <a:spLocks noGrp="1"/>
          </p:cNvSpPr>
          <p:nvPr>
            <p:ph idx="1"/>
          </p:nvPr>
        </p:nvSpPr>
        <p:spPr>
          <a:xfrm>
            <a:off x="609600" y="1066801"/>
            <a:ext cx="10972800" cy="5059364"/>
          </a:xfrm>
        </p:spPr>
        <p:txBody>
          <a:bodyPr/>
          <a:lstStyle/>
          <a:p>
            <a:r>
              <a:rPr lang="en-US" b="1" dirty="0"/>
              <a:t>Firewall Protection</a:t>
            </a:r>
            <a:r>
              <a:rPr lang="en-US" dirty="0"/>
              <a:t>: Many SOHO routers come with built-in firewall features to help secure the network by filtering incoming and outgoing traffic.</a:t>
            </a:r>
          </a:p>
          <a:p>
            <a:r>
              <a:rPr lang="en-US" b="1" dirty="0"/>
              <a:t>Port Forwarding</a:t>
            </a:r>
            <a:r>
              <a:rPr lang="en-US" dirty="0"/>
              <a:t>: Allows specific traffic to be directed to designated devices on the local network, useful for applications like gaming or remote access.</a:t>
            </a:r>
          </a:p>
          <a:p>
            <a:r>
              <a:rPr lang="en-US" b="1" dirty="0"/>
              <a:t>Quality of Service (QoS)</a:t>
            </a:r>
            <a:r>
              <a:rPr lang="en-US" dirty="0"/>
              <a:t>: Some models offer QoS settings to prioritize certain types of traffic, ensuring critical applications receive sufficient bandwidth.</a:t>
            </a:r>
          </a:p>
          <a:p>
            <a:endParaRPr lang="en-US" dirty="0"/>
          </a:p>
          <a:p>
            <a:endParaRPr lang="en-US" dirty="0"/>
          </a:p>
        </p:txBody>
      </p:sp>
    </p:spTree>
    <p:extLst>
      <p:ext uri="{BB962C8B-B14F-4D97-AF65-F5344CB8AC3E}">
        <p14:creationId xmlns:p14="http://schemas.microsoft.com/office/powerpoint/2010/main" val="34904153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2D116-1C25-4491-85BC-5E9A74909030}"/>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Types of SOHO Routers</a:t>
            </a:r>
            <a:br>
              <a:rPr lang="en-US" b="1" dirty="0"/>
            </a:br>
            <a:endParaRPr lang="en-US" dirty="0"/>
          </a:p>
        </p:txBody>
      </p:sp>
      <p:sp>
        <p:nvSpPr>
          <p:cNvPr id="3" name="Content Placeholder 2">
            <a:extLst>
              <a:ext uri="{FF2B5EF4-FFF2-40B4-BE49-F238E27FC236}">
                <a16:creationId xmlns:a16="http://schemas.microsoft.com/office/drawing/2014/main" id="{254D6257-A605-48E5-B9E6-70408CA3C00C}"/>
              </a:ext>
            </a:extLst>
          </p:cNvPr>
          <p:cNvSpPr>
            <a:spLocks noGrp="1"/>
          </p:cNvSpPr>
          <p:nvPr>
            <p:ph idx="1"/>
          </p:nvPr>
        </p:nvSpPr>
        <p:spPr>
          <a:xfrm>
            <a:off x="609600" y="1066801"/>
            <a:ext cx="10972800" cy="5059364"/>
          </a:xfrm>
        </p:spPr>
        <p:txBody>
          <a:bodyPr>
            <a:normAutofit fontScale="92500" lnSpcReduction="10000"/>
          </a:bodyPr>
          <a:lstStyle/>
          <a:p>
            <a:r>
              <a:rPr lang="en-US" b="1" dirty="0"/>
              <a:t>Wired SOHO Routers</a:t>
            </a:r>
            <a:r>
              <a:rPr lang="en-US" dirty="0"/>
              <a:t>:</a:t>
            </a:r>
          </a:p>
          <a:p>
            <a:pPr lvl="1"/>
            <a:r>
              <a:rPr lang="en-US" dirty="0"/>
              <a:t>Connect devices via Ethernet cables.</a:t>
            </a:r>
          </a:p>
          <a:p>
            <a:pPr lvl="1"/>
            <a:r>
              <a:rPr lang="en-US" dirty="0"/>
              <a:t>Suitable for environments where mobility is not a concern.</a:t>
            </a:r>
          </a:p>
          <a:p>
            <a:r>
              <a:rPr lang="en-US" b="1" dirty="0"/>
              <a:t>Wireless SOHO Routers</a:t>
            </a:r>
            <a:r>
              <a:rPr lang="en-US" dirty="0"/>
              <a:t>:</a:t>
            </a:r>
          </a:p>
          <a:p>
            <a:pPr lvl="1"/>
            <a:r>
              <a:rPr lang="en-US" dirty="0"/>
              <a:t>Provide both wired and wireless connections.</a:t>
            </a:r>
          </a:p>
          <a:p>
            <a:pPr lvl="1"/>
            <a:r>
              <a:rPr lang="en-US" dirty="0"/>
              <a:t>Ideal for home offices and small businesses with mobile devices.</a:t>
            </a:r>
          </a:p>
          <a:p>
            <a:pPr lvl="1"/>
            <a:r>
              <a:rPr lang="en-US" dirty="0"/>
              <a:t>Support various Wi-Fi standards (e.g., 802.11n, 802.11ac, or 802.11ax).</a:t>
            </a:r>
          </a:p>
          <a:p>
            <a:r>
              <a:rPr lang="en-US" b="1" dirty="0"/>
              <a:t>Modem-Router Combos</a:t>
            </a:r>
            <a:r>
              <a:rPr lang="en-US" dirty="0"/>
              <a:t>:</a:t>
            </a:r>
          </a:p>
          <a:p>
            <a:pPr lvl="1"/>
            <a:r>
              <a:rPr lang="en-US" dirty="0"/>
              <a:t>Combine a modem and a router in a single device, simplifying setup and reducing clutter.</a:t>
            </a:r>
          </a:p>
          <a:p>
            <a:pPr lvl="1"/>
            <a:r>
              <a:rPr lang="en-US" dirty="0"/>
              <a:t>Provide both internet connectivity and local network routing.</a:t>
            </a:r>
          </a:p>
          <a:p>
            <a:endParaRPr lang="en-US" dirty="0"/>
          </a:p>
        </p:txBody>
      </p:sp>
    </p:spTree>
    <p:extLst>
      <p:ext uri="{BB962C8B-B14F-4D97-AF65-F5344CB8AC3E}">
        <p14:creationId xmlns:p14="http://schemas.microsoft.com/office/powerpoint/2010/main" val="44625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CE4F0-7663-4DBC-849B-FA4FAD8A4CE0}"/>
              </a:ext>
            </a:extLst>
          </p:cNvPr>
          <p:cNvSpPr>
            <a:spLocks noGrp="1"/>
          </p:cNvSpPr>
          <p:nvPr>
            <p:ph type="title"/>
          </p:nvPr>
        </p:nvSpPr>
        <p:spPr>
          <a:xfrm>
            <a:off x="609600" y="264087"/>
            <a:ext cx="10972800" cy="457198"/>
          </a:xfrm>
        </p:spPr>
        <p:txBody>
          <a:bodyPr>
            <a:normAutofit fontScale="90000"/>
          </a:bodyPr>
          <a:lstStyle/>
          <a:p>
            <a:br>
              <a:rPr lang="en-US" b="1" dirty="0"/>
            </a:br>
            <a:r>
              <a:rPr lang="en-US" b="1" dirty="0"/>
              <a:t>How SOHO Routers Work</a:t>
            </a:r>
            <a:br>
              <a:rPr lang="en-US" b="1" dirty="0"/>
            </a:br>
            <a:endParaRPr lang="en-US" dirty="0"/>
          </a:p>
        </p:txBody>
      </p:sp>
      <p:sp>
        <p:nvSpPr>
          <p:cNvPr id="3" name="Content Placeholder 2">
            <a:extLst>
              <a:ext uri="{FF2B5EF4-FFF2-40B4-BE49-F238E27FC236}">
                <a16:creationId xmlns:a16="http://schemas.microsoft.com/office/drawing/2014/main" id="{F6C46187-7A15-4FDB-B00B-7978AC030E89}"/>
              </a:ext>
            </a:extLst>
          </p:cNvPr>
          <p:cNvSpPr>
            <a:spLocks noGrp="1"/>
          </p:cNvSpPr>
          <p:nvPr>
            <p:ph idx="1"/>
          </p:nvPr>
        </p:nvSpPr>
        <p:spPr>
          <a:xfrm>
            <a:off x="609600" y="990601"/>
            <a:ext cx="10972800" cy="5135564"/>
          </a:xfrm>
        </p:spPr>
        <p:txBody>
          <a:bodyPr>
            <a:normAutofit fontScale="92500"/>
          </a:bodyPr>
          <a:lstStyle/>
          <a:p>
            <a:r>
              <a:rPr lang="en-US" b="1" dirty="0"/>
              <a:t>Connecting to the Internet</a:t>
            </a:r>
            <a:r>
              <a:rPr lang="en-US" dirty="0"/>
              <a:t>: The router connects to the internet through a broadband modem (cable, DSL, or fiber).</a:t>
            </a:r>
          </a:p>
          <a:p>
            <a:r>
              <a:rPr lang="en-US" b="1" dirty="0"/>
              <a:t>LAN Setup</a:t>
            </a:r>
            <a:r>
              <a:rPr lang="en-US" dirty="0"/>
              <a:t>: Devices on the local network connect to the router, either via Ethernet or wirelessly.</a:t>
            </a:r>
          </a:p>
          <a:p>
            <a:r>
              <a:rPr lang="en-US" b="1" dirty="0"/>
              <a:t>Traffic Management</a:t>
            </a:r>
            <a:r>
              <a:rPr lang="en-US" dirty="0"/>
              <a:t>: The router manages data traffic between the local network and the internet, directing incoming and outgoing data packets based on IP addressing and routing tables.</a:t>
            </a:r>
          </a:p>
          <a:p>
            <a:r>
              <a:rPr lang="en-US" b="1" dirty="0"/>
              <a:t>NAT and DHCP</a:t>
            </a:r>
            <a:r>
              <a:rPr lang="en-US" dirty="0"/>
              <a:t>: The router translates private IP addresses of devices on the LAN to the public IP address for internet access and assigns IP addresses dynamically to devices on the network.</a:t>
            </a:r>
          </a:p>
          <a:p>
            <a:endParaRPr lang="en-US" dirty="0"/>
          </a:p>
        </p:txBody>
      </p:sp>
    </p:spTree>
    <p:extLst>
      <p:ext uri="{BB962C8B-B14F-4D97-AF65-F5344CB8AC3E}">
        <p14:creationId xmlns:p14="http://schemas.microsoft.com/office/powerpoint/2010/main" val="4148961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9E53C-77F6-4E9F-A499-032BFD786DEB}"/>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Advantages of SOHO Routers</a:t>
            </a:r>
            <a:br>
              <a:rPr lang="en-US" b="1" dirty="0"/>
            </a:br>
            <a:endParaRPr lang="en-US" dirty="0"/>
          </a:p>
        </p:txBody>
      </p:sp>
      <p:sp>
        <p:nvSpPr>
          <p:cNvPr id="3" name="Content Placeholder 2">
            <a:extLst>
              <a:ext uri="{FF2B5EF4-FFF2-40B4-BE49-F238E27FC236}">
                <a16:creationId xmlns:a16="http://schemas.microsoft.com/office/drawing/2014/main" id="{417FC3E2-8E97-4759-9CE7-E6162B4B3D20}"/>
              </a:ext>
            </a:extLst>
          </p:cNvPr>
          <p:cNvSpPr>
            <a:spLocks noGrp="1"/>
          </p:cNvSpPr>
          <p:nvPr>
            <p:ph idx="1"/>
          </p:nvPr>
        </p:nvSpPr>
        <p:spPr>
          <a:xfrm>
            <a:off x="609600" y="1143001"/>
            <a:ext cx="10972800" cy="4983164"/>
          </a:xfrm>
        </p:spPr>
        <p:txBody>
          <a:bodyPr>
            <a:normAutofit/>
          </a:bodyPr>
          <a:lstStyle/>
          <a:p>
            <a:r>
              <a:rPr lang="en-US" b="1" dirty="0"/>
              <a:t>Cost-Effective</a:t>
            </a:r>
            <a:r>
              <a:rPr lang="en-US" dirty="0"/>
              <a:t>: Designed for small environments, making them affordable for home and small business users.</a:t>
            </a:r>
          </a:p>
          <a:p>
            <a:r>
              <a:rPr lang="en-US" b="1" dirty="0"/>
              <a:t>Easy Setup and Management</a:t>
            </a:r>
            <a:r>
              <a:rPr lang="en-US" dirty="0"/>
              <a:t>: Most SOHO routers come with user-friendly interfaces and setup wizards, making installation and configuration straightforward.</a:t>
            </a:r>
          </a:p>
          <a:p>
            <a:r>
              <a:rPr lang="en-US" b="1" dirty="0"/>
              <a:t>Multiple Connectivity Options</a:t>
            </a:r>
            <a:r>
              <a:rPr lang="en-US" dirty="0"/>
              <a:t>: Provide both wired and wireless connectivity, accommodating a variety of devices.</a:t>
            </a:r>
          </a:p>
          <a:p>
            <a:r>
              <a:rPr lang="en-US" b="1" dirty="0"/>
              <a:t>Network Security</a:t>
            </a:r>
            <a:r>
              <a:rPr lang="en-US" dirty="0"/>
              <a:t>: Built-in firewalls and security features help protect against unauthorized access and threats.</a:t>
            </a:r>
          </a:p>
          <a:p>
            <a:endParaRPr lang="en-US" dirty="0"/>
          </a:p>
        </p:txBody>
      </p:sp>
    </p:spTree>
    <p:extLst>
      <p:ext uri="{BB962C8B-B14F-4D97-AF65-F5344CB8AC3E}">
        <p14:creationId xmlns:p14="http://schemas.microsoft.com/office/powerpoint/2010/main" val="42450946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67385-E1B1-45AA-AEB5-ED7FB3DEA5D3}"/>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Disadvantages of SOHO Routers</a:t>
            </a:r>
            <a:br>
              <a:rPr lang="en-US" b="1" dirty="0"/>
            </a:br>
            <a:endParaRPr lang="en-US" dirty="0"/>
          </a:p>
        </p:txBody>
      </p:sp>
      <p:sp>
        <p:nvSpPr>
          <p:cNvPr id="3" name="Content Placeholder 2">
            <a:extLst>
              <a:ext uri="{FF2B5EF4-FFF2-40B4-BE49-F238E27FC236}">
                <a16:creationId xmlns:a16="http://schemas.microsoft.com/office/drawing/2014/main" id="{21977D89-7612-44BF-AE87-9D96BB45817F}"/>
              </a:ext>
            </a:extLst>
          </p:cNvPr>
          <p:cNvSpPr>
            <a:spLocks noGrp="1"/>
          </p:cNvSpPr>
          <p:nvPr>
            <p:ph idx="1"/>
          </p:nvPr>
        </p:nvSpPr>
        <p:spPr>
          <a:xfrm>
            <a:off x="609600" y="1066801"/>
            <a:ext cx="10972800" cy="5059364"/>
          </a:xfrm>
        </p:spPr>
        <p:txBody>
          <a:bodyPr>
            <a:normAutofit fontScale="92500" lnSpcReduction="20000"/>
          </a:bodyPr>
          <a:lstStyle/>
          <a:p>
            <a:r>
              <a:rPr lang="en-US" b="1" dirty="0"/>
              <a:t>Limited Performance</a:t>
            </a:r>
            <a:r>
              <a:rPr lang="en-US" dirty="0"/>
              <a:t>: May not handle high traffic volumes or multiple simultaneous connections as effectively as enterprise-grade routers.</a:t>
            </a:r>
          </a:p>
          <a:p>
            <a:r>
              <a:rPr lang="en-US" b="1" dirty="0"/>
              <a:t>Less Scalability</a:t>
            </a:r>
            <a:r>
              <a:rPr lang="en-US" dirty="0"/>
              <a:t>: Designed for small environments, making them less suitable for larger networks that require extensive management and higher performance.</a:t>
            </a:r>
          </a:p>
          <a:p>
            <a:r>
              <a:rPr lang="en-US" b="1" dirty="0"/>
              <a:t>Basic Features</a:t>
            </a:r>
            <a:r>
              <a:rPr lang="en-US" dirty="0"/>
              <a:t>: While suitable for small networks, SOHO routers often lack advanced features found in commercial-grade routers, such as extensive QoS settings or advanced firewall options.</a:t>
            </a:r>
          </a:p>
          <a:p>
            <a:r>
              <a:rPr lang="en-US" b="1" dirty="0"/>
              <a:t>Firmware Limitations</a:t>
            </a:r>
            <a:r>
              <a:rPr lang="en-US" dirty="0"/>
              <a:t>: Firmware updates may be less frequent compared to enterprise devices, potentially exposing vulnerabilities over time.</a:t>
            </a:r>
          </a:p>
          <a:p>
            <a:endParaRPr lang="en-US" dirty="0"/>
          </a:p>
        </p:txBody>
      </p:sp>
    </p:spTree>
    <p:extLst>
      <p:ext uri="{BB962C8B-B14F-4D97-AF65-F5344CB8AC3E}">
        <p14:creationId xmlns:p14="http://schemas.microsoft.com/office/powerpoint/2010/main" val="1701593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F176-D6AB-4177-8E8B-37575732A74F}"/>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Use Cases of SOHO Routers</a:t>
            </a:r>
            <a:br>
              <a:rPr lang="en-US" b="1" dirty="0"/>
            </a:br>
            <a:endParaRPr lang="en-US" dirty="0"/>
          </a:p>
        </p:txBody>
      </p:sp>
      <p:sp>
        <p:nvSpPr>
          <p:cNvPr id="3" name="Content Placeholder 2">
            <a:extLst>
              <a:ext uri="{FF2B5EF4-FFF2-40B4-BE49-F238E27FC236}">
                <a16:creationId xmlns:a16="http://schemas.microsoft.com/office/drawing/2014/main" id="{E45AF65F-41C1-475F-BF68-2D4D547E6BFF}"/>
              </a:ext>
            </a:extLst>
          </p:cNvPr>
          <p:cNvSpPr>
            <a:spLocks noGrp="1"/>
          </p:cNvSpPr>
          <p:nvPr>
            <p:ph idx="1"/>
          </p:nvPr>
        </p:nvSpPr>
        <p:spPr>
          <a:xfrm>
            <a:off x="609600" y="990601"/>
            <a:ext cx="10972800" cy="5135564"/>
          </a:xfrm>
        </p:spPr>
        <p:txBody>
          <a:bodyPr>
            <a:normAutofit/>
          </a:bodyPr>
          <a:lstStyle/>
          <a:p>
            <a:r>
              <a:rPr lang="en-US" b="1" dirty="0"/>
              <a:t>Home Networks</a:t>
            </a:r>
            <a:r>
              <a:rPr lang="en-US" dirty="0"/>
              <a:t>: Connecting various devices like computers, smartphones, tablets, and smart home devices to the internet and enabling file sharing between them.</a:t>
            </a:r>
          </a:p>
          <a:p>
            <a:r>
              <a:rPr lang="en-US" b="1" dirty="0"/>
              <a:t>Small Office Environments</a:t>
            </a:r>
            <a:r>
              <a:rPr lang="en-US" dirty="0"/>
              <a:t>: Supporting basic networking needs in small businesses, including internet access for workstations and shared printers.</a:t>
            </a:r>
          </a:p>
          <a:p>
            <a:r>
              <a:rPr lang="en-US" b="1" dirty="0"/>
              <a:t>Remote Work</a:t>
            </a:r>
            <a:r>
              <a:rPr lang="en-US" dirty="0"/>
              <a:t>: Facilitating connectivity for remote workers, enabling access to company resources securely via VPNs (Virtual Private Networks).</a:t>
            </a:r>
          </a:p>
          <a:p>
            <a:endParaRPr lang="en-US" dirty="0"/>
          </a:p>
        </p:txBody>
      </p:sp>
    </p:spTree>
    <p:extLst>
      <p:ext uri="{BB962C8B-B14F-4D97-AF65-F5344CB8AC3E}">
        <p14:creationId xmlns:p14="http://schemas.microsoft.com/office/powerpoint/2010/main" val="10188479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8BDA-C75D-4E1B-968A-430251CC5195}"/>
              </a:ext>
            </a:extLst>
          </p:cNvPr>
          <p:cNvSpPr>
            <a:spLocks noGrp="1"/>
          </p:cNvSpPr>
          <p:nvPr>
            <p:ph type="title"/>
          </p:nvPr>
        </p:nvSpPr>
        <p:spPr/>
        <p:txBody>
          <a:bodyPr>
            <a:normAutofit fontScale="90000"/>
          </a:bodyPr>
          <a:lstStyle/>
          <a:p>
            <a:r>
              <a:rPr lang="en-US" b="1" dirty="0"/>
              <a:t>Modem</a:t>
            </a:r>
            <a:br>
              <a:rPr lang="en-US" b="1" dirty="0"/>
            </a:br>
            <a:endParaRPr lang="en-US" dirty="0"/>
          </a:p>
        </p:txBody>
      </p:sp>
      <p:sp>
        <p:nvSpPr>
          <p:cNvPr id="3" name="Content Placeholder 2">
            <a:extLst>
              <a:ext uri="{FF2B5EF4-FFF2-40B4-BE49-F238E27FC236}">
                <a16:creationId xmlns:a16="http://schemas.microsoft.com/office/drawing/2014/main" id="{172BBAC1-F96D-4E17-99FC-F1495D272692}"/>
              </a:ext>
            </a:extLst>
          </p:cNvPr>
          <p:cNvSpPr>
            <a:spLocks noGrp="1"/>
          </p:cNvSpPr>
          <p:nvPr>
            <p:ph idx="1"/>
          </p:nvPr>
        </p:nvSpPr>
        <p:spPr>
          <a:xfrm>
            <a:off x="609600" y="1143001"/>
            <a:ext cx="10972800" cy="4983164"/>
          </a:xfrm>
        </p:spPr>
        <p:txBody>
          <a:bodyPr>
            <a:normAutofit fontScale="92500"/>
          </a:bodyPr>
          <a:lstStyle/>
          <a:p>
            <a:r>
              <a:rPr lang="en-US" b="1" dirty="0"/>
              <a:t>Description</a:t>
            </a:r>
            <a:r>
              <a:rPr lang="en-US" dirty="0"/>
              <a:t>: A </a:t>
            </a:r>
            <a:r>
              <a:rPr lang="en-US" b="1" dirty="0"/>
              <a:t>modem</a:t>
            </a:r>
            <a:r>
              <a:rPr lang="en-US" dirty="0"/>
              <a:t> (short for </a:t>
            </a:r>
            <a:r>
              <a:rPr lang="en-US" b="1" dirty="0"/>
              <a:t>Modulator-Demodulator</a:t>
            </a:r>
            <a:r>
              <a:rPr lang="en-US" dirty="0"/>
              <a:t>) is a device that modulates and demodulates analog signals to enable digital devices, such as computers, to communicate over telephone lines, cable systems, or other analog transmission media.  </a:t>
            </a:r>
          </a:p>
          <a:p>
            <a:r>
              <a:rPr lang="en-US" b="1" dirty="0"/>
              <a:t>Function</a:t>
            </a:r>
            <a:r>
              <a:rPr lang="en-US" dirty="0"/>
              <a:t>: Converts digital signals from a computer into analog signals for transmission over traditional phone lines and vice versa.</a:t>
            </a:r>
          </a:p>
          <a:p>
            <a:r>
              <a:rPr lang="en-US" b="1" dirty="0"/>
              <a:t>Types</a:t>
            </a:r>
            <a:r>
              <a:rPr lang="en-US" dirty="0"/>
              <a:t>:</a:t>
            </a:r>
          </a:p>
          <a:p>
            <a:pPr lvl="1"/>
            <a:r>
              <a:rPr lang="en-US" b="1" dirty="0"/>
              <a:t>DSL Modem</a:t>
            </a:r>
            <a:r>
              <a:rPr lang="en-US" dirty="0"/>
              <a:t>: For digital subscriber line connections.</a:t>
            </a:r>
          </a:p>
          <a:p>
            <a:pPr lvl="1"/>
            <a:r>
              <a:rPr lang="en-US" b="1" dirty="0"/>
              <a:t>Cable Modem</a:t>
            </a:r>
            <a:r>
              <a:rPr lang="en-US" dirty="0"/>
              <a:t>: For broadband connections over coaxial cable.</a:t>
            </a:r>
          </a:p>
          <a:p>
            <a:pPr lvl="1"/>
            <a:r>
              <a:rPr lang="en-US" b="1" dirty="0"/>
              <a:t>Fiber Optic Modem</a:t>
            </a:r>
            <a:r>
              <a:rPr lang="en-US" dirty="0"/>
              <a:t>: For fiber optic connections.</a:t>
            </a:r>
          </a:p>
          <a:p>
            <a:endParaRPr lang="en-US" dirty="0"/>
          </a:p>
        </p:txBody>
      </p:sp>
    </p:spTree>
    <p:extLst>
      <p:ext uri="{BB962C8B-B14F-4D97-AF65-F5344CB8AC3E}">
        <p14:creationId xmlns:p14="http://schemas.microsoft.com/office/powerpoint/2010/main" val="1964235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CCF2-9382-4AAC-93A9-788FDB6DD2B3}"/>
              </a:ext>
            </a:extLst>
          </p:cNvPr>
          <p:cNvSpPr>
            <a:spLocks noGrp="1"/>
          </p:cNvSpPr>
          <p:nvPr>
            <p:ph type="title"/>
          </p:nvPr>
        </p:nvSpPr>
        <p:spPr>
          <a:xfrm>
            <a:off x="609600" y="3517"/>
            <a:ext cx="10972800" cy="792162"/>
          </a:xfrm>
        </p:spPr>
        <p:txBody>
          <a:bodyPr>
            <a:normAutofit fontScale="90000"/>
          </a:bodyPr>
          <a:lstStyle/>
          <a:p>
            <a:br>
              <a:rPr lang="en-US" b="1" dirty="0"/>
            </a:br>
            <a:r>
              <a:rPr lang="en-US" b="1" dirty="0"/>
              <a:t>Key Functions of a Modem</a:t>
            </a:r>
            <a:br>
              <a:rPr lang="en-US" b="1" dirty="0"/>
            </a:br>
            <a:endParaRPr lang="en-US" dirty="0"/>
          </a:p>
        </p:txBody>
      </p:sp>
      <p:sp>
        <p:nvSpPr>
          <p:cNvPr id="3" name="Content Placeholder 2">
            <a:extLst>
              <a:ext uri="{FF2B5EF4-FFF2-40B4-BE49-F238E27FC236}">
                <a16:creationId xmlns:a16="http://schemas.microsoft.com/office/drawing/2014/main" id="{C7B1D7D6-56D9-4302-A5F2-D19D84177269}"/>
              </a:ext>
            </a:extLst>
          </p:cNvPr>
          <p:cNvSpPr>
            <a:spLocks noGrp="1"/>
          </p:cNvSpPr>
          <p:nvPr>
            <p:ph idx="1"/>
          </p:nvPr>
        </p:nvSpPr>
        <p:spPr>
          <a:xfrm>
            <a:off x="609600" y="795679"/>
            <a:ext cx="10972800" cy="5330485"/>
          </a:xfrm>
        </p:spPr>
        <p:txBody>
          <a:bodyPr>
            <a:normAutofit fontScale="92500" lnSpcReduction="10000"/>
          </a:bodyPr>
          <a:lstStyle/>
          <a:p>
            <a:r>
              <a:rPr lang="en-US" b="1" dirty="0"/>
              <a:t>Modulation</a:t>
            </a:r>
            <a:r>
              <a:rPr lang="en-US" dirty="0"/>
              <a:t>: Converts digital data from a computer or network device into an analog signal suitable for transmission over telephone or cable lines.</a:t>
            </a:r>
          </a:p>
          <a:p>
            <a:r>
              <a:rPr lang="en-US" b="1" dirty="0"/>
              <a:t>Demodulation</a:t>
            </a:r>
            <a:r>
              <a:rPr lang="en-US" dirty="0"/>
              <a:t>: Converts incoming analog signals back into digital data that computers can understand.</a:t>
            </a:r>
          </a:p>
          <a:p>
            <a:r>
              <a:rPr lang="en-US" b="1" dirty="0"/>
              <a:t>Error Correction and Compression</a:t>
            </a:r>
            <a:r>
              <a:rPr lang="en-US" dirty="0"/>
              <a:t>: Modems often include error-checking features to ensure data integrity and compression to increase data transfer speeds.</a:t>
            </a:r>
          </a:p>
          <a:p>
            <a:r>
              <a:rPr lang="en-US" b="1" dirty="0"/>
              <a:t>Signal Amplification</a:t>
            </a:r>
            <a:r>
              <a:rPr lang="en-US" dirty="0"/>
              <a:t>: Some modems can boost signal strength to maintain the quality of data transmission, especially over long distances.</a:t>
            </a:r>
          </a:p>
          <a:p>
            <a:endParaRPr lang="en-US" dirty="0"/>
          </a:p>
        </p:txBody>
      </p:sp>
    </p:spTree>
    <p:extLst>
      <p:ext uri="{BB962C8B-B14F-4D97-AF65-F5344CB8AC3E}">
        <p14:creationId xmlns:p14="http://schemas.microsoft.com/office/powerpoint/2010/main" val="31007766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EDE4F-AD55-432B-A618-D6898B133309}"/>
              </a:ext>
            </a:extLst>
          </p:cNvPr>
          <p:cNvSpPr>
            <a:spLocks noGrp="1"/>
          </p:cNvSpPr>
          <p:nvPr>
            <p:ph type="title"/>
          </p:nvPr>
        </p:nvSpPr>
        <p:spPr>
          <a:xfrm>
            <a:off x="609600" y="152400"/>
            <a:ext cx="10972800" cy="457198"/>
          </a:xfrm>
        </p:spPr>
        <p:txBody>
          <a:bodyPr>
            <a:normAutofit fontScale="90000"/>
          </a:bodyPr>
          <a:lstStyle/>
          <a:p>
            <a:br>
              <a:rPr lang="en-US" b="1" dirty="0"/>
            </a:br>
            <a:r>
              <a:rPr lang="en-US" b="1" dirty="0"/>
              <a:t>Types of Modems</a:t>
            </a:r>
            <a:br>
              <a:rPr lang="en-US" b="1" dirty="0"/>
            </a:br>
            <a:endParaRPr lang="en-US" dirty="0"/>
          </a:p>
        </p:txBody>
      </p:sp>
      <p:sp>
        <p:nvSpPr>
          <p:cNvPr id="3" name="Content Placeholder 2">
            <a:extLst>
              <a:ext uri="{FF2B5EF4-FFF2-40B4-BE49-F238E27FC236}">
                <a16:creationId xmlns:a16="http://schemas.microsoft.com/office/drawing/2014/main" id="{1576D217-F0B5-40D7-AB19-1DA606EE9125}"/>
              </a:ext>
            </a:extLst>
          </p:cNvPr>
          <p:cNvSpPr>
            <a:spLocks noGrp="1"/>
          </p:cNvSpPr>
          <p:nvPr>
            <p:ph idx="1"/>
          </p:nvPr>
        </p:nvSpPr>
        <p:spPr>
          <a:xfrm>
            <a:off x="609600" y="838201"/>
            <a:ext cx="10972800" cy="5287964"/>
          </a:xfrm>
        </p:spPr>
        <p:txBody>
          <a:bodyPr>
            <a:normAutofit fontScale="70000" lnSpcReduction="20000"/>
          </a:bodyPr>
          <a:lstStyle/>
          <a:p>
            <a:r>
              <a:rPr lang="en-US" b="1" dirty="0"/>
              <a:t>Dial-up Modem</a:t>
            </a:r>
            <a:r>
              <a:rPr lang="en-US" dirty="0"/>
              <a:t>:</a:t>
            </a:r>
          </a:p>
          <a:p>
            <a:pPr lvl="1"/>
            <a:r>
              <a:rPr lang="en-US" b="1" dirty="0"/>
              <a:t>Description</a:t>
            </a:r>
            <a:r>
              <a:rPr lang="en-US" dirty="0"/>
              <a:t>: Uses telephone lines to connect to the internet by dialing into an ISP.</a:t>
            </a:r>
          </a:p>
          <a:p>
            <a:pPr lvl="1"/>
            <a:r>
              <a:rPr lang="en-US" b="1" dirty="0"/>
              <a:t>Speed</a:t>
            </a:r>
            <a:r>
              <a:rPr lang="en-US" dirty="0"/>
              <a:t>: Typically has a maximum speed of 56 Kbps, which is relatively slow.</a:t>
            </a:r>
          </a:p>
          <a:p>
            <a:pPr lvl="1"/>
            <a:r>
              <a:rPr lang="en-US" b="1" dirty="0"/>
              <a:t>Application</a:t>
            </a:r>
            <a:r>
              <a:rPr lang="en-US" dirty="0"/>
              <a:t>: Mainly used in areas with limited internet infrastructure, although dial-up is largely obsolete today.</a:t>
            </a:r>
          </a:p>
          <a:p>
            <a:r>
              <a:rPr lang="en-US" b="1" dirty="0"/>
              <a:t>DSL (Digital Subscriber Line) Modem</a:t>
            </a:r>
            <a:r>
              <a:rPr lang="en-US" dirty="0"/>
              <a:t>:</a:t>
            </a:r>
          </a:p>
          <a:p>
            <a:pPr lvl="1"/>
            <a:r>
              <a:rPr lang="en-US" b="1" dirty="0"/>
              <a:t>Description</a:t>
            </a:r>
            <a:r>
              <a:rPr lang="en-US" dirty="0"/>
              <a:t>: Operates over standard telephone lines but offers much faster speeds than dial-up.</a:t>
            </a:r>
          </a:p>
          <a:p>
            <a:pPr lvl="1"/>
            <a:r>
              <a:rPr lang="en-US" b="1" dirty="0"/>
              <a:t>Speed</a:t>
            </a:r>
            <a:r>
              <a:rPr lang="en-US" dirty="0"/>
              <a:t>: Ranges from several Mbps to over 100 Mbps, depending on the DSL type (e.g., ADSL, VDSL).</a:t>
            </a:r>
          </a:p>
          <a:p>
            <a:pPr lvl="1"/>
            <a:r>
              <a:rPr lang="en-US" b="1" dirty="0"/>
              <a:t>Application</a:t>
            </a:r>
            <a:r>
              <a:rPr lang="en-US" dirty="0"/>
              <a:t>: Commonly used for home and small business internet connections.</a:t>
            </a:r>
          </a:p>
          <a:p>
            <a:r>
              <a:rPr lang="en-US" b="1" dirty="0"/>
              <a:t>Cable Modem</a:t>
            </a:r>
            <a:r>
              <a:rPr lang="en-US" dirty="0"/>
              <a:t>:</a:t>
            </a:r>
          </a:p>
          <a:p>
            <a:pPr lvl="1"/>
            <a:r>
              <a:rPr lang="en-US" b="1" dirty="0"/>
              <a:t>Description</a:t>
            </a:r>
            <a:r>
              <a:rPr lang="en-US" dirty="0"/>
              <a:t>: Connects to the internet over coaxial cable networks, similar to those used for cable TV.</a:t>
            </a:r>
          </a:p>
          <a:p>
            <a:pPr lvl="1"/>
            <a:r>
              <a:rPr lang="en-US" b="1" dirty="0"/>
              <a:t>Speed</a:t>
            </a:r>
            <a:r>
              <a:rPr lang="en-US" dirty="0"/>
              <a:t>: Offers high speeds, often up to 1 Gbps, depending on the service provider and network.</a:t>
            </a:r>
          </a:p>
          <a:p>
            <a:pPr lvl="1"/>
            <a:r>
              <a:rPr lang="en-US" b="1" dirty="0"/>
              <a:t>Application</a:t>
            </a:r>
            <a:r>
              <a:rPr lang="en-US" dirty="0"/>
              <a:t>: Widely used in urban and suburban areas with access to cable infrastructure.</a:t>
            </a:r>
          </a:p>
        </p:txBody>
      </p:sp>
    </p:spTree>
    <p:extLst>
      <p:ext uri="{BB962C8B-B14F-4D97-AF65-F5344CB8AC3E}">
        <p14:creationId xmlns:p14="http://schemas.microsoft.com/office/powerpoint/2010/main" val="29318254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10BD3-0298-4A39-AA1A-ABED10D826AE}"/>
              </a:ext>
            </a:extLst>
          </p:cNvPr>
          <p:cNvSpPr>
            <a:spLocks noGrp="1"/>
          </p:cNvSpPr>
          <p:nvPr>
            <p:ph type="title"/>
          </p:nvPr>
        </p:nvSpPr>
        <p:spPr>
          <a:xfrm>
            <a:off x="609600" y="152400"/>
            <a:ext cx="10972800" cy="457198"/>
          </a:xfrm>
        </p:spPr>
        <p:txBody>
          <a:bodyPr>
            <a:normAutofit fontScale="90000"/>
          </a:bodyPr>
          <a:lstStyle/>
          <a:p>
            <a:br>
              <a:rPr lang="en-US" b="1" dirty="0"/>
            </a:br>
            <a:r>
              <a:rPr lang="en-US" b="1" dirty="0"/>
              <a:t>Types of Modems</a:t>
            </a:r>
            <a:br>
              <a:rPr lang="en-US" b="1" dirty="0"/>
            </a:br>
            <a:endParaRPr lang="en-US" dirty="0"/>
          </a:p>
        </p:txBody>
      </p:sp>
      <p:sp>
        <p:nvSpPr>
          <p:cNvPr id="3" name="Content Placeholder 2">
            <a:extLst>
              <a:ext uri="{FF2B5EF4-FFF2-40B4-BE49-F238E27FC236}">
                <a16:creationId xmlns:a16="http://schemas.microsoft.com/office/drawing/2014/main" id="{67EF7FEF-4D24-43B1-B62A-6C445CE66204}"/>
              </a:ext>
            </a:extLst>
          </p:cNvPr>
          <p:cNvSpPr>
            <a:spLocks noGrp="1"/>
          </p:cNvSpPr>
          <p:nvPr>
            <p:ph idx="1"/>
          </p:nvPr>
        </p:nvSpPr>
        <p:spPr>
          <a:xfrm>
            <a:off x="609600" y="762001"/>
            <a:ext cx="10972800" cy="5364164"/>
          </a:xfrm>
        </p:spPr>
        <p:txBody>
          <a:bodyPr>
            <a:normAutofit fontScale="70000" lnSpcReduction="20000"/>
          </a:bodyPr>
          <a:lstStyle/>
          <a:p>
            <a:r>
              <a:rPr lang="en-US" b="1" dirty="0"/>
              <a:t>Fiber Optic Modem (Optical Network Terminal)</a:t>
            </a:r>
            <a:r>
              <a:rPr lang="en-US" dirty="0"/>
              <a:t>:</a:t>
            </a:r>
          </a:p>
          <a:p>
            <a:pPr lvl="1"/>
            <a:r>
              <a:rPr lang="en-US" b="1" dirty="0"/>
              <a:t>Description</a:t>
            </a:r>
            <a:r>
              <a:rPr lang="en-US" dirty="0"/>
              <a:t>: Connects to fiber-optic lines, using light signals to transmit data at extremely high speeds.</a:t>
            </a:r>
          </a:p>
          <a:p>
            <a:pPr lvl="1"/>
            <a:r>
              <a:rPr lang="en-US" b="1" dirty="0"/>
              <a:t>Speed</a:t>
            </a:r>
            <a:r>
              <a:rPr lang="en-US" dirty="0"/>
              <a:t>: Capable of speeds over 1 Gbps, depending on the fiber infrastructure.</a:t>
            </a:r>
          </a:p>
          <a:p>
            <a:pPr lvl="1"/>
            <a:r>
              <a:rPr lang="en-US" b="1" dirty="0"/>
              <a:t>Application</a:t>
            </a:r>
            <a:r>
              <a:rPr lang="en-US" dirty="0"/>
              <a:t>: Used in modern networks where high-speed internet via fiber optic technology is available.</a:t>
            </a:r>
          </a:p>
          <a:p>
            <a:r>
              <a:rPr lang="en-US" b="1" dirty="0"/>
              <a:t>Satellite Modem</a:t>
            </a:r>
            <a:r>
              <a:rPr lang="en-US" dirty="0"/>
              <a:t>:</a:t>
            </a:r>
          </a:p>
          <a:p>
            <a:pPr lvl="1"/>
            <a:r>
              <a:rPr lang="en-US" b="1" dirty="0"/>
              <a:t>Description</a:t>
            </a:r>
            <a:r>
              <a:rPr lang="en-US" dirty="0"/>
              <a:t>: Uses satellite technology to provide internet access, ideal for remote locations where other options are unavailable.</a:t>
            </a:r>
          </a:p>
          <a:p>
            <a:pPr lvl="1"/>
            <a:r>
              <a:rPr lang="en-US" b="1" dirty="0"/>
              <a:t>Speed</a:t>
            </a:r>
            <a:r>
              <a:rPr lang="en-US" dirty="0"/>
              <a:t>: Typically slower than DSL or cable due to latency from the satellite distance, but download speeds can be several Mbps.</a:t>
            </a:r>
          </a:p>
          <a:p>
            <a:pPr lvl="1"/>
            <a:r>
              <a:rPr lang="en-US" b="1" dirty="0"/>
              <a:t>Application</a:t>
            </a:r>
            <a:r>
              <a:rPr lang="en-US" dirty="0"/>
              <a:t>: Used in rural or remote areas lacking terrestrial infrastructure.</a:t>
            </a:r>
          </a:p>
          <a:p>
            <a:r>
              <a:rPr lang="en-US" b="1" dirty="0"/>
              <a:t>Cellular Modem (Mobile Broadband)</a:t>
            </a:r>
            <a:r>
              <a:rPr lang="en-US" dirty="0"/>
              <a:t>:</a:t>
            </a:r>
          </a:p>
          <a:p>
            <a:pPr lvl="1"/>
            <a:r>
              <a:rPr lang="en-US" b="1" dirty="0"/>
              <a:t>Description</a:t>
            </a:r>
            <a:r>
              <a:rPr lang="en-US" dirty="0"/>
              <a:t>: Uses cellular networks (3G, 4G, LTE, 5G) to provide wireless internet access.</a:t>
            </a:r>
          </a:p>
          <a:p>
            <a:pPr lvl="1"/>
            <a:r>
              <a:rPr lang="en-US" b="1" dirty="0"/>
              <a:t>Speed</a:t>
            </a:r>
            <a:r>
              <a:rPr lang="en-US" dirty="0"/>
              <a:t>: Varies based on the network (e.g., up to several hundred Mbps on 4G LTE, and higher on 5G).</a:t>
            </a:r>
          </a:p>
          <a:p>
            <a:pPr lvl="1"/>
            <a:r>
              <a:rPr lang="en-US" b="1" dirty="0"/>
              <a:t>Application</a:t>
            </a:r>
            <a:r>
              <a:rPr lang="en-US" dirty="0"/>
              <a:t>: Ideal for mobile or portable internet access, often used with hotspots or embedded in laptops and IoT devices.</a:t>
            </a:r>
          </a:p>
          <a:p>
            <a:endParaRPr lang="en-US" dirty="0"/>
          </a:p>
          <a:p>
            <a:endParaRPr lang="en-US" dirty="0"/>
          </a:p>
        </p:txBody>
      </p:sp>
    </p:spTree>
    <p:extLst>
      <p:ext uri="{BB962C8B-B14F-4D97-AF65-F5344CB8AC3E}">
        <p14:creationId xmlns:p14="http://schemas.microsoft.com/office/powerpoint/2010/main" val="4862080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A87A-2FEA-47DE-BE44-B4AB64B3AC47}"/>
              </a:ext>
            </a:extLst>
          </p:cNvPr>
          <p:cNvSpPr>
            <a:spLocks noGrp="1"/>
          </p:cNvSpPr>
          <p:nvPr>
            <p:ph type="title"/>
          </p:nvPr>
        </p:nvSpPr>
        <p:spPr>
          <a:xfrm>
            <a:off x="592015" y="92074"/>
            <a:ext cx="10972800" cy="639762"/>
          </a:xfrm>
        </p:spPr>
        <p:txBody>
          <a:bodyPr>
            <a:normAutofit fontScale="90000"/>
          </a:bodyPr>
          <a:lstStyle/>
          <a:p>
            <a:br>
              <a:rPr lang="en-US" b="1" dirty="0"/>
            </a:br>
            <a:r>
              <a:rPr lang="en-US" b="1" dirty="0"/>
              <a:t>Advantages of Modems</a:t>
            </a:r>
            <a:br>
              <a:rPr lang="en-US" b="1" dirty="0"/>
            </a:br>
            <a:endParaRPr lang="en-US" dirty="0"/>
          </a:p>
        </p:txBody>
      </p:sp>
      <p:sp>
        <p:nvSpPr>
          <p:cNvPr id="3" name="Content Placeholder 2">
            <a:extLst>
              <a:ext uri="{FF2B5EF4-FFF2-40B4-BE49-F238E27FC236}">
                <a16:creationId xmlns:a16="http://schemas.microsoft.com/office/drawing/2014/main" id="{7FB24C64-F605-4552-8E2C-29DBFA7C91A4}"/>
              </a:ext>
            </a:extLst>
          </p:cNvPr>
          <p:cNvSpPr>
            <a:spLocks noGrp="1"/>
          </p:cNvSpPr>
          <p:nvPr>
            <p:ph idx="1"/>
          </p:nvPr>
        </p:nvSpPr>
        <p:spPr>
          <a:xfrm>
            <a:off x="609600" y="838201"/>
            <a:ext cx="10972800" cy="5287964"/>
          </a:xfrm>
        </p:spPr>
        <p:txBody>
          <a:bodyPr>
            <a:normAutofit fontScale="92500" lnSpcReduction="10000"/>
          </a:bodyPr>
          <a:lstStyle/>
          <a:p>
            <a:r>
              <a:rPr lang="en-US" b="1" dirty="0"/>
              <a:t>Widely Available</a:t>
            </a:r>
            <a:r>
              <a:rPr lang="en-US" dirty="0"/>
              <a:t>: Modems are commonly available and support various connection types, from dial-up to fiber optics.</a:t>
            </a:r>
          </a:p>
          <a:p>
            <a:r>
              <a:rPr lang="en-US" b="1" dirty="0"/>
              <a:t>Flexible Connectivity</a:t>
            </a:r>
            <a:r>
              <a:rPr lang="en-US" dirty="0"/>
              <a:t>: Modems enable internet access over diverse infrastructures, including telephone lines, cable, fiber, satellite, and cellular.</a:t>
            </a:r>
          </a:p>
          <a:p>
            <a:r>
              <a:rPr lang="en-US" b="1" dirty="0"/>
              <a:t>Affordable and Simple to Use</a:t>
            </a:r>
            <a:r>
              <a:rPr lang="en-US" dirty="0"/>
              <a:t>: Basic modems are affordable and easy to install, making internet access available to a wide range of users.</a:t>
            </a:r>
          </a:p>
          <a:p>
            <a:r>
              <a:rPr lang="en-US" b="1" dirty="0"/>
              <a:t>High-Speed Options</a:t>
            </a:r>
            <a:r>
              <a:rPr lang="en-US" dirty="0"/>
              <a:t>: With the advent of cable, fiber, and 5G modems, modern modems support very high-speed internet connections.</a:t>
            </a:r>
          </a:p>
          <a:p>
            <a:endParaRPr lang="en-US" dirty="0"/>
          </a:p>
        </p:txBody>
      </p:sp>
    </p:spTree>
    <p:extLst>
      <p:ext uri="{BB962C8B-B14F-4D97-AF65-F5344CB8AC3E}">
        <p14:creationId xmlns:p14="http://schemas.microsoft.com/office/powerpoint/2010/main" val="129503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0EEA-C584-4957-A7FF-79AB6A0CFDB8}"/>
              </a:ext>
            </a:extLst>
          </p:cNvPr>
          <p:cNvSpPr>
            <a:spLocks noGrp="1"/>
          </p:cNvSpPr>
          <p:nvPr>
            <p:ph type="title"/>
          </p:nvPr>
        </p:nvSpPr>
        <p:spPr>
          <a:xfrm>
            <a:off x="609600" y="23446"/>
            <a:ext cx="10972800" cy="639762"/>
          </a:xfrm>
        </p:spPr>
        <p:txBody>
          <a:bodyPr>
            <a:normAutofit fontScale="90000"/>
          </a:bodyPr>
          <a:lstStyle/>
          <a:p>
            <a:br>
              <a:rPr lang="en-US" b="1" dirty="0"/>
            </a:br>
            <a:r>
              <a:rPr lang="en-US" b="1" dirty="0"/>
              <a:t>Disadvantages of Modems</a:t>
            </a:r>
            <a:br>
              <a:rPr lang="en-US" b="1" dirty="0"/>
            </a:br>
            <a:endParaRPr lang="en-US" dirty="0"/>
          </a:p>
        </p:txBody>
      </p:sp>
      <p:sp>
        <p:nvSpPr>
          <p:cNvPr id="3" name="Content Placeholder 2">
            <a:extLst>
              <a:ext uri="{FF2B5EF4-FFF2-40B4-BE49-F238E27FC236}">
                <a16:creationId xmlns:a16="http://schemas.microsoft.com/office/drawing/2014/main" id="{8716E086-59C3-4A5D-BC55-5A83D03FFA42}"/>
              </a:ext>
            </a:extLst>
          </p:cNvPr>
          <p:cNvSpPr>
            <a:spLocks noGrp="1"/>
          </p:cNvSpPr>
          <p:nvPr>
            <p:ph idx="1"/>
          </p:nvPr>
        </p:nvSpPr>
        <p:spPr>
          <a:xfrm>
            <a:off x="609600" y="838201"/>
            <a:ext cx="10972800" cy="5287964"/>
          </a:xfrm>
        </p:spPr>
        <p:txBody>
          <a:bodyPr>
            <a:normAutofit fontScale="92500" lnSpcReduction="20000"/>
          </a:bodyPr>
          <a:lstStyle/>
          <a:p>
            <a:r>
              <a:rPr lang="en-US" b="1" dirty="0"/>
              <a:t>Limited by Infrastructure</a:t>
            </a:r>
            <a:r>
              <a:rPr lang="en-US" dirty="0"/>
              <a:t>: Modem speeds and availability are often constrained by the underlying infrastructure (e.g., rural areas may lack fiber or cable access).</a:t>
            </a:r>
          </a:p>
          <a:p>
            <a:r>
              <a:rPr lang="en-US" b="1" dirty="0"/>
              <a:t>Latency Issues</a:t>
            </a:r>
            <a:r>
              <a:rPr lang="en-US" dirty="0"/>
              <a:t>: Some modems, like satellite modems, experience high latency, which can impact performance in real-time applications like gaming or video calls.</a:t>
            </a:r>
          </a:p>
          <a:p>
            <a:r>
              <a:rPr lang="en-US" b="1" dirty="0"/>
              <a:t>Varying Speeds</a:t>
            </a:r>
            <a:r>
              <a:rPr lang="en-US" dirty="0"/>
              <a:t>: Depending on the modem type and ISP service, speeds can vary greatly, with dial-up and some DSL connections being significantly slower than modern alternatives.</a:t>
            </a:r>
          </a:p>
          <a:p>
            <a:r>
              <a:rPr lang="en-US" b="1" dirty="0"/>
              <a:t>Security Vulnerabilities</a:t>
            </a:r>
            <a:r>
              <a:rPr lang="en-US" dirty="0"/>
              <a:t>: Modems can be a point of entry for cyber-attacks if not properly secured, especially those with router capabilities.</a:t>
            </a:r>
          </a:p>
          <a:p>
            <a:endParaRPr lang="en-US" dirty="0"/>
          </a:p>
        </p:txBody>
      </p:sp>
    </p:spTree>
    <p:extLst>
      <p:ext uri="{BB962C8B-B14F-4D97-AF65-F5344CB8AC3E}">
        <p14:creationId xmlns:p14="http://schemas.microsoft.com/office/powerpoint/2010/main" val="242892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DEFB8-C1E3-4A18-B449-B9335BD0FB3A}"/>
              </a:ext>
            </a:extLst>
          </p:cNvPr>
          <p:cNvSpPr>
            <a:spLocks noGrp="1"/>
          </p:cNvSpPr>
          <p:nvPr>
            <p:ph type="title"/>
          </p:nvPr>
        </p:nvSpPr>
        <p:spPr>
          <a:xfrm>
            <a:off x="609600" y="152400"/>
            <a:ext cx="10972800" cy="457198"/>
          </a:xfrm>
        </p:spPr>
        <p:txBody>
          <a:bodyPr>
            <a:normAutofit fontScale="90000"/>
          </a:bodyPr>
          <a:lstStyle/>
          <a:p>
            <a:br>
              <a:rPr lang="en-US" b="1" dirty="0"/>
            </a:br>
            <a:r>
              <a:rPr lang="en-US" b="1" dirty="0"/>
              <a:t>Use Cases for Modems</a:t>
            </a:r>
            <a:br>
              <a:rPr lang="en-US" b="1" dirty="0"/>
            </a:br>
            <a:endParaRPr lang="en-US" dirty="0"/>
          </a:p>
        </p:txBody>
      </p:sp>
      <p:sp>
        <p:nvSpPr>
          <p:cNvPr id="3" name="Content Placeholder 2">
            <a:extLst>
              <a:ext uri="{FF2B5EF4-FFF2-40B4-BE49-F238E27FC236}">
                <a16:creationId xmlns:a16="http://schemas.microsoft.com/office/drawing/2014/main" id="{83306612-C4F6-4C42-868B-03F6980EAF38}"/>
              </a:ext>
            </a:extLst>
          </p:cNvPr>
          <p:cNvSpPr>
            <a:spLocks noGrp="1"/>
          </p:cNvSpPr>
          <p:nvPr>
            <p:ph idx="1"/>
          </p:nvPr>
        </p:nvSpPr>
        <p:spPr>
          <a:xfrm>
            <a:off x="609600" y="914401"/>
            <a:ext cx="10972800" cy="5211764"/>
          </a:xfrm>
        </p:spPr>
        <p:txBody>
          <a:bodyPr>
            <a:normAutofit fontScale="92500"/>
          </a:bodyPr>
          <a:lstStyle/>
          <a:p>
            <a:r>
              <a:rPr lang="en-US" b="1" dirty="0"/>
              <a:t>Home and Small Office Internet</a:t>
            </a:r>
            <a:r>
              <a:rPr lang="en-US" dirty="0"/>
              <a:t>: Cable, DSL, and fiber modems are widely used in homes and small businesses to provide internet access.</a:t>
            </a:r>
          </a:p>
          <a:p>
            <a:r>
              <a:rPr lang="en-US" b="1" dirty="0"/>
              <a:t>Remote and Rural Access</a:t>
            </a:r>
            <a:r>
              <a:rPr lang="en-US" dirty="0"/>
              <a:t>: Satellite and cellular modems enable internet connectivity in remote locations lacking traditional infrastructure.</a:t>
            </a:r>
          </a:p>
          <a:p>
            <a:r>
              <a:rPr lang="en-US" b="1" dirty="0"/>
              <a:t>Mobile Connectivity</a:t>
            </a:r>
            <a:r>
              <a:rPr lang="en-US" dirty="0"/>
              <a:t>: Cellular modems, often embedded in mobile hotspots or devices, offer portable internet access.</a:t>
            </a:r>
          </a:p>
          <a:p>
            <a:r>
              <a:rPr lang="en-US" b="1" dirty="0"/>
              <a:t>Backup Internet Connection</a:t>
            </a:r>
            <a:r>
              <a:rPr lang="en-US" dirty="0"/>
              <a:t>: Many businesses use modems, such as cellular modems, as a backup internet source for redundancy.</a:t>
            </a:r>
          </a:p>
          <a:p>
            <a:endParaRPr lang="en-US" dirty="0"/>
          </a:p>
        </p:txBody>
      </p:sp>
    </p:spTree>
    <p:extLst>
      <p:ext uri="{BB962C8B-B14F-4D97-AF65-F5344CB8AC3E}">
        <p14:creationId xmlns:p14="http://schemas.microsoft.com/office/powerpoint/2010/main" val="28469331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C74C-33ED-4469-A5EC-F8AD5082DA8E}"/>
              </a:ext>
            </a:extLst>
          </p:cNvPr>
          <p:cNvSpPr>
            <a:spLocks noGrp="1"/>
          </p:cNvSpPr>
          <p:nvPr>
            <p:ph type="title"/>
          </p:nvPr>
        </p:nvSpPr>
        <p:spPr/>
        <p:txBody>
          <a:bodyPr>
            <a:normAutofit fontScale="90000"/>
          </a:bodyPr>
          <a:lstStyle/>
          <a:p>
            <a:r>
              <a:rPr lang="en-US" b="1" dirty="0"/>
              <a:t>Access Point (AP)</a:t>
            </a:r>
            <a:br>
              <a:rPr lang="en-US" b="1" dirty="0"/>
            </a:br>
            <a:endParaRPr lang="en-US" dirty="0"/>
          </a:p>
        </p:txBody>
      </p:sp>
      <p:sp>
        <p:nvSpPr>
          <p:cNvPr id="3" name="Content Placeholder 2">
            <a:extLst>
              <a:ext uri="{FF2B5EF4-FFF2-40B4-BE49-F238E27FC236}">
                <a16:creationId xmlns:a16="http://schemas.microsoft.com/office/drawing/2014/main" id="{1D556453-2406-4505-B7BA-1349CCDE5548}"/>
              </a:ext>
            </a:extLst>
          </p:cNvPr>
          <p:cNvSpPr>
            <a:spLocks noGrp="1"/>
          </p:cNvSpPr>
          <p:nvPr>
            <p:ph idx="1"/>
          </p:nvPr>
        </p:nvSpPr>
        <p:spPr>
          <a:xfrm>
            <a:off x="609600" y="1066801"/>
            <a:ext cx="10972800" cy="5059364"/>
          </a:xfrm>
        </p:spPr>
        <p:txBody>
          <a:bodyPr>
            <a:normAutofit lnSpcReduction="10000"/>
          </a:bodyPr>
          <a:lstStyle/>
          <a:p>
            <a:r>
              <a:rPr lang="en-US" b="1" dirty="0"/>
              <a:t>Description</a:t>
            </a:r>
            <a:r>
              <a:rPr lang="en-US" dirty="0"/>
              <a:t>: An </a:t>
            </a:r>
            <a:r>
              <a:rPr lang="en-US" b="1" dirty="0"/>
              <a:t>Access Point (AP)</a:t>
            </a:r>
            <a:r>
              <a:rPr lang="en-US" dirty="0"/>
              <a:t> is a networking device that allows wireless devices, like laptops, smartphones, and IoT gadgets, to connect to a wired network using Wi-Fi. </a:t>
            </a:r>
          </a:p>
          <a:p>
            <a:r>
              <a:rPr lang="en-US" dirty="0"/>
              <a:t>Access points serve as a bridge, connecting wireless clients to the wired local area network (LAN) and enabling communication with other network resources, such as servers, printers, or the internet. </a:t>
            </a:r>
          </a:p>
          <a:p>
            <a:r>
              <a:rPr lang="en-US" b="1" dirty="0"/>
              <a:t>Function</a:t>
            </a:r>
            <a:r>
              <a:rPr lang="en-US" dirty="0"/>
              <a:t>: Access points operate primarily at the Data Link Layer (Layer 2) of the OSI model.</a:t>
            </a:r>
            <a:endParaRPr lang="en-US" b="1" dirty="0"/>
          </a:p>
          <a:p>
            <a:r>
              <a:rPr lang="en-US" b="1" dirty="0"/>
              <a:t>Types</a:t>
            </a:r>
            <a:r>
              <a:rPr lang="en-US" dirty="0"/>
              <a:t>: Standalone APs, controller-based APs, and mesh APs.</a:t>
            </a:r>
          </a:p>
          <a:p>
            <a:endParaRPr lang="en-US" dirty="0"/>
          </a:p>
        </p:txBody>
      </p:sp>
    </p:spTree>
    <p:extLst>
      <p:ext uri="{BB962C8B-B14F-4D97-AF65-F5344CB8AC3E}">
        <p14:creationId xmlns:p14="http://schemas.microsoft.com/office/powerpoint/2010/main" val="32388197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Wireless Access Point in a Network </a:t>
            </a:r>
            <a:br>
              <a:rPr lang="en-US" dirty="0"/>
            </a:br>
            <a:endParaRPr lang="en-US" dirty="0"/>
          </a:p>
        </p:txBody>
      </p:sp>
      <p:pic>
        <p:nvPicPr>
          <p:cNvPr id="4" name="Picture 3"/>
          <p:cNvPicPr>
            <a:picLocks noChangeAspect="1"/>
          </p:cNvPicPr>
          <p:nvPr/>
        </p:nvPicPr>
        <p:blipFill>
          <a:blip r:embed="rId2"/>
          <a:stretch>
            <a:fillRect/>
          </a:stretch>
        </p:blipFill>
        <p:spPr>
          <a:xfrm>
            <a:off x="3552825" y="1762125"/>
            <a:ext cx="5086350" cy="3333750"/>
          </a:xfrm>
          <a:prstGeom prst="rect">
            <a:avLst/>
          </a:prstGeom>
        </p:spPr>
      </p:pic>
    </p:spTree>
    <p:extLst>
      <p:ext uri="{BB962C8B-B14F-4D97-AF65-F5344CB8AC3E}">
        <p14:creationId xmlns:p14="http://schemas.microsoft.com/office/powerpoint/2010/main" val="11883128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EF8B0-D0FC-4D0A-8269-E9BB8909F2E9}"/>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Key Functions of an Access Point</a:t>
            </a:r>
            <a:br>
              <a:rPr lang="en-US" b="1" dirty="0"/>
            </a:br>
            <a:endParaRPr lang="en-US" dirty="0"/>
          </a:p>
        </p:txBody>
      </p:sp>
      <p:sp>
        <p:nvSpPr>
          <p:cNvPr id="3" name="Content Placeholder 2">
            <a:extLst>
              <a:ext uri="{FF2B5EF4-FFF2-40B4-BE49-F238E27FC236}">
                <a16:creationId xmlns:a16="http://schemas.microsoft.com/office/drawing/2014/main" id="{09C38F76-E338-4BF3-8F34-FF320A99BFDF}"/>
              </a:ext>
            </a:extLst>
          </p:cNvPr>
          <p:cNvSpPr>
            <a:spLocks noGrp="1"/>
          </p:cNvSpPr>
          <p:nvPr>
            <p:ph idx="1"/>
          </p:nvPr>
        </p:nvSpPr>
        <p:spPr>
          <a:xfrm>
            <a:off x="609600" y="1066801"/>
            <a:ext cx="10972800" cy="5059364"/>
          </a:xfrm>
        </p:spPr>
        <p:txBody>
          <a:bodyPr>
            <a:normAutofit fontScale="92500" lnSpcReduction="10000"/>
          </a:bodyPr>
          <a:lstStyle/>
          <a:p>
            <a:r>
              <a:rPr lang="en-US" b="1" dirty="0"/>
              <a:t>Wireless Connectivity</a:t>
            </a:r>
            <a:r>
              <a:rPr lang="en-US" dirty="0"/>
              <a:t>: Provides a Wi-Fi signal for wireless devices to connect to a network, extending the range and accessibility of a LAN.</a:t>
            </a:r>
          </a:p>
          <a:p>
            <a:r>
              <a:rPr lang="en-US" b="1" dirty="0"/>
              <a:t>Signal Bridging</a:t>
            </a:r>
            <a:r>
              <a:rPr lang="en-US" dirty="0"/>
              <a:t>: Acts as a bridge between wireless and wired networks, allowing communication between wireless devices and those on the wired network.</a:t>
            </a:r>
          </a:p>
          <a:p>
            <a:r>
              <a:rPr lang="en-US" b="1" dirty="0"/>
              <a:t>Data Transfer and Management</a:t>
            </a:r>
            <a:r>
              <a:rPr lang="en-US" dirty="0"/>
              <a:t>: Access points manage data traffic between connected devices, balancing loads, managing channels, and maintaining efficient data transfer.</a:t>
            </a:r>
          </a:p>
          <a:p>
            <a:r>
              <a:rPr lang="en-US" b="1" dirty="0"/>
              <a:t>Network Security</a:t>
            </a:r>
            <a:r>
              <a:rPr lang="en-US" dirty="0"/>
              <a:t>: APs often support security protocols (like WPA3) to encrypt data and restrict access to authorized users.</a:t>
            </a:r>
          </a:p>
          <a:p>
            <a:endParaRPr lang="en-US" dirty="0"/>
          </a:p>
        </p:txBody>
      </p:sp>
    </p:spTree>
    <p:extLst>
      <p:ext uri="{BB962C8B-B14F-4D97-AF65-F5344CB8AC3E}">
        <p14:creationId xmlns:p14="http://schemas.microsoft.com/office/powerpoint/2010/main" val="22578486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B0B66-B862-4CDF-BD21-BDA8C23CDB4D}"/>
              </a:ext>
            </a:extLst>
          </p:cNvPr>
          <p:cNvSpPr>
            <a:spLocks noGrp="1"/>
          </p:cNvSpPr>
          <p:nvPr>
            <p:ph type="title"/>
          </p:nvPr>
        </p:nvSpPr>
        <p:spPr>
          <a:xfrm>
            <a:off x="606083" y="92074"/>
            <a:ext cx="10972800" cy="639762"/>
          </a:xfrm>
        </p:spPr>
        <p:txBody>
          <a:bodyPr>
            <a:normAutofit fontScale="90000"/>
          </a:bodyPr>
          <a:lstStyle/>
          <a:p>
            <a:br>
              <a:rPr lang="en-US" b="1" dirty="0"/>
            </a:br>
            <a:r>
              <a:rPr lang="en-US" b="1" dirty="0"/>
              <a:t>Types of Access Points</a:t>
            </a:r>
            <a:br>
              <a:rPr lang="en-US" b="1" dirty="0"/>
            </a:br>
            <a:endParaRPr lang="en-US" dirty="0"/>
          </a:p>
        </p:txBody>
      </p:sp>
      <p:sp>
        <p:nvSpPr>
          <p:cNvPr id="3" name="Content Placeholder 2">
            <a:extLst>
              <a:ext uri="{FF2B5EF4-FFF2-40B4-BE49-F238E27FC236}">
                <a16:creationId xmlns:a16="http://schemas.microsoft.com/office/drawing/2014/main" id="{1E161CD2-D010-406F-A4F9-093984512876}"/>
              </a:ext>
            </a:extLst>
          </p:cNvPr>
          <p:cNvSpPr>
            <a:spLocks noGrp="1"/>
          </p:cNvSpPr>
          <p:nvPr>
            <p:ph idx="1"/>
          </p:nvPr>
        </p:nvSpPr>
        <p:spPr>
          <a:xfrm>
            <a:off x="609600" y="914401"/>
            <a:ext cx="10972800" cy="5211764"/>
          </a:xfrm>
        </p:spPr>
        <p:txBody>
          <a:bodyPr>
            <a:normAutofit fontScale="70000" lnSpcReduction="20000"/>
          </a:bodyPr>
          <a:lstStyle/>
          <a:p>
            <a:r>
              <a:rPr lang="en-US" b="1" dirty="0"/>
              <a:t>Standalone Access Points</a:t>
            </a:r>
            <a:r>
              <a:rPr lang="en-US" dirty="0"/>
              <a:t>:</a:t>
            </a:r>
          </a:p>
          <a:p>
            <a:pPr lvl="1"/>
            <a:r>
              <a:rPr lang="en-US" b="1" dirty="0"/>
              <a:t>Description</a:t>
            </a:r>
            <a:r>
              <a:rPr lang="en-US" dirty="0"/>
              <a:t>: Basic, independent devices managed individually.</a:t>
            </a:r>
          </a:p>
          <a:p>
            <a:pPr lvl="1"/>
            <a:r>
              <a:rPr lang="en-US" b="1" dirty="0"/>
              <a:t>Application</a:t>
            </a:r>
            <a:r>
              <a:rPr lang="en-US" dirty="0"/>
              <a:t>: Often used in small or simple networks, such as in homes or small offices.</a:t>
            </a:r>
          </a:p>
          <a:p>
            <a:pPr lvl="1"/>
            <a:r>
              <a:rPr lang="en-US" b="1" dirty="0"/>
              <a:t>Limitations</a:t>
            </a:r>
            <a:r>
              <a:rPr lang="en-US" dirty="0"/>
              <a:t>: Limited scalability and requires manual management of each AP.</a:t>
            </a:r>
          </a:p>
          <a:p>
            <a:r>
              <a:rPr lang="en-US" b="1" dirty="0"/>
              <a:t>Controller-Based Access Points</a:t>
            </a:r>
            <a:r>
              <a:rPr lang="en-US" dirty="0"/>
              <a:t>:</a:t>
            </a:r>
          </a:p>
          <a:p>
            <a:pPr lvl="1"/>
            <a:r>
              <a:rPr lang="en-US" b="1" dirty="0"/>
              <a:t>Description</a:t>
            </a:r>
            <a:r>
              <a:rPr lang="en-US" dirty="0"/>
              <a:t>: Controlled and managed centrally by a wireless LAN controller (WLC), suitable for larger networks.</a:t>
            </a:r>
          </a:p>
          <a:p>
            <a:pPr lvl="1"/>
            <a:r>
              <a:rPr lang="en-US" b="1" dirty="0"/>
              <a:t>Application</a:t>
            </a:r>
            <a:r>
              <a:rPr lang="en-US" dirty="0"/>
              <a:t>: Common in large enterprise environments, enabling centralized configuration and management.</a:t>
            </a:r>
          </a:p>
          <a:p>
            <a:pPr lvl="1"/>
            <a:r>
              <a:rPr lang="en-US" b="1" dirty="0"/>
              <a:t>Benefits</a:t>
            </a:r>
            <a:r>
              <a:rPr lang="en-US" dirty="0"/>
              <a:t>: Simplifies management of multiple APs and enables features like seamless roaming and load balancing.</a:t>
            </a:r>
          </a:p>
          <a:p>
            <a:r>
              <a:rPr lang="en-US" b="1" dirty="0"/>
              <a:t>Mesh Access Points</a:t>
            </a:r>
            <a:r>
              <a:rPr lang="en-US" dirty="0"/>
              <a:t>:</a:t>
            </a:r>
          </a:p>
          <a:p>
            <a:pPr lvl="1"/>
            <a:r>
              <a:rPr lang="en-US" b="1" dirty="0"/>
              <a:t>Description</a:t>
            </a:r>
            <a:r>
              <a:rPr lang="en-US" dirty="0"/>
              <a:t>: Form a mesh network, where each AP connects to others, allowing for broader and more resilient coverage.</a:t>
            </a:r>
          </a:p>
          <a:p>
            <a:pPr lvl="1"/>
            <a:r>
              <a:rPr lang="en-US" b="1" dirty="0"/>
              <a:t>Application</a:t>
            </a:r>
            <a:r>
              <a:rPr lang="en-US" dirty="0"/>
              <a:t>: Ideal for wide areas with complex layouts or outdoor environments (e.g., campuses or industrial sites).</a:t>
            </a:r>
          </a:p>
          <a:p>
            <a:pPr lvl="1"/>
            <a:r>
              <a:rPr lang="en-US" b="1" dirty="0"/>
              <a:t>Advantages</a:t>
            </a:r>
            <a:r>
              <a:rPr lang="en-US" dirty="0"/>
              <a:t>: Increased redundancy and easy expansion by adding more APs to extend coverage.</a:t>
            </a:r>
          </a:p>
        </p:txBody>
      </p:sp>
    </p:spTree>
    <p:extLst>
      <p:ext uri="{BB962C8B-B14F-4D97-AF65-F5344CB8AC3E}">
        <p14:creationId xmlns:p14="http://schemas.microsoft.com/office/powerpoint/2010/main" val="793884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75C07-2828-4F5F-9ABF-244C575A8F3C}"/>
              </a:ext>
            </a:extLst>
          </p:cNvPr>
          <p:cNvSpPr>
            <a:spLocks noGrp="1"/>
          </p:cNvSpPr>
          <p:nvPr>
            <p:ph type="title"/>
          </p:nvPr>
        </p:nvSpPr>
        <p:spPr>
          <a:xfrm>
            <a:off x="609600" y="205788"/>
            <a:ext cx="10972800" cy="563562"/>
          </a:xfrm>
        </p:spPr>
        <p:txBody>
          <a:bodyPr>
            <a:normAutofit fontScale="90000"/>
          </a:bodyPr>
          <a:lstStyle/>
          <a:p>
            <a:br>
              <a:rPr lang="en-US" b="1" dirty="0"/>
            </a:br>
            <a:r>
              <a:rPr lang="en-US" b="1" dirty="0"/>
              <a:t>Types of Access Points</a:t>
            </a:r>
            <a:br>
              <a:rPr lang="en-US" b="1" dirty="0"/>
            </a:br>
            <a:endParaRPr lang="en-US" dirty="0"/>
          </a:p>
        </p:txBody>
      </p:sp>
      <p:sp>
        <p:nvSpPr>
          <p:cNvPr id="3" name="Content Placeholder 2">
            <a:extLst>
              <a:ext uri="{FF2B5EF4-FFF2-40B4-BE49-F238E27FC236}">
                <a16:creationId xmlns:a16="http://schemas.microsoft.com/office/drawing/2014/main" id="{EF2B9C92-CF11-4AA5-967D-E18E48DDB539}"/>
              </a:ext>
            </a:extLst>
          </p:cNvPr>
          <p:cNvSpPr>
            <a:spLocks noGrp="1"/>
          </p:cNvSpPr>
          <p:nvPr>
            <p:ph idx="1"/>
          </p:nvPr>
        </p:nvSpPr>
        <p:spPr>
          <a:xfrm>
            <a:off x="609600" y="990601"/>
            <a:ext cx="10972800" cy="5135564"/>
          </a:xfrm>
        </p:spPr>
        <p:txBody>
          <a:bodyPr>
            <a:normAutofit fontScale="85000" lnSpcReduction="10000"/>
          </a:bodyPr>
          <a:lstStyle/>
          <a:p>
            <a:r>
              <a:rPr lang="en-US" b="1" dirty="0"/>
              <a:t>Outdoor Access Points</a:t>
            </a:r>
            <a:r>
              <a:rPr lang="en-US" dirty="0"/>
              <a:t>:</a:t>
            </a:r>
          </a:p>
          <a:p>
            <a:pPr lvl="1"/>
            <a:r>
              <a:rPr lang="en-US" b="1" dirty="0"/>
              <a:t>Description</a:t>
            </a:r>
            <a:r>
              <a:rPr lang="en-US" dirty="0"/>
              <a:t>: Designed for outdoor use with weatherproofing and extended range capabilities.</a:t>
            </a:r>
          </a:p>
          <a:p>
            <a:pPr lvl="1"/>
            <a:r>
              <a:rPr lang="en-US" b="1" dirty="0"/>
              <a:t>Application</a:t>
            </a:r>
            <a:r>
              <a:rPr lang="en-US" dirty="0"/>
              <a:t>: Commonly used in parks, large campuses, or industrial outdoor areas.</a:t>
            </a:r>
          </a:p>
          <a:p>
            <a:pPr lvl="1"/>
            <a:r>
              <a:rPr lang="en-US" b="1" dirty="0"/>
              <a:t>Features</a:t>
            </a:r>
            <a:r>
              <a:rPr lang="en-US" dirty="0"/>
              <a:t>: Often include additional antennae for increased range and durability.</a:t>
            </a:r>
          </a:p>
          <a:p>
            <a:r>
              <a:rPr lang="en-US" b="1" dirty="0"/>
              <a:t>Virtual Access Points</a:t>
            </a:r>
            <a:r>
              <a:rPr lang="en-US" dirty="0"/>
              <a:t>:</a:t>
            </a:r>
          </a:p>
          <a:p>
            <a:pPr lvl="1"/>
            <a:r>
              <a:rPr lang="en-US" b="1" dirty="0"/>
              <a:t>Description</a:t>
            </a:r>
            <a:r>
              <a:rPr lang="en-US" dirty="0"/>
              <a:t>: Multiple SSIDs on a single physical access point to create separate virtual networks.</a:t>
            </a:r>
          </a:p>
          <a:p>
            <a:pPr lvl="1"/>
            <a:r>
              <a:rPr lang="en-US" b="1" dirty="0"/>
              <a:t>Application</a:t>
            </a:r>
            <a:r>
              <a:rPr lang="en-US" dirty="0"/>
              <a:t>: Used in situations where network segmentation is needed for different user groups or devices.</a:t>
            </a:r>
          </a:p>
          <a:p>
            <a:pPr lvl="1"/>
            <a:r>
              <a:rPr lang="en-US" b="1" dirty="0"/>
              <a:t>Use Case</a:t>
            </a:r>
            <a:r>
              <a:rPr lang="en-US" dirty="0"/>
              <a:t>: Can provide both public (guest) and private (internal) Wi-Fi on the same hardware.</a:t>
            </a:r>
          </a:p>
          <a:p>
            <a:endParaRPr lang="en-US" dirty="0"/>
          </a:p>
          <a:p>
            <a:endParaRPr lang="en-US" dirty="0"/>
          </a:p>
        </p:txBody>
      </p:sp>
    </p:spTree>
    <p:extLst>
      <p:ext uri="{BB962C8B-B14F-4D97-AF65-F5344CB8AC3E}">
        <p14:creationId xmlns:p14="http://schemas.microsoft.com/office/powerpoint/2010/main" val="1079078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33127-5489-4C27-BC40-F44241C3083C}"/>
              </a:ext>
            </a:extLst>
          </p:cNvPr>
          <p:cNvSpPr>
            <a:spLocks noGrp="1"/>
          </p:cNvSpPr>
          <p:nvPr>
            <p:ph type="title"/>
          </p:nvPr>
        </p:nvSpPr>
        <p:spPr>
          <a:xfrm>
            <a:off x="609600" y="92074"/>
            <a:ext cx="10972800" cy="639762"/>
          </a:xfrm>
        </p:spPr>
        <p:txBody>
          <a:bodyPr>
            <a:normAutofit fontScale="90000"/>
          </a:bodyPr>
          <a:lstStyle/>
          <a:p>
            <a:br>
              <a:rPr lang="en-US" b="1" dirty="0"/>
            </a:br>
            <a:r>
              <a:rPr lang="en-US" b="1" dirty="0"/>
              <a:t>Advantages of Access Points</a:t>
            </a:r>
            <a:br>
              <a:rPr lang="en-US" b="1" dirty="0"/>
            </a:br>
            <a:endParaRPr lang="en-US" dirty="0"/>
          </a:p>
        </p:txBody>
      </p:sp>
      <p:sp>
        <p:nvSpPr>
          <p:cNvPr id="3" name="Content Placeholder 2">
            <a:extLst>
              <a:ext uri="{FF2B5EF4-FFF2-40B4-BE49-F238E27FC236}">
                <a16:creationId xmlns:a16="http://schemas.microsoft.com/office/drawing/2014/main" id="{2E591C32-CB07-45A6-A4B4-639EE2871A40}"/>
              </a:ext>
            </a:extLst>
          </p:cNvPr>
          <p:cNvSpPr>
            <a:spLocks noGrp="1"/>
          </p:cNvSpPr>
          <p:nvPr>
            <p:ph idx="1"/>
          </p:nvPr>
        </p:nvSpPr>
        <p:spPr>
          <a:xfrm>
            <a:off x="609600" y="914401"/>
            <a:ext cx="10972800" cy="5211764"/>
          </a:xfrm>
        </p:spPr>
        <p:txBody>
          <a:bodyPr>
            <a:normAutofit/>
          </a:bodyPr>
          <a:lstStyle/>
          <a:p>
            <a:r>
              <a:rPr lang="en-US" b="1" dirty="0"/>
              <a:t>Extended Coverage</a:t>
            </a:r>
            <a:r>
              <a:rPr lang="en-US" dirty="0"/>
              <a:t>: Increases the Wi-Fi coverage area, making it easy for devices to stay connected over larger distances.</a:t>
            </a:r>
          </a:p>
          <a:p>
            <a:r>
              <a:rPr lang="en-US" b="1" dirty="0"/>
              <a:t>Supports Multiple Users</a:t>
            </a:r>
            <a:r>
              <a:rPr lang="en-US" dirty="0"/>
              <a:t>: Designed to handle more simultaneous connections than typical wireless routers.</a:t>
            </a:r>
          </a:p>
          <a:p>
            <a:r>
              <a:rPr lang="en-US" b="1" dirty="0"/>
              <a:t>Scalability</a:t>
            </a:r>
            <a:r>
              <a:rPr lang="en-US" dirty="0"/>
              <a:t>: Easy to expand by adding more APs, especially in controller-managed or mesh networks.</a:t>
            </a:r>
          </a:p>
          <a:p>
            <a:r>
              <a:rPr lang="en-US" b="1" dirty="0"/>
              <a:t>Flexibility in Placement</a:t>
            </a:r>
            <a:r>
              <a:rPr lang="en-US" dirty="0"/>
              <a:t>: APs can be placed in optimal locations for best coverage, often powered by PoE, allowing greater flexibility in placement.</a:t>
            </a:r>
          </a:p>
          <a:p>
            <a:endParaRPr lang="en-US" dirty="0"/>
          </a:p>
        </p:txBody>
      </p:sp>
    </p:spTree>
    <p:extLst>
      <p:ext uri="{BB962C8B-B14F-4D97-AF65-F5344CB8AC3E}">
        <p14:creationId xmlns:p14="http://schemas.microsoft.com/office/powerpoint/2010/main" val="39395608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3C62-1CBF-451A-A9F6-04D2F67C5268}"/>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Disadvantages of Access Points</a:t>
            </a:r>
            <a:br>
              <a:rPr lang="en-US" b="1" dirty="0"/>
            </a:br>
            <a:endParaRPr lang="en-US" dirty="0"/>
          </a:p>
        </p:txBody>
      </p:sp>
      <p:sp>
        <p:nvSpPr>
          <p:cNvPr id="3" name="Content Placeholder 2">
            <a:extLst>
              <a:ext uri="{FF2B5EF4-FFF2-40B4-BE49-F238E27FC236}">
                <a16:creationId xmlns:a16="http://schemas.microsoft.com/office/drawing/2014/main" id="{0C8D8542-AE26-46D7-B0E6-3996C7AC3121}"/>
              </a:ext>
            </a:extLst>
          </p:cNvPr>
          <p:cNvSpPr>
            <a:spLocks noGrp="1"/>
          </p:cNvSpPr>
          <p:nvPr>
            <p:ph idx="1"/>
          </p:nvPr>
        </p:nvSpPr>
        <p:spPr>
          <a:xfrm>
            <a:off x="609600" y="990601"/>
            <a:ext cx="10972800" cy="5135564"/>
          </a:xfrm>
        </p:spPr>
        <p:txBody>
          <a:bodyPr>
            <a:normAutofit fontScale="92500"/>
          </a:bodyPr>
          <a:lstStyle/>
          <a:p>
            <a:r>
              <a:rPr lang="en-US" b="1" dirty="0"/>
              <a:t>Cost</a:t>
            </a:r>
            <a:r>
              <a:rPr lang="en-US" dirty="0"/>
              <a:t>: High-quality APs, especially those for enterprise use, can be expensive and require additional hardware, like controllers.</a:t>
            </a:r>
          </a:p>
          <a:p>
            <a:r>
              <a:rPr lang="en-US" b="1" dirty="0"/>
              <a:t>Complex Setup</a:t>
            </a:r>
            <a:r>
              <a:rPr lang="en-US" dirty="0"/>
              <a:t>: Deploying and configuring multiple APs, especially in larger networks, requires network design knowledge.</a:t>
            </a:r>
          </a:p>
          <a:p>
            <a:r>
              <a:rPr lang="en-US" b="1" dirty="0"/>
              <a:t>Interference</a:t>
            </a:r>
            <a:r>
              <a:rPr lang="en-US" dirty="0"/>
              <a:t>: APs operating on similar channels or in high-density areas can experience interference, leading to connectivity issues.</a:t>
            </a:r>
          </a:p>
          <a:p>
            <a:r>
              <a:rPr lang="en-US" b="1" dirty="0"/>
              <a:t>Dependence on Wired Network</a:t>
            </a:r>
            <a:r>
              <a:rPr lang="en-US" dirty="0"/>
              <a:t>: An AP relies on a wired network connection to function, which may be limiting in some deployment scenarios.</a:t>
            </a:r>
          </a:p>
          <a:p>
            <a:endParaRPr lang="en-US" dirty="0"/>
          </a:p>
        </p:txBody>
      </p:sp>
    </p:spTree>
    <p:extLst>
      <p:ext uri="{BB962C8B-B14F-4D97-AF65-F5344CB8AC3E}">
        <p14:creationId xmlns:p14="http://schemas.microsoft.com/office/powerpoint/2010/main" val="13853064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D490-55B0-4291-B30E-2475A8DED70E}"/>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Use Cases for Access Points</a:t>
            </a:r>
            <a:br>
              <a:rPr lang="en-US" b="1" dirty="0"/>
            </a:br>
            <a:endParaRPr lang="en-US" dirty="0"/>
          </a:p>
        </p:txBody>
      </p:sp>
      <p:sp>
        <p:nvSpPr>
          <p:cNvPr id="3" name="Content Placeholder 2">
            <a:extLst>
              <a:ext uri="{FF2B5EF4-FFF2-40B4-BE49-F238E27FC236}">
                <a16:creationId xmlns:a16="http://schemas.microsoft.com/office/drawing/2014/main" id="{995B95E9-70AA-4D6E-B4C1-C3C8013C2EBB}"/>
              </a:ext>
            </a:extLst>
          </p:cNvPr>
          <p:cNvSpPr>
            <a:spLocks noGrp="1"/>
          </p:cNvSpPr>
          <p:nvPr>
            <p:ph idx="1"/>
          </p:nvPr>
        </p:nvSpPr>
        <p:spPr>
          <a:xfrm>
            <a:off x="609600" y="990601"/>
            <a:ext cx="10972800" cy="5135564"/>
          </a:xfrm>
        </p:spPr>
        <p:txBody>
          <a:bodyPr>
            <a:normAutofit/>
          </a:bodyPr>
          <a:lstStyle/>
          <a:p>
            <a:r>
              <a:rPr lang="en-US" b="1" dirty="0"/>
              <a:t>Large Offices and Campuses</a:t>
            </a:r>
            <a:r>
              <a:rPr lang="en-US" dirty="0"/>
              <a:t>: Used to provide seamless Wi-Fi coverage across multiple floors, rooms, or buildings.</a:t>
            </a:r>
          </a:p>
          <a:p>
            <a:r>
              <a:rPr lang="en-US" b="1" dirty="0"/>
              <a:t>Public Spaces</a:t>
            </a:r>
            <a:r>
              <a:rPr lang="en-US" dirty="0"/>
              <a:t>: Ideal for locations like airports, hotels, and shopping centers to provide internet access to large numbers of users.</a:t>
            </a:r>
          </a:p>
          <a:p>
            <a:r>
              <a:rPr lang="en-US" b="1" dirty="0"/>
              <a:t>Education and Research Institutions</a:t>
            </a:r>
            <a:r>
              <a:rPr lang="en-US" dirty="0"/>
              <a:t>: Access points support mobile learning and research with Wi-Fi across campuses.</a:t>
            </a:r>
          </a:p>
          <a:p>
            <a:r>
              <a:rPr lang="en-US" b="1" dirty="0"/>
              <a:t>Healthcare Facilities</a:t>
            </a:r>
            <a:r>
              <a:rPr lang="en-US" dirty="0"/>
              <a:t>: APs provide reliable, secure wireless connectivity for staff and equipment in hospitals and clinics.</a:t>
            </a:r>
          </a:p>
          <a:p>
            <a:endParaRPr lang="en-US" dirty="0"/>
          </a:p>
        </p:txBody>
      </p:sp>
    </p:spTree>
    <p:extLst>
      <p:ext uri="{BB962C8B-B14F-4D97-AF65-F5344CB8AC3E}">
        <p14:creationId xmlns:p14="http://schemas.microsoft.com/office/powerpoint/2010/main" val="25163951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B521-85F1-4110-B200-AACF4AF38EB1}"/>
              </a:ext>
            </a:extLst>
          </p:cNvPr>
          <p:cNvSpPr>
            <a:spLocks noGrp="1"/>
          </p:cNvSpPr>
          <p:nvPr>
            <p:ph type="title"/>
          </p:nvPr>
        </p:nvSpPr>
        <p:spPr/>
        <p:txBody>
          <a:bodyPr>
            <a:normAutofit fontScale="90000"/>
          </a:bodyPr>
          <a:lstStyle/>
          <a:p>
            <a:r>
              <a:rPr lang="en-US" b="1" dirty="0"/>
              <a:t>Firewall</a:t>
            </a:r>
            <a:br>
              <a:rPr lang="en-US" b="1" dirty="0"/>
            </a:br>
            <a:endParaRPr lang="en-US" dirty="0"/>
          </a:p>
        </p:txBody>
      </p:sp>
      <p:sp>
        <p:nvSpPr>
          <p:cNvPr id="3" name="Content Placeholder 2">
            <a:extLst>
              <a:ext uri="{FF2B5EF4-FFF2-40B4-BE49-F238E27FC236}">
                <a16:creationId xmlns:a16="http://schemas.microsoft.com/office/drawing/2014/main" id="{CD5C0275-0297-4C40-A7C5-DBC91DCC4479}"/>
              </a:ext>
            </a:extLst>
          </p:cNvPr>
          <p:cNvSpPr>
            <a:spLocks noGrp="1"/>
          </p:cNvSpPr>
          <p:nvPr>
            <p:ph idx="1"/>
          </p:nvPr>
        </p:nvSpPr>
        <p:spPr>
          <a:xfrm>
            <a:off x="609600" y="1066801"/>
            <a:ext cx="10972800" cy="5059364"/>
          </a:xfrm>
        </p:spPr>
        <p:txBody>
          <a:bodyPr>
            <a:normAutofit fontScale="92500" lnSpcReduction="20000"/>
          </a:bodyPr>
          <a:lstStyle/>
          <a:p>
            <a:r>
              <a:rPr lang="en-US" b="1" dirty="0"/>
              <a:t>Description</a:t>
            </a:r>
            <a:r>
              <a:rPr lang="en-US" dirty="0"/>
              <a:t>: A </a:t>
            </a:r>
            <a:r>
              <a:rPr lang="en-US" b="1" dirty="0"/>
              <a:t>firewall</a:t>
            </a:r>
            <a:r>
              <a:rPr lang="en-US" dirty="0"/>
              <a:t> is a network security device or software that monitors and controls incoming and outgoing network traffic based on predetermined security rules. </a:t>
            </a:r>
          </a:p>
          <a:p>
            <a:r>
              <a:rPr lang="en-US" b="1" dirty="0"/>
              <a:t>Function</a:t>
            </a:r>
            <a:r>
              <a:rPr lang="en-US" dirty="0"/>
              <a:t>: Firewalls establish a barrier between trusted internal networks and untrusted external networks, such as the internet, to protect data and systems from unauthorized access, attacks, and malware.</a:t>
            </a:r>
            <a:endParaRPr lang="en-US" b="1" dirty="0"/>
          </a:p>
          <a:p>
            <a:r>
              <a:rPr lang="en-US" b="1" dirty="0"/>
              <a:t>Types</a:t>
            </a:r>
            <a:r>
              <a:rPr lang="en-US" dirty="0"/>
              <a:t>:</a:t>
            </a:r>
          </a:p>
          <a:p>
            <a:pPr lvl="1"/>
            <a:r>
              <a:rPr lang="en-US" b="1" dirty="0"/>
              <a:t>Hardware Firewall</a:t>
            </a:r>
            <a:r>
              <a:rPr lang="en-US" dirty="0"/>
              <a:t>: A physical device that acts as a barrier between a trusted internal network and untrusted external networks.</a:t>
            </a:r>
          </a:p>
          <a:p>
            <a:pPr lvl="1"/>
            <a:r>
              <a:rPr lang="en-US" b="1" dirty="0"/>
              <a:t>Software Firewall</a:t>
            </a:r>
            <a:r>
              <a:rPr lang="en-US" dirty="0"/>
              <a:t>: Installed on individual devices to control traffic to and from that device.</a:t>
            </a:r>
          </a:p>
          <a:p>
            <a:endParaRPr lang="en-US" dirty="0"/>
          </a:p>
        </p:txBody>
      </p:sp>
    </p:spTree>
    <p:extLst>
      <p:ext uri="{BB962C8B-B14F-4D97-AF65-F5344CB8AC3E}">
        <p14:creationId xmlns:p14="http://schemas.microsoft.com/office/powerpoint/2010/main" val="2497911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Gill Sans MT" panose="020B0502020104020203" pitchFamily="34" charset="0"/>
              </a:rPr>
              <a:t>FIREWALL </a:t>
            </a:r>
            <a:br>
              <a:rPr lang="en-US" b="1" dirty="0">
                <a:latin typeface="Gill Sans MT" panose="020B0502020104020203" pitchFamily="34" charset="0"/>
              </a:rPr>
            </a:br>
            <a:endParaRPr lang="en-US" b="1" dirty="0">
              <a:latin typeface="Gill Sans MT" panose="020B0502020104020203" pitchFamily="34" charset="0"/>
            </a:endParaRPr>
          </a:p>
        </p:txBody>
      </p:sp>
      <p:pic>
        <p:nvPicPr>
          <p:cNvPr id="4" name="Picture 3"/>
          <p:cNvPicPr>
            <a:picLocks noChangeAspect="1"/>
          </p:cNvPicPr>
          <p:nvPr/>
        </p:nvPicPr>
        <p:blipFill>
          <a:blip r:embed="rId2"/>
          <a:stretch>
            <a:fillRect/>
          </a:stretch>
        </p:blipFill>
        <p:spPr>
          <a:xfrm>
            <a:off x="2457450" y="1524000"/>
            <a:ext cx="7277100" cy="4591050"/>
          </a:xfrm>
          <a:prstGeom prst="rect">
            <a:avLst/>
          </a:prstGeom>
        </p:spPr>
      </p:pic>
    </p:spTree>
    <p:extLst>
      <p:ext uri="{BB962C8B-B14F-4D97-AF65-F5344CB8AC3E}">
        <p14:creationId xmlns:p14="http://schemas.microsoft.com/office/powerpoint/2010/main" val="4009218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3F85-99DE-4F62-9F18-FAC26A20C681}"/>
              </a:ext>
            </a:extLst>
          </p:cNvPr>
          <p:cNvSpPr>
            <a:spLocks noGrp="1"/>
          </p:cNvSpPr>
          <p:nvPr>
            <p:ph type="title"/>
          </p:nvPr>
        </p:nvSpPr>
        <p:spPr>
          <a:xfrm>
            <a:off x="609600" y="92074"/>
            <a:ext cx="10972800" cy="639762"/>
          </a:xfrm>
        </p:spPr>
        <p:txBody>
          <a:bodyPr>
            <a:normAutofit fontScale="90000"/>
          </a:bodyPr>
          <a:lstStyle/>
          <a:p>
            <a:br>
              <a:rPr lang="en-US" b="1" dirty="0"/>
            </a:br>
            <a:r>
              <a:rPr lang="en-US" b="1" dirty="0"/>
              <a:t>Key Functions of a Firewall</a:t>
            </a:r>
            <a:br>
              <a:rPr lang="en-US" b="1" dirty="0"/>
            </a:br>
            <a:endParaRPr lang="en-US" dirty="0"/>
          </a:p>
        </p:txBody>
      </p:sp>
      <p:sp>
        <p:nvSpPr>
          <p:cNvPr id="3" name="Content Placeholder 2">
            <a:extLst>
              <a:ext uri="{FF2B5EF4-FFF2-40B4-BE49-F238E27FC236}">
                <a16:creationId xmlns:a16="http://schemas.microsoft.com/office/drawing/2014/main" id="{9356EE40-2363-48EF-8AB9-E8ACDEE27AD6}"/>
              </a:ext>
            </a:extLst>
          </p:cNvPr>
          <p:cNvSpPr>
            <a:spLocks noGrp="1"/>
          </p:cNvSpPr>
          <p:nvPr>
            <p:ph idx="1"/>
          </p:nvPr>
        </p:nvSpPr>
        <p:spPr>
          <a:xfrm>
            <a:off x="609600" y="838201"/>
            <a:ext cx="10972800" cy="5287964"/>
          </a:xfrm>
        </p:spPr>
        <p:txBody>
          <a:bodyPr>
            <a:normAutofit fontScale="92500" lnSpcReduction="20000"/>
          </a:bodyPr>
          <a:lstStyle/>
          <a:p>
            <a:r>
              <a:rPr lang="en-US" b="1" dirty="0"/>
              <a:t>Traffic Filtering</a:t>
            </a:r>
            <a:r>
              <a:rPr lang="en-US" dirty="0"/>
              <a:t>: Monitors data packets entering and leaving the network and blocks or allows traffic based on security rules.</a:t>
            </a:r>
          </a:p>
          <a:p>
            <a:r>
              <a:rPr lang="en-US" b="1" dirty="0"/>
              <a:t>Access Control</a:t>
            </a:r>
            <a:r>
              <a:rPr lang="en-US" dirty="0"/>
              <a:t>: Restricts network access based on IP addresses, ports, protocols, or applications to protect resources.</a:t>
            </a:r>
          </a:p>
          <a:p>
            <a:r>
              <a:rPr lang="en-US" b="1" dirty="0"/>
              <a:t>Network Segmentation</a:t>
            </a:r>
            <a:r>
              <a:rPr lang="en-US" dirty="0"/>
              <a:t>: Divides network traffic into segments or zones, isolating certain parts of the network to limit exposure.</a:t>
            </a:r>
          </a:p>
          <a:p>
            <a:r>
              <a:rPr lang="en-US" b="1" dirty="0"/>
              <a:t>Threat Prevention</a:t>
            </a:r>
            <a:r>
              <a:rPr lang="en-US" dirty="0"/>
              <a:t>: Detects and blocks threats, such as viruses, malware, or unauthorized access attempts, before they reach internal resources.</a:t>
            </a:r>
          </a:p>
          <a:p>
            <a:r>
              <a:rPr lang="en-US" b="1" dirty="0"/>
              <a:t>Logging and Monitoring</a:t>
            </a:r>
            <a:r>
              <a:rPr lang="en-US" dirty="0"/>
              <a:t>: Logs network activity for auditing and troubleshooting, helping identify suspicious activity or security incidents.</a:t>
            </a:r>
          </a:p>
          <a:p>
            <a:endParaRPr lang="en-US" dirty="0"/>
          </a:p>
        </p:txBody>
      </p:sp>
    </p:spTree>
    <p:extLst>
      <p:ext uri="{BB962C8B-B14F-4D97-AF65-F5344CB8AC3E}">
        <p14:creationId xmlns:p14="http://schemas.microsoft.com/office/powerpoint/2010/main" val="4143090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8588-4E01-4F93-8BC6-8FCEF310C30E}"/>
              </a:ext>
            </a:extLst>
          </p:cNvPr>
          <p:cNvSpPr>
            <a:spLocks noGrp="1"/>
          </p:cNvSpPr>
          <p:nvPr>
            <p:ph type="title"/>
          </p:nvPr>
        </p:nvSpPr>
        <p:spPr>
          <a:xfrm>
            <a:off x="609600" y="264087"/>
            <a:ext cx="10972800" cy="457198"/>
          </a:xfrm>
        </p:spPr>
        <p:txBody>
          <a:bodyPr>
            <a:normAutofit fontScale="90000"/>
          </a:bodyPr>
          <a:lstStyle/>
          <a:p>
            <a:br>
              <a:rPr lang="en-US" b="1" dirty="0"/>
            </a:br>
            <a:r>
              <a:rPr lang="en-US" b="1" dirty="0"/>
              <a:t>Types of Firewalls</a:t>
            </a:r>
            <a:br>
              <a:rPr lang="en-US" b="1" dirty="0"/>
            </a:br>
            <a:endParaRPr lang="en-US" dirty="0"/>
          </a:p>
        </p:txBody>
      </p:sp>
      <p:sp>
        <p:nvSpPr>
          <p:cNvPr id="3" name="Content Placeholder 2">
            <a:extLst>
              <a:ext uri="{FF2B5EF4-FFF2-40B4-BE49-F238E27FC236}">
                <a16:creationId xmlns:a16="http://schemas.microsoft.com/office/drawing/2014/main" id="{A41874FB-2CB3-4283-AB12-4963C72DB0BC}"/>
              </a:ext>
            </a:extLst>
          </p:cNvPr>
          <p:cNvSpPr>
            <a:spLocks noGrp="1"/>
          </p:cNvSpPr>
          <p:nvPr>
            <p:ph idx="1"/>
          </p:nvPr>
        </p:nvSpPr>
        <p:spPr/>
        <p:txBody>
          <a:bodyPr>
            <a:normAutofit fontScale="62500" lnSpcReduction="20000"/>
          </a:bodyPr>
          <a:lstStyle/>
          <a:p>
            <a:r>
              <a:rPr lang="en-US" b="1" dirty="0"/>
              <a:t>Packet-Filtering Firewall</a:t>
            </a:r>
            <a:r>
              <a:rPr lang="en-US" dirty="0"/>
              <a:t>:</a:t>
            </a:r>
          </a:p>
          <a:p>
            <a:pPr lvl="1"/>
            <a:r>
              <a:rPr lang="en-US" b="1" dirty="0"/>
              <a:t>Description</a:t>
            </a:r>
            <a:r>
              <a:rPr lang="en-US" dirty="0"/>
              <a:t>: Examines individual packets and allows or blocks them based on source/destination IP addresses, ports, and protocols.</a:t>
            </a:r>
          </a:p>
          <a:p>
            <a:pPr lvl="1"/>
            <a:r>
              <a:rPr lang="en-US" b="1" dirty="0"/>
              <a:t>Advantages</a:t>
            </a:r>
            <a:r>
              <a:rPr lang="en-US" dirty="0"/>
              <a:t>: Simple and efficient for basic security needs.</a:t>
            </a:r>
          </a:p>
          <a:p>
            <a:pPr lvl="1"/>
            <a:r>
              <a:rPr lang="en-US" b="1" dirty="0"/>
              <a:t>Limitations</a:t>
            </a:r>
            <a:r>
              <a:rPr lang="en-US" dirty="0"/>
              <a:t>: Limited to inspecting individual packets, with no analysis of packet contents, which can leave some threats undetected.</a:t>
            </a:r>
          </a:p>
          <a:p>
            <a:r>
              <a:rPr lang="en-US" b="1" dirty="0"/>
              <a:t>Stateful Inspection Firewall</a:t>
            </a:r>
            <a:r>
              <a:rPr lang="en-US" dirty="0"/>
              <a:t>:</a:t>
            </a:r>
          </a:p>
          <a:p>
            <a:pPr lvl="1"/>
            <a:r>
              <a:rPr lang="en-US" b="1" dirty="0"/>
              <a:t>Description</a:t>
            </a:r>
            <a:r>
              <a:rPr lang="en-US" dirty="0"/>
              <a:t>: Tracks active connections and makes decisions based on the state of connections, allowing or blocking packets within the context of established sessions.</a:t>
            </a:r>
          </a:p>
          <a:p>
            <a:pPr lvl="1"/>
            <a:r>
              <a:rPr lang="en-US" b="1" dirty="0"/>
              <a:t>Advantages</a:t>
            </a:r>
            <a:r>
              <a:rPr lang="en-US" dirty="0"/>
              <a:t>: More secure than packet-filtering firewalls as it maintains connection context.</a:t>
            </a:r>
          </a:p>
          <a:p>
            <a:pPr lvl="1"/>
            <a:r>
              <a:rPr lang="en-US" b="1" dirty="0"/>
              <a:t>Limitations</a:t>
            </a:r>
            <a:r>
              <a:rPr lang="en-US" dirty="0"/>
              <a:t>: Higher processing requirements and may still not fully inspect packet contents.</a:t>
            </a:r>
          </a:p>
          <a:p>
            <a:r>
              <a:rPr lang="en-US" b="1" dirty="0"/>
              <a:t>Proxy Firewall (Application Layer Firewall)</a:t>
            </a:r>
            <a:r>
              <a:rPr lang="en-US" dirty="0"/>
              <a:t>:</a:t>
            </a:r>
          </a:p>
          <a:p>
            <a:pPr lvl="1"/>
            <a:r>
              <a:rPr lang="en-US" b="1" dirty="0"/>
              <a:t>Description</a:t>
            </a:r>
            <a:r>
              <a:rPr lang="en-US" dirty="0"/>
              <a:t>: Acts as an intermediary between users and resources, inspecting packet contents at the application layer.</a:t>
            </a:r>
          </a:p>
          <a:p>
            <a:pPr lvl="1"/>
            <a:r>
              <a:rPr lang="en-US" b="1" dirty="0"/>
              <a:t>Advantages</a:t>
            </a:r>
            <a:r>
              <a:rPr lang="en-US" dirty="0"/>
              <a:t>: Thoroughly examines application-level data, blocking more advanced threats.</a:t>
            </a:r>
          </a:p>
          <a:p>
            <a:pPr lvl="1"/>
            <a:r>
              <a:rPr lang="en-US" b="1" dirty="0"/>
              <a:t>Limitations</a:t>
            </a:r>
            <a:r>
              <a:rPr lang="en-US" dirty="0"/>
              <a:t>: Slower than packet-filtering or stateful inspection firewalls and often requires additional configuration.</a:t>
            </a:r>
          </a:p>
        </p:txBody>
      </p:sp>
    </p:spTree>
    <p:extLst>
      <p:ext uri="{BB962C8B-B14F-4D97-AF65-F5344CB8AC3E}">
        <p14:creationId xmlns:p14="http://schemas.microsoft.com/office/powerpoint/2010/main" val="3056437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44D9-2078-48CD-BB9B-554FAB9FFB3B}"/>
              </a:ext>
            </a:extLst>
          </p:cNvPr>
          <p:cNvSpPr>
            <a:spLocks noGrp="1"/>
          </p:cNvSpPr>
          <p:nvPr>
            <p:ph type="title"/>
          </p:nvPr>
        </p:nvSpPr>
        <p:spPr>
          <a:xfrm>
            <a:off x="609600" y="92074"/>
            <a:ext cx="10972800" cy="639762"/>
          </a:xfrm>
        </p:spPr>
        <p:txBody>
          <a:bodyPr>
            <a:normAutofit fontScale="90000"/>
          </a:bodyPr>
          <a:lstStyle/>
          <a:p>
            <a:br>
              <a:rPr lang="en-US" b="1" dirty="0"/>
            </a:br>
            <a:r>
              <a:rPr lang="en-US" b="1" dirty="0"/>
              <a:t>Types of Firewalls</a:t>
            </a:r>
            <a:br>
              <a:rPr lang="en-US" b="1" dirty="0"/>
            </a:br>
            <a:endParaRPr lang="en-US" dirty="0"/>
          </a:p>
        </p:txBody>
      </p:sp>
      <p:sp>
        <p:nvSpPr>
          <p:cNvPr id="3" name="Content Placeholder 2">
            <a:extLst>
              <a:ext uri="{FF2B5EF4-FFF2-40B4-BE49-F238E27FC236}">
                <a16:creationId xmlns:a16="http://schemas.microsoft.com/office/drawing/2014/main" id="{BCD549AA-9157-40B5-9A43-A3BCB420858E}"/>
              </a:ext>
            </a:extLst>
          </p:cNvPr>
          <p:cNvSpPr>
            <a:spLocks noGrp="1"/>
          </p:cNvSpPr>
          <p:nvPr>
            <p:ph idx="1"/>
          </p:nvPr>
        </p:nvSpPr>
        <p:spPr>
          <a:xfrm>
            <a:off x="609600" y="731836"/>
            <a:ext cx="10972800" cy="5394329"/>
          </a:xfrm>
        </p:spPr>
        <p:txBody>
          <a:bodyPr>
            <a:normAutofit fontScale="70000" lnSpcReduction="20000"/>
          </a:bodyPr>
          <a:lstStyle/>
          <a:p>
            <a:r>
              <a:rPr lang="en-US" b="1" dirty="0"/>
              <a:t>Next-Generation Firewall (NGFW)</a:t>
            </a:r>
            <a:r>
              <a:rPr lang="en-US" dirty="0"/>
              <a:t>:</a:t>
            </a:r>
          </a:p>
          <a:p>
            <a:pPr lvl="1"/>
            <a:r>
              <a:rPr lang="en-US" b="1" dirty="0"/>
              <a:t>Description</a:t>
            </a:r>
            <a:r>
              <a:rPr lang="en-US" dirty="0"/>
              <a:t>: Incorporates traditional firewall functions with additional features like deep packet inspection, intrusion prevention, and application awareness.</a:t>
            </a:r>
          </a:p>
          <a:p>
            <a:pPr lvl="1"/>
            <a:r>
              <a:rPr lang="en-US" b="1" dirty="0"/>
              <a:t>Advantages</a:t>
            </a:r>
            <a:r>
              <a:rPr lang="en-US" dirty="0"/>
              <a:t>: Combines multiple layers of security, offering advanced threat detection and prevention.</a:t>
            </a:r>
          </a:p>
          <a:p>
            <a:pPr lvl="1"/>
            <a:r>
              <a:rPr lang="en-US" b="1" dirty="0"/>
              <a:t>Limitations</a:t>
            </a:r>
            <a:r>
              <a:rPr lang="en-US" dirty="0"/>
              <a:t>: More complex to manage and generally requires more processing power.</a:t>
            </a:r>
          </a:p>
          <a:p>
            <a:r>
              <a:rPr lang="en-US" b="1" dirty="0"/>
              <a:t>Unified Threat Management (UTM) Firewall</a:t>
            </a:r>
            <a:r>
              <a:rPr lang="en-US" dirty="0"/>
              <a:t>:</a:t>
            </a:r>
          </a:p>
          <a:p>
            <a:pPr lvl="1"/>
            <a:r>
              <a:rPr lang="en-US" b="1" dirty="0"/>
              <a:t>Description</a:t>
            </a:r>
            <a:r>
              <a:rPr lang="en-US" dirty="0"/>
              <a:t>: An all-in-one security solution that includes firewall, antivirus, intrusion detection/prevention, content filtering, and VPN.</a:t>
            </a:r>
          </a:p>
          <a:p>
            <a:pPr lvl="1"/>
            <a:r>
              <a:rPr lang="en-US" b="1" dirty="0"/>
              <a:t>Advantages</a:t>
            </a:r>
            <a:r>
              <a:rPr lang="en-US" dirty="0"/>
              <a:t>: Provides comprehensive security with simplified management.</a:t>
            </a:r>
          </a:p>
          <a:p>
            <a:pPr lvl="1"/>
            <a:r>
              <a:rPr lang="en-US" b="1" dirty="0"/>
              <a:t>Limitations</a:t>
            </a:r>
            <a:r>
              <a:rPr lang="en-US" dirty="0"/>
              <a:t>: Performance may suffer due to the all-in-one nature, particularly in high-traffic environments.</a:t>
            </a:r>
          </a:p>
          <a:p>
            <a:r>
              <a:rPr lang="en-US" b="1" dirty="0"/>
              <a:t>Cloud Firewall</a:t>
            </a:r>
            <a:r>
              <a:rPr lang="en-US" dirty="0"/>
              <a:t>:</a:t>
            </a:r>
          </a:p>
          <a:p>
            <a:pPr lvl="1"/>
            <a:r>
              <a:rPr lang="en-US" b="1" dirty="0"/>
              <a:t>Description</a:t>
            </a:r>
            <a:r>
              <a:rPr lang="en-US" dirty="0"/>
              <a:t>: Deployed in cloud environments to protect cloud-based resources, often provided by cloud service providers.</a:t>
            </a:r>
          </a:p>
          <a:p>
            <a:pPr lvl="1"/>
            <a:r>
              <a:rPr lang="en-US" b="1" dirty="0"/>
              <a:t>Advantages</a:t>
            </a:r>
            <a:r>
              <a:rPr lang="en-US" dirty="0"/>
              <a:t>: Scalable, flexible, and integrates with cloud infrastructure.</a:t>
            </a:r>
          </a:p>
          <a:p>
            <a:pPr lvl="1"/>
            <a:r>
              <a:rPr lang="en-US" b="1" dirty="0"/>
              <a:t>Limitations</a:t>
            </a:r>
            <a:r>
              <a:rPr lang="en-US" dirty="0"/>
              <a:t>: Dependent on cloud provider capabilities and may not integrate well with on-premise security measures.</a:t>
            </a:r>
          </a:p>
          <a:p>
            <a:endParaRPr lang="en-US" dirty="0"/>
          </a:p>
          <a:p>
            <a:endParaRPr lang="en-US" dirty="0"/>
          </a:p>
        </p:txBody>
      </p:sp>
    </p:spTree>
    <p:extLst>
      <p:ext uri="{BB962C8B-B14F-4D97-AF65-F5344CB8AC3E}">
        <p14:creationId xmlns:p14="http://schemas.microsoft.com/office/powerpoint/2010/main" val="1040829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C5A6-6BA6-4F42-B872-E2FA9A06EC06}"/>
              </a:ext>
            </a:extLst>
          </p:cNvPr>
          <p:cNvSpPr>
            <a:spLocks noGrp="1"/>
          </p:cNvSpPr>
          <p:nvPr>
            <p:ph type="title"/>
          </p:nvPr>
        </p:nvSpPr>
        <p:spPr>
          <a:xfrm>
            <a:off x="609600" y="92074"/>
            <a:ext cx="10972800" cy="639762"/>
          </a:xfrm>
        </p:spPr>
        <p:txBody>
          <a:bodyPr>
            <a:normAutofit fontScale="90000"/>
          </a:bodyPr>
          <a:lstStyle/>
          <a:p>
            <a:br>
              <a:rPr lang="en-US" b="1" dirty="0"/>
            </a:br>
            <a:r>
              <a:rPr lang="en-US" b="1" dirty="0"/>
              <a:t>Firewall Security Policies</a:t>
            </a:r>
            <a:br>
              <a:rPr lang="en-US" b="1" dirty="0"/>
            </a:br>
            <a:endParaRPr lang="en-US" dirty="0"/>
          </a:p>
        </p:txBody>
      </p:sp>
      <p:sp>
        <p:nvSpPr>
          <p:cNvPr id="3" name="Content Placeholder 2">
            <a:extLst>
              <a:ext uri="{FF2B5EF4-FFF2-40B4-BE49-F238E27FC236}">
                <a16:creationId xmlns:a16="http://schemas.microsoft.com/office/drawing/2014/main" id="{7CA64984-8976-4BDB-905F-374005E73A6E}"/>
              </a:ext>
            </a:extLst>
          </p:cNvPr>
          <p:cNvSpPr>
            <a:spLocks noGrp="1"/>
          </p:cNvSpPr>
          <p:nvPr>
            <p:ph idx="1"/>
          </p:nvPr>
        </p:nvSpPr>
        <p:spPr>
          <a:xfrm>
            <a:off x="609600" y="731837"/>
            <a:ext cx="10972800" cy="5394328"/>
          </a:xfrm>
        </p:spPr>
        <p:txBody>
          <a:bodyPr>
            <a:normAutofit/>
          </a:bodyPr>
          <a:lstStyle/>
          <a:p>
            <a:r>
              <a:rPr lang="en-US" b="1" dirty="0"/>
              <a:t>Allow/Deny Lists</a:t>
            </a:r>
            <a:r>
              <a:rPr lang="en-US" dirty="0"/>
              <a:t>: Configuring specific IP addresses, domains, or applications to be explicitly allowed or blocked.</a:t>
            </a:r>
          </a:p>
          <a:p>
            <a:r>
              <a:rPr lang="en-US" b="1" dirty="0"/>
              <a:t>Inbound/Outbound Rules</a:t>
            </a:r>
            <a:r>
              <a:rPr lang="en-US" dirty="0"/>
              <a:t>: Defining what type of traffic can enter or leave the network based on security requirements.</a:t>
            </a:r>
          </a:p>
          <a:p>
            <a:r>
              <a:rPr lang="en-US" b="1" dirty="0"/>
              <a:t>Application Policies</a:t>
            </a:r>
            <a:r>
              <a:rPr lang="en-US" dirty="0"/>
              <a:t>: Setting permissions for specific applications to control data flow based on business needs.</a:t>
            </a:r>
          </a:p>
          <a:p>
            <a:r>
              <a:rPr lang="en-US" b="1" dirty="0"/>
              <a:t>Time-Based Rules</a:t>
            </a:r>
            <a:r>
              <a:rPr lang="en-US" dirty="0"/>
              <a:t>: Setting restrictions based on the time of day (e.g., blocking access to specific resources outside business hours).</a:t>
            </a:r>
          </a:p>
          <a:p>
            <a:endParaRPr lang="en-US" dirty="0"/>
          </a:p>
        </p:txBody>
      </p:sp>
    </p:spTree>
    <p:extLst>
      <p:ext uri="{BB962C8B-B14F-4D97-AF65-F5344CB8AC3E}">
        <p14:creationId xmlns:p14="http://schemas.microsoft.com/office/powerpoint/2010/main" val="26462298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1B889-587B-4257-B51E-A2034F7EF0A9}"/>
              </a:ext>
            </a:extLst>
          </p:cNvPr>
          <p:cNvSpPr>
            <a:spLocks noGrp="1"/>
          </p:cNvSpPr>
          <p:nvPr>
            <p:ph type="title"/>
          </p:nvPr>
        </p:nvSpPr>
        <p:spPr>
          <a:xfrm>
            <a:off x="609600" y="39320"/>
            <a:ext cx="10972800" cy="715962"/>
          </a:xfrm>
        </p:spPr>
        <p:txBody>
          <a:bodyPr>
            <a:normAutofit fontScale="90000"/>
          </a:bodyPr>
          <a:lstStyle/>
          <a:p>
            <a:br>
              <a:rPr lang="en-US" b="1" dirty="0"/>
            </a:br>
            <a:r>
              <a:rPr lang="en-US" b="1" dirty="0"/>
              <a:t>Advantages of Firewalls</a:t>
            </a:r>
            <a:br>
              <a:rPr lang="en-US" b="1" dirty="0"/>
            </a:br>
            <a:endParaRPr lang="en-US" dirty="0"/>
          </a:p>
        </p:txBody>
      </p:sp>
      <p:sp>
        <p:nvSpPr>
          <p:cNvPr id="3" name="Content Placeholder 2">
            <a:extLst>
              <a:ext uri="{FF2B5EF4-FFF2-40B4-BE49-F238E27FC236}">
                <a16:creationId xmlns:a16="http://schemas.microsoft.com/office/drawing/2014/main" id="{F786C343-AA61-4769-A187-CAC345959C5C}"/>
              </a:ext>
            </a:extLst>
          </p:cNvPr>
          <p:cNvSpPr>
            <a:spLocks noGrp="1"/>
          </p:cNvSpPr>
          <p:nvPr>
            <p:ph idx="1"/>
          </p:nvPr>
        </p:nvSpPr>
        <p:spPr>
          <a:xfrm>
            <a:off x="609600" y="755283"/>
            <a:ext cx="10972800" cy="5370882"/>
          </a:xfrm>
        </p:spPr>
        <p:txBody>
          <a:bodyPr>
            <a:normAutofit fontScale="92500"/>
          </a:bodyPr>
          <a:lstStyle/>
          <a:p>
            <a:r>
              <a:rPr lang="en-US" b="1" dirty="0"/>
              <a:t>Enhanced Security</a:t>
            </a:r>
            <a:r>
              <a:rPr lang="en-US" dirty="0"/>
              <a:t>: Firewalls provide a critical layer of security, protecting networks from unauthorized access and known attacks.</a:t>
            </a:r>
          </a:p>
          <a:p>
            <a:r>
              <a:rPr lang="en-US" b="1" dirty="0"/>
              <a:t>Network Control</a:t>
            </a:r>
            <a:r>
              <a:rPr lang="en-US" dirty="0"/>
              <a:t>: Firewalls give administrators control over what traffic is allowed, ensuring only approved communication.</a:t>
            </a:r>
          </a:p>
          <a:p>
            <a:r>
              <a:rPr lang="en-US" b="1" dirty="0"/>
              <a:t>Data Integrity</a:t>
            </a:r>
            <a:r>
              <a:rPr lang="en-US" dirty="0"/>
              <a:t>: By preventing unwanted access, firewalls help maintain the integrity of data and prevent unauthorized modifications.</a:t>
            </a:r>
          </a:p>
          <a:p>
            <a:r>
              <a:rPr lang="en-US" b="1" dirty="0"/>
              <a:t>Logging and Monitoring</a:t>
            </a:r>
            <a:r>
              <a:rPr lang="en-US" dirty="0"/>
              <a:t>: Continuous logging and monitoring capabilities help identify potential threats and suspicious activity.</a:t>
            </a:r>
          </a:p>
          <a:p>
            <a:endParaRPr lang="en-US" dirty="0"/>
          </a:p>
        </p:txBody>
      </p:sp>
    </p:spTree>
    <p:extLst>
      <p:ext uri="{BB962C8B-B14F-4D97-AF65-F5344CB8AC3E}">
        <p14:creationId xmlns:p14="http://schemas.microsoft.com/office/powerpoint/2010/main" val="3112483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AE82-CA33-4EB1-B6DA-D1F2801ACCBA}"/>
              </a:ext>
            </a:extLst>
          </p:cNvPr>
          <p:cNvSpPr>
            <a:spLocks noGrp="1"/>
          </p:cNvSpPr>
          <p:nvPr>
            <p:ph type="title"/>
          </p:nvPr>
        </p:nvSpPr>
        <p:spPr>
          <a:xfrm>
            <a:off x="603738" y="0"/>
            <a:ext cx="10972800" cy="457198"/>
          </a:xfrm>
        </p:spPr>
        <p:txBody>
          <a:bodyPr>
            <a:normAutofit fontScale="90000"/>
          </a:bodyPr>
          <a:lstStyle/>
          <a:p>
            <a:br>
              <a:rPr lang="en-US" b="1" dirty="0"/>
            </a:br>
            <a:r>
              <a:rPr lang="en-US" b="1" dirty="0"/>
              <a:t>Disadvantages of Firewalls</a:t>
            </a:r>
            <a:br>
              <a:rPr lang="en-US" b="1" dirty="0"/>
            </a:br>
            <a:endParaRPr lang="en-US" dirty="0"/>
          </a:p>
        </p:txBody>
      </p:sp>
      <p:sp>
        <p:nvSpPr>
          <p:cNvPr id="3" name="Content Placeholder 2">
            <a:extLst>
              <a:ext uri="{FF2B5EF4-FFF2-40B4-BE49-F238E27FC236}">
                <a16:creationId xmlns:a16="http://schemas.microsoft.com/office/drawing/2014/main" id="{EE3DF4AC-8F1B-469E-8A6E-AD9EDE98217E}"/>
              </a:ext>
            </a:extLst>
          </p:cNvPr>
          <p:cNvSpPr>
            <a:spLocks noGrp="1"/>
          </p:cNvSpPr>
          <p:nvPr>
            <p:ph idx="1"/>
          </p:nvPr>
        </p:nvSpPr>
        <p:spPr>
          <a:xfrm>
            <a:off x="609600" y="685801"/>
            <a:ext cx="10972800" cy="5440364"/>
          </a:xfrm>
        </p:spPr>
        <p:txBody>
          <a:bodyPr>
            <a:normAutofit lnSpcReduction="10000"/>
          </a:bodyPr>
          <a:lstStyle/>
          <a:p>
            <a:r>
              <a:rPr lang="en-US" b="1" dirty="0"/>
              <a:t>Limited to Known Threats</a:t>
            </a:r>
            <a:r>
              <a:rPr lang="en-US" dirty="0"/>
              <a:t>: Firewalls may struggle to detect unknown or zero-day attacks without advanced threat detection.</a:t>
            </a:r>
          </a:p>
          <a:p>
            <a:r>
              <a:rPr lang="en-US" b="1" dirty="0"/>
              <a:t>Complexity</a:t>
            </a:r>
            <a:r>
              <a:rPr lang="en-US" dirty="0"/>
              <a:t>: Configuring and managing a firewall, especially in large or complex environments, can be challenging and may require dedicated IT resources.</a:t>
            </a:r>
          </a:p>
          <a:p>
            <a:r>
              <a:rPr lang="en-US" b="1" dirty="0"/>
              <a:t>Performance Overhead</a:t>
            </a:r>
            <a:r>
              <a:rPr lang="en-US" dirty="0"/>
              <a:t>: Firewalls, especially those with DPI and intrusion prevention, can introduce latency and reduce network performance.</a:t>
            </a:r>
          </a:p>
          <a:p>
            <a:r>
              <a:rPr lang="en-US" b="1" dirty="0"/>
              <a:t>False Positives</a:t>
            </a:r>
            <a:r>
              <a:rPr lang="en-US" dirty="0"/>
              <a:t>: Strict rules may lead to false positives, blocking legitimate traffic and disrupting business operations.</a:t>
            </a:r>
          </a:p>
          <a:p>
            <a:endParaRPr lang="en-US" dirty="0"/>
          </a:p>
        </p:txBody>
      </p:sp>
    </p:spTree>
    <p:extLst>
      <p:ext uri="{BB962C8B-B14F-4D97-AF65-F5344CB8AC3E}">
        <p14:creationId xmlns:p14="http://schemas.microsoft.com/office/powerpoint/2010/main" val="16436575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8464-0C40-4FA3-AFA3-6DFFE1AFCF3D}"/>
              </a:ext>
            </a:extLst>
          </p:cNvPr>
          <p:cNvSpPr>
            <a:spLocks noGrp="1"/>
          </p:cNvSpPr>
          <p:nvPr>
            <p:ph type="title"/>
          </p:nvPr>
        </p:nvSpPr>
        <p:spPr>
          <a:xfrm>
            <a:off x="609600" y="274638"/>
            <a:ext cx="10972800" cy="868362"/>
          </a:xfrm>
        </p:spPr>
        <p:txBody>
          <a:bodyPr>
            <a:normAutofit fontScale="90000"/>
          </a:bodyPr>
          <a:lstStyle/>
          <a:p>
            <a:br>
              <a:rPr lang="en-US" b="1" dirty="0"/>
            </a:br>
            <a:r>
              <a:rPr lang="en-US" b="1" dirty="0"/>
              <a:t>Use Cases for Firewalls</a:t>
            </a:r>
            <a:br>
              <a:rPr lang="en-US" b="1" dirty="0"/>
            </a:br>
            <a:endParaRPr lang="en-US" dirty="0"/>
          </a:p>
        </p:txBody>
      </p:sp>
      <p:sp>
        <p:nvSpPr>
          <p:cNvPr id="3" name="Content Placeholder 2">
            <a:extLst>
              <a:ext uri="{FF2B5EF4-FFF2-40B4-BE49-F238E27FC236}">
                <a16:creationId xmlns:a16="http://schemas.microsoft.com/office/drawing/2014/main" id="{9371E98B-B4EF-4002-954A-9913631F792A}"/>
              </a:ext>
            </a:extLst>
          </p:cNvPr>
          <p:cNvSpPr>
            <a:spLocks noGrp="1"/>
          </p:cNvSpPr>
          <p:nvPr>
            <p:ph idx="1"/>
          </p:nvPr>
        </p:nvSpPr>
        <p:spPr>
          <a:xfrm>
            <a:off x="609600" y="1143001"/>
            <a:ext cx="10972800" cy="4983164"/>
          </a:xfrm>
        </p:spPr>
        <p:txBody>
          <a:bodyPr>
            <a:normAutofit fontScale="92500" lnSpcReduction="10000"/>
          </a:bodyPr>
          <a:lstStyle/>
          <a:p>
            <a:r>
              <a:rPr lang="en-US" b="1" dirty="0"/>
              <a:t>Enterprise Perimeter Security</a:t>
            </a:r>
            <a:r>
              <a:rPr lang="en-US" dirty="0"/>
              <a:t>: Protects company networks from outside threats by filtering incoming and outgoing internet traffic.</a:t>
            </a:r>
          </a:p>
          <a:p>
            <a:r>
              <a:rPr lang="en-US" b="1" dirty="0"/>
              <a:t>Cloud Security</a:t>
            </a:r>
            <a:r>
              <a:rPr lang="en-US" dirty="0"/>
              <a:t>: Secures cloud resources and isolates sensitive data within cloud infrastructure.</a:t>
            </a:r>
          </a:p>
          <a:p>
            <a:r>
              <a:rPr lang="en-US" b="1" dirty="0"/>
              <a:t>Endpoint Protection</a:t>
            </a:r>
            <a:r>
              <a:rPr lang="en-US" dirty="0"/>
              <a:t>: Protects individual devices, like laptops and servers, from unauthorized access and malware.</a:t>
            </a:r>
          </a:p>
          <a:p>
            <a:r>
              <a:rPr lang="en-US" b="1" dirty="0"/>
              <a:t>Branch Office Security</a:t>
            </a:r>
            <a:r>
              <a:rPr lang="en-US" dirty="0"/>
              <a:t>: Allows secure access between branch offices and the main network, often using VPNs and access control.</a:t>
            </a:r>
          </a:p>
          <a:p>
            <a:r>
              <a:rPr lang="en-US" b="1" dirty="0"/>
              <a:t>Web Application Security</a:t>
            </a:r>
            <a:r>
              <a:rPr lang="en-US" dirty="0"/>
              <a:t>: Protects web servers from attacks by filtering HTTP/HTTPS traffic and preventing unauthorized access.</a:t>
            </a:r>
          </a:p>
          <a:p>
            <a:endParaRPr lang="en-US" dirty="0"/>
          </a:p>
        </p:txBody>
      </p:sp>
    </p:spTree>
    <p:extLst>
      <p:ext uri="{BB962C8B-B14F-4D97-AF65-F5344CB8AC3E}">
        <p14:creationId xmlns:p14="http://schemas.microsoft.com/office/powerpoint/2010/main" val="39644092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0B597-5833-4B3E-A0BB-4508C43D4BA7}"/>
              </a:ext>
            </a:extLst>
          </p:cNvPr>
          <p:cNvSpPr>
            <a:spLocks noGrp="1"/>
          </p:cNvSpPr>
          <p:nvPr>
            <p:ph type="title"/>
          </p:nvPr>
        </p:nvSpPr>
        <p:spPr/>
        <p:txBody>
          <a:bodyPr>
            <a:normAutofit fontScale="90000"/>
          </a:bodyPr>
          <a:lstStyle/>
          <a:p>
            <a:r>
              <a:rPr lang="en-US" b="1" dirty="0"/>
              <a:t>Repeater</a:t>
            </a:r>
            <a:br>
              <a:rPr lang="en-US" b="1" dirty="0"/>
            </a:br>
            <a:endParaRPr lang="en-US" dirty="0"/>
          </a:p>
        </p:txBody>
      </p:sp>
      <p:sp>
        <p:nvSpPr>
          <p:cNvPr id="3" name="Content Placeholder 2">
            <a:extLst>
              <a:ext uri="{FF2B5EF4-FFF2-40B4-BE49-F238E27FC236}">
                <a16:creationId xmlns:a16="http://schemas.microsoft.com/office/drawing/2014/main" id="{18FCF876-5B9D-4E17-88DA-F032B617F754}"/>
              </a:ext>
            </a:extLst>
          </p:cNvPr>
          <p:cNvSpPr>
            <a:spLocks noGrp="1"/>
          </p:cNvSpPr>
          <p:nvPr>
            <p:ph idx="1"/>
          </p:nvPr>
        </p:nvSpPr>
        <p:spPr>
          <a:xfrm>
            <a:off x="609600" y="1143001"/>
            <a:ext cx="10972800" cy="4983164"/>
          </a:xfrm>
        </p:spPr>
        <p:txBody>
          <a:bodyPr>
            <a:normAutofit/>
          </a:bodyPr>
          <a:lstStyle/>
          <a:p>
            <a:r>
              <a:rPr lang="en-US" b="1" dirty="0"/>
              <a:t>Description</a:t>
            </a:r>
            <a:r>
              <a:rPr lang="en-US" dirty="0"/>
              <a:t>: A </a:t>
            </a:r>
            <a:r>
              <a:rPr lang="en-US" b="1" dirty="0"/>
              <a:t>repeater</a:t>
            </a:r>
            <a:r>
              <a:rPr lang="en-US" dirty="0"/>
              <a:t> is a network device that amplifies or regenerates signals in a communication channel, allowing data to travel longer distances without degradation. </a:t>
            </a:r>
          </a:p>
          <a:p>
            <a:r>
              <a:rPr lang="en-US" b="1" dirty="0"/>
              <a:t>Function</a:t>
            </a:r>
            <a:r>
              <a:rPr lang="en-US" dirty="0"/>
              <a:t>: </a:t>
            </a:r>
            <a:r>
              <a:rPr lang="en-US" b="1" dirty="0"/>
              <a:t>Repeaters</a:t>
            </a:r>
            <a:r>
              <a:rPr lang="en-US" dirty="0"/>
              <a:t> operate at the </a:t>
            </a:r>
            <a:r>
              <a:rPr lang="en-US" b="1" dirty="0"/>
              <a:t>Physical Layer (Layer 1)</a:t>
            </a:r>
            <a:r>
              <a:rPr lang="en-US" dirty="0"/>
              <a:t> of the OSI model, and they are used to extend the range of a network by retransmitting incoming signals to maintain signal strength.</a:t>
            </a:r>
            <a:endParaRPr lang="en-US" b="1" dirty="0"/>
          </a:p>
          <a:p>
            <a:r>
              <a:rPr lang="en-US" b="1" dirty="0"/>
              <a:t>Application</a:t>
            </a:r>
            <a:r>
              <a:rPr lang="en-US" dirty="0"/>
              <a:t>: Commonly used in both Ethernet networks and wireless networks to bridge gaps between devices.</a:t>
            </a:r>
          </a:p>
          <a:p>
            <a:endParaRPr lang="en-US" dirty="0"/>
          </a:p>
        </p:txBody>
      </p:sp>
    </p:spTree>
    <p:extLst>
      <p:ext uri="{BB962C8B-B14F-4D97-AF65-F5344CB8AC3E}">
        <p14:creationId xmlns:p14="http://schemas.microsoft.com/office/powerpoint/2010/main" val="18991229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FABE7-4CAE-45E1-BCAD-30F0FB62BB46}"/>
              </a:ext>
            </a:extLst>
          </p:cNvPr>
          <p:cNvSpPr>
            <a:spLocks noGrp="1"/>
          </p:cNvSpPr>
          <p:nvPr>
            <p:ph type="title"/>
          </p:nvPr>
        </p:nvSpPr>
        <p:spPr>
          <a:xfrm>
            <a:off x="597877" y="168274"/>
            <a:ext cx="10972800" cy="563562"/>
          </a:xfrm>
        </p:spPr>
        <p:txBody>
          <a:bodyPr>
            <a:normAutofit fontScale="90000"/>
          </a:bodyPr>
          <a:lstStyle/>
          <a:p>
            <a:br>
              <a:rPr lang="en-US" b="1" dirty="0"/>
            </a:br>
            <a:r>
              <a:rPr lang="en-US" b="1" dirty="0"/>
              <a:t>Key Functions of a Repeater</a:t>
            </a:r>
            <a:br>
              <a:rPr lang="en-US" b="1" dirty="0"/>
            </a:br>
            <a:endParaRPr lang="en-US" dirty="0"/>
          </a:p>
        </p:txBody>
      </p:sp>
      <p:sp>
        <p:nvSpPr>
          <p:cNvPr id="3" name="Content Placeholder 2">
            <a:extLst>
              <a:ext uri="{FF2B5EF4-FFF2-40B4-BE49-F238E27FC236}">
                <a16:creationId xmlns:a16="http://schemas.microsoft.com/office/drawing/2014/main" id="{A24FB26E-573D-4FE3-9212-6204404880DE}"/>
              </a:ext>
            </a:extLst>
          </p:cNvPr>
          <p:cNvSpPr>
            <a:spLocks noGrp="1"/>
          </p:cNvSpPr>
          <p:nvPr>
            <p:ph idx="1"/>
          </p:nvPr>
        </p:nvSpPr>
        <p:spPr>
          <a:xfrm>
            <a:off x="609600" y="990601"/>
            <a:ext cx="10972800" cy="5135564"/>
          </a:xfrm>
        </p:spPr>
        <p:txBody>
          <a:bodyPr>
            <a:normAutofit fontScale="92500"/>
          </a:bodyPr>
          <a:lstStyle/>
          <a:p>
            <a:r>
              <a:rPr lang="en-US" b="1" dirty="0"/>
              <a:t>Signal Amplification</a:t>
            </a:r>
            <a:r>
              <a:rPr lang="en-US" dirty="0"/>
              <a:t>: Amplifies weak or degraded signals so they can travel further without loss of quality.</a:t>
            </a:r>
          </a:p>
          <a:p>
            <a:r>
              <a:rPr lang="en-US" b="1" dirty="0"/>
              <a:t>Range Extension</a:t>
            </a:r>
            <a:r>
              <a:rPr lang="en-US" dirty="0"/>
              <a:t>: Extends the reach of a network by allowing data to cover distances beyond the inherent limitation of the medium.</a:t>
            </a:r>
          </a:p>
          <a:p>
            <a:r>
              <a:rPr lang="en-US" b="1" dirty="0"/>
              <a:t>Signal Regeneration</a:t>
            </a:r>
            <a:r>
              <a:rPr lang="en-US" dirty="0"/>
              <a:t>: Some repeaters regenerate the original digital signal (called digital repeaters), eliminating noise before retransmission.</a:t>
            </a:r>
          </a:p>
          <a:p>
            <a:r>
              <a:rPr lang="en-US" b="1" dirty="0"/>
              <a:t>Media Conversion (in some cases)</a:t>
            </a:r>
            <a:r>
              <a:rPr lang="en-US" dirty="0"/>
              <a:t>: Certain types of repeaters can convert one type of media (e.g., fiber to copper) while preserving signal integrity.</a:t>
            </a:r>
          </a:p>
          <a:p>
            <a:endParaRPr lang="en-US" dirty="0"/>
          </a:p>
        </p:txBody>
      </p:sp>
    </p:spTree>
    <p:extLst>
      <p:ext uri="{BB962C8B-B14F-4D97-AF65-F5344CB8AC3E}">
        <p14:creationId xmlns:p14="http://schemas.microsoft.com/office/powerpoint/2010/main" val="19118009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3EBC4-B7CF-460F-9E35-993DDD815B39}"/>
              </a:ext>
            </a:extLst>
          </p:cNvPr>
          <p:cNvSpPr>
            <a:spLocks noGrp="1"/>
          </p:cNvSpPr>
          <p:nvPr>
            <p:ph type="title"/>
          </p:nvPr>
        </p:nvSpPr>
        <p:spPr>
          <a:xfrm>
            <a:off x="609600" y="9378"/>
            <a:ext cx="10972800" cy="563562"/>
          </a:xfrm>
        </p:spPr>
        <p:txBody>
          <a:bodyPr>
            <a:normAutofit fontScale="90000"/>
          </a:bodyPr>
          <a:lstStyle/>
          <a:p>
            <a:br>
              <a:rPr lang="en-US" b="1" dirty="0"/>
            </a:br>
            <a:r>
              <a:rPr lang="en-US" b="1" dirty="0"/>
              <a:t>Types of Repeaters</a:t>
            </a:r>
            <a:br>
              <a:rPr lang="en-US" b="1" dirty="0"/>
            </a:br>
            <a:endParaRPr lang="en-US" dirty="0"/>
          </a:p>
        </p:txBody>
      </p:sp>
      <p:sp>
        <p:nvSpPr>
          <p:cNvPr id="3" name="Content Placeholder 2">
            <a:extLst>
              <a:ext uri="{FF2B5EF4-FFF2-40B4-BE49-F238E27FC236}">
                <a16:creationId xmlns:a16="http://schemas.microsoft.com/office/drawing/2014/main" id="{6E51190D-1587-4DB1-A105-E27B3547B038}"/>
              </a:ext>
            </a:extLst>
          </p:cNvPr>
          <p:cNvSpPr>
            <a:spLocks noGrp="1"/>
          </p:cNvSpPr>
          <p:nvPr>
            <p:ph idx="1"/>
          </p:nvPr>
        </p:nvSpPr>
        <p:spPr>
          <a:xfrm>
            <a:off x="609600" y="685801"/>
            <a:ext cx="10972800" cy="5440364"/>
          </a:xfrm>
        </p:spPr>
        <p:txBody>
          <a:bodyPr>
            <a:normAutofit fontScale="70000" lnSpcReduction="20000"/>
          </a:bodyPr>
          <a:lstStyle/>
          <a:p>
            <a:r>
              <a:rPr lang="en-US" b="1" dirty="0"/>
              <a:t>Analog Repeater</a:t>
            </a:r>
            <a:r>
              <a:rPr lang="en-US" dirty="0"/>
              <a:t>:</a:t>
            </a:r>
          </a:p>
          <a:p>
            <a:pPr lvl="1"/>
            <a:r>
              <a:rPr lang="en-US" b="1" dirty="0"/>
              <a:t>Description</a:t>
            </a:r>
            <a:r>
              <a:rPr lang="en-US" dirty="0"/>
              <a:t>: Amplifies analog signals, used primarily in analog networks.</a:t>
            </a:r>
          </a:p>
          <a:p>
            <a:pPr lvl="1"/>
            <a:r>
              <a:rPr lang="en-US" b="1" dirty="0"/>
              <a:t>Applications</a:t>
            </a:r>
            <a:r>
              <a:rPr lang="en-US" dirty="0"/>
              <a:t>: Used in older analog communication systems like radio and some telecommunication networks.</a:t>
            </a:r>
          </a:p>
          <a:p>
            <a:pPr lvl="1"/>
            <a:r>
              <a:rPr lang="en-US" b="1" dirty="0"/>
              <a:t>Limitations</a:t>
            </a:r>
            <a:r>
              <a:rPr lang="en-US" dirty="0"/>
              <a:t>: Amplifies both the signal and any noise or distortion present.</a:t>
            </a:r>
          </a:p>
          <a:p>
            <a:r>
              <a:rPr lang="en-US" b="1" dirty="0"/>
              <a:t>Digital Repeater</a:t>
            </a:r>
            <a:r>
              <a:rPr lang="en-US" dirty="0"/>
              <a:t>:</a:t>
            </a:r>
          </a:p>
          <a:p>
            <a:pPr lvl="1"/>
            <a:r>
              <a:rPr lang="en-US" b="1" dirty="0"/>
              <a:t>Description</a:t>
            </a:r>
            <a:r>
              <a:rPr lang="en-US" dirty="0"/>
              <a:t>: Regenerates digital signals by cleaning up the signal before retransmission, reducing noise.</a:t>
            </a:r>
          </a:p>
          <a:p>
            <a:pPr lvl="1"/>
            <a:r>
              <a:rPr lang="en-US" b="1" dirty="0"/>
              <a:t>Applications</a:t>
            </a:r>
            <a:r>
              <a:rPr lang="en-US" dirty="0"/>
              <a:t>: Widely used in digital networks, such as Ethernet or wireless networks.</a:t>
            </a:r>
          </a:p>
          <a:p>
            <a:pPr lvl="1"/>
            <a:r>
              <a:rPr lang="en-US" b="1" dirty="0"/>
              <a:t>Advantages</a:t>
            </a:r>
            <a:r>
              <a:rPr lang="en-US" dirty="0"/>
              <a:t>: Improves signal quality by eliminating noise and interference before retransmission.</a:t>
            </a:r>
          </a:p>
          <a:p>
            <a:r>
              <a:rPr lang="en-US" b="1" dirty="0"/>
              <a:t>Wi-Fi Repeater</a:t>
            </a:r>
            <a:r>
              <a:rPr lang="en-US" dirty="0"/>
              <a:t>:</a:t>
            </a:r>
          </a:p>
          <a:p>
            <a:pPr lvl="1"/>
            <a:r>
              <a:rPr lang="en-US" b="1" dirty="0"/>
              <a:t>Description</a:t>
            </a:r>
            <a:r>
              <a:rPr lang="en-US" dirty="0"/>
              <a:t>: Extends the range of a Wi-Fi network by receiving, amplifying, and retransmitting the Wi-Fi signal.</a:t>
            </a:r>
          </a:p>
          <a:p>
            <a:pPr lvl="1"/>
            <a:r>
              <a:rPr lang="en-US" b="1" dirty="0"/>
              <a:t>Applications</a:t>
            </a:r>
            <a:r>
              <a:rPr lang="en-US" dirty="0"/>
              <a:t>: Commonly used in homes or small businesses to extend Wi-Fi coverage.</a:t>
            </a:r>
          </a:p>
          <a:p>
            <a:pPr lvl="1"/>
            <a:r>
              <a:rPr lang="en-US" b="1" dirty="0"/>
              <a:t>Limitations</a:t>
            </a:r>
            <a:r>
              <a:rPr lang="en-US" dirty="0"/>
              <a:t>: May reduce network speed, as it shares the same channel for both receiving and transmitting.</a:t>
            </a:r>
          </a:p>
        </p:txBody>
      </p:sp>
    </p:spTree>
    <p:extLst>
      <p:ext uri="{BB962C8B-B14F-4D97-AF65-F5344CB8AC3E}">
        <p14:creationId xmlns:p14="http://schemas.microsoft.com/office/powerpoint/2010/main" val="26902558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4439F-7CB9-4FFE-B724-70799A29A8EC}"/>
              </a:ext>
            </a:extLst>
          </p:cNvPr>
          <p:cNvSpPr>
            <a:spLocks noGrp="1"/>
          </p:cNvSpPr>
          <p:nvPr>
            <p:ph type="title"/>
          </p:nvPr>
        </p:nvSpPr>
        <p:spPr/>
        <p:txBody>
          <a:bodyPr>
            <a:normAutofit fontScale="90000"/>
          </a:bodyPr>
          <a:lstStyle/>
          <a:p>
            <a:br>
              <a:rPr lang="en-US" b="1" dirty="0"/>
            </a:br>
            <a:r>
              <a:rPr lang="en-US" b="1" dirty="0"/>
              <a:t>Types of Repeaters</a:t>
            </a:r>
            <a:br>
              <a:rPr lang="en-US" b="1" dirty="0"/>
            </a:br>
            <a:endParaRPr lang="en-US" dirty="0"/>
          </a:p>
        </p:txBody>
      </p:sp>
      <p:sp>
        <p:nvSpPr>
          <p:cNvPr id="3" name="Content Placeholder 2">
            <a:extLst>
              <a:ext uri="{FF2B5EF4-FFF2-40B4-BE49-F238E27FC236}">
                <a16:creationId xmlns:a16="http://schemas.microsoft.com/office/drawing/2014/main" id="{EC86CB11-C8AE-4F50-B8B9-4D8725F728A3}"/>
              </a:ext>
            </a:extLst>
          </p:cNvPr>
          <p:cNvSpPr>
            <a:spLocks noGrp="1"/>
          </p:cNvSpPr>
          <p:nvPr>
            <p:ph idx="1"/>
          </p:nvPr>
        </p:nvSpPr>
        <p:spPr>
          <a:xfrm>
            <a:off x="609600" y="1417639"/>
            <a:ext cx="10972800" cy="4708526"/>
          </a:xfrm>
        </p:spPr>
        <p:txBody>
          <a:bodyPr>
            <a:normAutofit fontScale="77500" lnSpcReduction="20000"/>
          </a:bodyPr>
          <a:lstStyle/>
          <a:p>
            <a:r>
              <a:rPr lang="en-US" b="1" dirty="0"/>
              <a:t>Optical Repeater</a:t>
            </a:r>
            <a:r>
              <a:rPr lang="en-US" dirty="0"/>
              <a:t>:</a:t>
            </a:r>
          </a:p>
          <a:p>
            <a:pPr lvl="1"/>
            <a:r>
              <a:rPr lang="en-US" b="1" dirty="0"/>
              <a:t>Description</a:t>
            </a:r>
            <a:r>
              <a:rPr lang="en-US" dirty="0"/>
              <a:t>: Amplifies optical signals, commonly used in fiber-optic communication networks.</a:t>
            </a:r>
          </a:p>
          <a:p>
            <a:pPr lvl="1"/>
            <a:r>
              <a:rPr lang="en-US" b="1" dirty="0"/>
              <a:t>Applications</a:t>
            </a:r>
            <a:r>
              <a:rPr lang="en-US" dirty="0"/>
              <a:t>: Extends the range of fiber-optic cables, allowing high-speed data transmission over long distances.</a:t>
            </a:r>
          </a:p>
          <a:p>
            <a:pPr lvl="1"/>
            <a:r>
              <a:rPr lang="en-US" b="1" dirty="0"/>
              <a:t>Advantages</a:t>
            </a:r>
            <a:r>
              <a:rPr lang="en-US" dirty="0"/>
              <a:t>: Maintains high signal quality over large distances, commonly used in long-distance communication infrastructure.</a:t>
            </a:r>
          </a:p>
          <a:p>
            <a:r>
              <a:rPr lang="en-US" b="1" dirty="0"/>
              <a:t>Satellite Repeater (Transponder)</a:t>
            </a:r>
            <a:r>
              <a:rPr lang="en-US" dirty="0"/>
              <a:t>:</a:t>
            </a:r>
          </a:p>
          <a:p>
            <a:pPr lvl="1"/>
            <a:r>
              <a:rPr lang="en-US" b="1" dirty="0"/>
              <a:t>Description</a:t>
            </a:r>
            <a:r>
              <a:rPr lang="en-US" dirty="0"/>
              <a:t>: A repeater located on a satellite that receives signals from Earth, amplifies them, and retransmits them back to other locations on Earth.</a:t>
            </a:r>
          </a:p>
          <a:p>
            <a:pPr lvl="1"/>
            <a:r>
              <a:rPr lang="en-US" b="1" dirty="0"/>
              <a:t>Applications</a:t>
            </a:r>
            <a:r>
              <a:rPr lang="en-US" dirty="0"/>
              <a:t>: Essential for satellite communications, covering vast geographical areas.</a:t>
            </a:r>
          </a:p>
          <a:p>
            <a:pPr lvl="1"/>
            <a:r>
              <a:rPr lang="en-US" b="1" dirty="0"/>
              <a:t>Advantages</a:t>
            </a:r>
            <a:r>
              <a:rPr lang="en-US" dirty="0"/>
              <a:t>: Enables global communication, especially where terrestrial infrastructure is unavailable.</a:t>
            </a:r>
          </a:p>
          <a:p>
            <a:endParaRPr lang="en-US" dirty="0"/>
          </a:p>
          <a:p>
            <a:endParaRPr lang="en-US" dirty="0"/>
          </a:p>
        </p:txBody>
      </p:sp>
    </p:spTree>
    <p:extLst>
      <p:ext uri="{BB962C8B-B14F-4D97-AF65-F5344CB8AC3E}">
        <p14:creationId xmlns:p14="http://schemas.microsoft.com/office/powerpoint/2010/main" val="28155394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2B4D0-0AED-474D-8F9C-CE80EFF5EBAA}"/>
              </a:ext>
            </a:extLst>
          </p:cNvPr>
          <p:cNvSpPr>
            <a:spLocks noGrp="1"/>
          </p:cNvSpPr>
          <p:nvPr>
            <p:ph type="title"/>
          </p:nvPr>
        </p:nvSpPr>
        <p:spPr>
          <a:xfrm>
            <a:off x="577948" y="152400"/>
            <a:ext cx="10972800" cy="715962"/>
          </a:xfrm>
        </p:spPr>
        <p:txBody>
          <a:bodyPr>
            <a:normAutofit fontScale="90000"/>
          </a:bodyPr>
          <a:lstStyle/>
          <a:p>
            <a:br>
              <a:rPr lang="en-US" b="1" dirty="0"/>
            </a:br>
            <a:r>
              <a:rPr lang="en-US" b="1" dirty="0"/>
              <a:t>Applications of Repeaters</a:t>
            </a:r>
            <a:br>
              <a:rPr lang="en-US" b="1" dirty="0"/>
            </a:br>
            <a:endParaRPr lang="en-US" dirty="0"/>
          </a:p>
        </p:txBody>
      </p:sp>
      <p:sp>
        <p:nvSpPr>
          <p:cNvPr id="3" name="Content Placeholder 2">
            <a:extLst>
              <a:ext uri="{FF2B5EF4-FFF2-40B4-BE49-F238E27FC236}">
                <a16:creationId xmlns:a16="http://schemas.microsoft.com/office/drawing/2014/main" id="{A8F94407-81BF-48E7-B2B6-CFA1D91DF976}"/>
              </a:ext>
            </a:extLst>
          </p:cNvPr>
          <p:cNvSpPr>
            <a:spLocks noGrp="1"/>
          </p:cNvSpPr>
          <p:nvPr>
            <p:ph idx="1"/>
          </p:nvPr>
        </p:nvSpPr>
        <p:spPr>
          <a:xfrm>
            <a:off x="609600" y="990601"/>
            <a:ext cx="10972800" cy="5135564"/>
          </a:xfrm>
        </p:spPr>
        <p:txBody>
          <a:bodyPr>
            <a:normAutofit fontScale="77500" lnSpcReduction="20000"/>
          </a:bodyPr>
          <a:lstStyle/>
          <a:p>
            <a:r>
              <a:rPr lang="en-US" b="1" dirty="0"/>
              <a:t>Local Area Networks (LANs)</a:t>
            </a:r>
            <a:r>
              <a:rPr lang="en-US" dirty="0"/>
              <a:t>:</a:t>
            </a:r>
          </a:p>
          <a:p>
            <a:pPr lvl="1"/>
            <a:r>
              <a:rPr lang="en-US" dirty="0"/>
              <a:t>Extends the range of Ethernet cables in LANs, allowing for larger network layouts without sacrificing performance.</a:t>
            </a:r>
          </a:p>
          <a:p>
            <a:r>
              <a:rPr lang="en-US" b="1" dirty="0"/>
              <a:t>Wi-Fi Networks</a:t>
            </a:r>
            <a:r>
              <a:rPr lang="en-US" dirty="0"/>
              <a:t>:</a:t>
            </a:r>
          </a:p>
          <a:p>
            <a:pPr lvl="1"/>
            <a:r>
              <a:rPr lang="en-US" dirty="0"/>
              <a:t>Extends Wi-Fi signals in buildings or large open spaces, reducing dead zones and enhancing coverage.</a:t>
            </a:r>
          </a:p>
          <a:p>
            <a:r>
              <a:rPr lang="en-US" b="1" dirty="0"/>
              <a:t>Fiber-Optic Communication</a:t>
            </a:r>
            <a:r>
              <a:rPr lang="en-US" dirty="0"/>
              <a:t>:</a:t>
            </a:r>
          </a:p>
          <a:p>
            <a:pPr lvl="1"/>
            <a:r>
              <a:rPr lang="en-US" dirty="0"/>
              <a:t>Essential in long-haul fiber-optic cables, like those in telecommunication infrastructure, to transmit data over large distances without degradation.</a:t>
            </a:r>
          </a:p>
          <a:p>
            <a:r>
              <a:rPr lang="en-US" b="1" dirty="0"/>
              <a:t>Satellite Communications</a:t>
            </a:r>
            <a:r>
              <a:rPr lang="en-US" dirty="0"/>
              <a:t>:</a:t>
            </a:r>
          </a:p>
          <a:p>
            <a:pPr lvl="1"/>
            <a:r>
              <a:rPr lang="en-US" dirty="0"/>
              <a:t>Satellites use repeaters to receive signals from one region and transmit them to another, essential for global broadcasts and data exchange.</a:t>
            </a:r>
          </a:p>
          <a:p>
            <a:r>
              <a:rPr lang="en-US" b="1" dirty="0"/>
              <a:t>Broadcasting and Telecommunication</a:t>
            </a:r>
            <a:r>
              <a:rPr lang="en-US" dirty="0"/>
              <a:t>:</a:t>
            </a:r>
          </a:p>
          <a:p>
            <a:pPr lvl="1"/>
            <a:r>
              <a:rPr lang="en-US" dirty="0"/>
              <a:t>Used in radio and television broadcasting to reach remote locations by amplifying broadcast signals.</a:t>
            </a:r>
          </a:p>
          <a:p>
            <a:endParaRPr lang="en-US" dirty="0"/>
          </a:p>
        </p:txBody>
      </p:sp>
    </p:spTree>
    <p:extLst>
      <p:ext uri="{BB962C8B-B14F-4D97-AF65-F5344CB8AC3E}">
        <p14:creationId xmlns:p14="http://schemas.microsoft.com/office/powerpoint/2010/main" val="2226949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DC3D4-B4DB-464C-AEBE-5C85DA8C4708}"/>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Advantages of Repeaters</a:t>
            </a:r>
            <a:br>
              <a:rPr lang="en-US" b="1" dirty="0"/>
            </a:br>
            <a:endParaRPr lang="en-US" dirty="0"/>
          </a:p>
        </p:txBody>
      </p:sp>
      <p:sp>
        <p:nvSpPr>
          <p:cNvPr id="3" name="Content Placeholder 2">
            <a:extLst>
              <a:ext uri="{FF2B5EF4-FFF2-40B4-BE49-F238E27FC236}">
                <a16:creationId xmlns:a16="http://schemas.microsoft.com/office/drawing/2014/main" id="{BEAA6D4B-EDED-487C-9655-F6DED5FDDDBE}"/>
              </a:ext>
            </a:extLst>
          </p:cNvPr>
          <p:cNvSpPr>
            <a:spLocks noGrp="1"/>
          </p:cNvSpPr>
          <p:nvPr>
            <p:ph idx="1"/>
          </p:nvPr>
        </p:nvSpPr>
        <p:spPr>
          <a:xfrm>
            <a:off x="609600" y="990601"/>
            <a:ext cx="10972800" cy="5135564"/>
          </a:xfrm>
        </p:spPr>
        <p:txBody>
          <a:bodyPr>
            <a:normAutofit/>
          </a:bodyPr>
          <a:lstStyle/>
          <a:p>
            <a:r>
              <a:rPr lang="en-US" b="1" dirty="0"/>
              <a:t>Range Extension</a:t>
            </a:r>
            <a:r>
              <a:rPr lang="en-US" dirty="0"/>
              <a:t>: Allows signals to cover much larger distances than the limits of the communication medium.</a:t>
            </a:r>
          </a:p>
          <a:p>
            <a:r>
              <a:rPr lang="en-US" b="1" dirty="0"/>
              <a:t>Signal Quality Maintenance</a:t>
            </a:r>
            <a:r>
              <a:rPr lang="en-US" dirty="0"/>
              <a:t>: Digital repeaters improve signal quality by regenerating it, reducing interference and noise.</a:t>
            </a:r>
          </a:p>
          <a:p>
            <a:r>
              <a:rPr lang="en-US" b="1" dirty="0"/>
              <a:t>Cost-Effective Coverage</a:t>
            </a:r>
            <a:r>
              <a:rPr lang="en-US" dirty="0"/>
              <a:t>: In wireless networks, repeaters are a cost-effective way to improve coverage without adding more complex networking equipment.</a:t>
            </a:r>
          </a:p>
          <a:p>
            <a:r>
              <a:rPr lang="en-US" b="1" dirty="0"/>
              <a:t>Versatile Applications</a:t>
            </a:r>
            <a:r>
              <a:rPr lang="en-US" dirty="0"/>
              <a:t>: Useful in various media types, from wired Ethernet to fiber-optic and wireless networks.</a:t>
            </a:r>
          </a:p>
          <a:p>
            <a:endParaRPr lang="en-US" dirty="0"/>
          </a:p>
        </p:txBody>
      </p:sp>
    </p:spTree>
    <p:extLst>
      <p:ext uri="{BB962C8B-B14F-4D97-AF65-F5344CB8AC3E}">
        <p14:creationId xmlns:p14="http://schemas.microsoft.com/office/powerpoint/2010/main" val="35260328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CC4D-D361-4067-8744-5D65D14C80F6}"/>
              </a:ext>
            </a:extLst>
          </p:cNvPr>
          <p:cNvSpPr>
            <a:spLocks noGrp="1"/>
          </p:cNvSpPr>
          <p:nvPr>
            <p:ph type="title"/>
          </p:nvPr>
        </p:nvSpPr>
        <p:spPr>
          <a:xfrm>
            <a:off x="607255" y="101452"/>
            <a:ext cx="10972800" cy="639762"/>
          </a:xfrm>
        </p:spPr>
        <p:txBody>
          <a:bodyPr>
            <a:normAutofit fontScale="90000"/>
          </a:bodyPr>
          <a:lstStyle/>
          <a:p>
            <a:br>
              <a:rPr lang="en-US" b="1" dirty="0"/>
            </a:br>
            <a:r>
              <a:rPr lang="en-US" b="1" dirty="0"/>
              <a:t>Disadvantages of Repeaters</a:t>
            </a:r>
            <a:br>
              <a:rPr lang="en-US" b="1" dirty="0"/>
            </a:br>
            <a:endParaRPr lang="en-US" dirty="0"/>
          </a:p>
        </p:txBody>
      </p:sp>
      <p:sp>
        <p:nvSpPr>
          <p:cNvPr id="3" name="Content Placeholder 2">
            <a:extLst>
              <a:ext uri="{FF2B5EF4-FFF2-40B4-BE49-F238E27FC236}">
                <a16:creationId xmlns:a16="http://schemas.microsoft.com/office/drawing/2014/main" id="{FF104F75-4120-48EC-AC64-685FCFD085BE}"/>
              </a:ext>
            </a:extLst>
          </p:cNvPr>
          <p:cNvSpPr>
            <a:spLocks noGrp="1"/>
          </p:cNvSpPr>
          <p:nvPr>
            <p:ph idx="1"/>
          </p:nvPr>
        </p:nvSpPr>
        <p:spPr>
          <a:xfrm>
            <a:off x="609600" y="1066801"/>
            <a:ext cx="10972800" cy="5059364"/>
          </a:xfrm>
        </p:spPr>
        <p:txBody>
          <a:bodyPr>
            <a:normAutofit fontScale="92500" lnSpcReduction="10000"/>
          </a:bodyPr>
          <a:lstStyle/>
          <a:p>
            <a:r>
              <a:rPr lang="en-US" b="1" dirty="0"/>
              <a:t>Limited Coverage</a:t>
            </a:r>
            <a:r>
              <a:rPr lang="en-US" dirty="0"/>
              <a:t>: Repeaters only extend signals to a certain range; multiple repeaters may be needed for very large areas, adding complexity.</a:t>
            </a:r>
          </a:p>
          <a:p>
            <a:r>
              <a:rPr lang="en-US" b="1" dirty="0"/>
              <a:t>Potential for Signal Overload</a:t>
            </a:r>
            <a:r>
              <a:rPr lang="en-US" dirty="0"/>
              <a:t>: Overuse of repeaters in a single line can lead to signal noise or delay, especially in analog repeaters.</a:t>
            </a:r>
          </a:p>
          <a:p>
            <a:r>
              <a:rPr lang="en-US" b="1" dirty="0"/>
              <a:t>Reduced Bandwidth in Wi-Fi</a:t>
            </a:r>
            <a:r>
              <a:rPr lang="en-US" dirty="0"/>
              <a:t>: Wi-Fi repeaters may reduce available bandwidth, as they retransmit on the same channel, slowing down network speed.</a:t>
            </a:r>
          </a:p>
          <a:p>
            <a:r>
              <a:rPr lang="en-US" b="1" dirty="0"/>
              <a:t>Lack of Intelligence</a:t>
            </a:r>
            <a:r>
              <a:rPr lang="en-US" dirty="0"/>
              <a:t>: Repeaters cannot filter or interpret data packets, meaning they amplify all incoming signals, including noise or interference in analog repeaters.</a:t>
            </a:r>
          </a:p>
          <a:p>
            <a:endParaRPr lang="en-US" dirty="0"/>
          </a:p>
        </p:txBody>
      </p:sp>
    </p:spTree>
    <p:extLst>
      <p:ext uri="{BB962C8B-B14F-4D97-AF65-F5344CB8AC3E}">
        <p14:creationId xmlns:p14="http://schemas.microsoft.com/office/powerpoint/2010/main" val="27813902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F4956-CF78-4277-B270-F5ED97ECBC8D}"/>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Types of Transmission Mediums for Repeaters</a:t>
            </a:r>
            <a:br>
              <a:rPr lang="en-US" b="1" dirty="0"/>
            </a:br>
            <a:endParaRPr lang="en-US" dirty="0"/>
          </a:p>
        </p:txBody>
      </p:sp>
      <p:sp>
        <p:nvSpPr>
          <p:cNvPr id="3" name="Content Placeholder 2">
            <a:extLst>
              <a:ext uri="{FF2B5EF4-FFF2-40B4-BE49-F238E27FC236}">
                <a16:creationId xmlns:a16="http://schemas.microsoft.com/office/drawing/2014/main" id="{FCAB1205-A986-44D5-9ABE-722B1C21D0C3}"/>
              </a:ext>
            </a:extLst>
          </p:cNvPr>
          <p:cNvSpPr>
            <a:spLocks noGrp="1"/>
          </p:cNvSpPr>
          <p:nvPr>
            <p:ph idx="1"/>
          </p:nvPr>
        </p:nvSpPr>
        <p:spPr>
          <a:xfrm>
            <a:off x="609600" y="990601"/>
            <a:ext cx="10972800" cy="5135564"/>
          </a:xfrm>
        </p:spPr>
        <p:txBody>
          <a:bodyPr>
            <a:normAutofit/>
          </a:bodyPr>
          <a:lstStyle/>
          <a:p>
            <a:r>
              <a:rPr lang="en-US" b="1" dirty="0"/>
              <a:t>Copper</a:t>
            </a:r>
            <a:r>
              <a:rPr lang="en-US" dirty="0"/>
              <a:t>: Used with copper-based Ethernet or telephone lines, repeaters can extend the reach of these signals while dealing with significant attenuation.</a:t>
            </a:r>
          </a:p>
          <a:p>
            <a:r>
              <a:rPr lang="en-US" b="1" dirty="0"/>
              <a:t>Fiber-Optic</a:t>
            </a:r>
            <a:r>
              <a:rPr lang="en-US" dirty="0"/>
              <a:t>: Fiber repeaters regenerate optical signals, maintaining signal quality over long-haul networks such as transcontinental links.</a:t>
            </a:r>
          </a:p>
          <a:p>
            <a:r>
              <a:rPr lang="en-US" b="1" dirty="0"/>
              <a:t>Radio Frequency (RF)</a:t>
            </a:r>
            <a:r>
              <a:rPr lang="en-US" dirty="0"/>
              <a:t>: RF repeaters amplify radio signals for longer-range wireless communication, including Wi-Fi and broadcast networks.</a:t>
            </a:r>
          </a:p>
          <a:p>
            <a:endParaRPr lang="en-US" dirty="0"/>
          </a:p>
        </p:txBody>
      </p:sp>
    </p:spTree>
    <p:extLst>
      <p:ext uri="{BB962C8B-B14F-4D97-AF65-F5344CB8AC3E}">
        <p14:creationId xmlns:p14="http://schemas.microsoft.com/office/powerpoint/2010/main" val="5894912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B479-341C-404A-88D5-F21049DBD784}"/>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Use Cases for Repeaters</a:t>
            </a:r>
            <a:br>
              <a:rPr lang="en-US" b="1" dirty="0"/>
            </a:br>
            <a:endParaRPr lang="en-US" dirty="0"/>
          </a:p>
        </p:txBody>
      </p:sp>
      <p:sp>
        <p:nvSpPr>
          <p:cNvPr id="3" name="Content Placeholder 2">
            <a:extLst>
              <a:ext uri="{FF2B5EF4-FFF2-40B4-BE49-F238E27FC236}">
                <a16:creationId xmlns:a16="http://schemas.microsoft.com/office/drawing/2014/main" id="{18F84514-1037-4BC7-9DDC-841A4DCE39C2}"/>
              </a:ext>
            </a:extLst>
          </p:cNvPr>
          <p:cNvSpPr>
            <a:spLocks noGrp="1"/>
          </p:cNvSpPr>
          <p:nvPr>
            <p:ph idx="1"/>
          </p:nvPr>
        </p:nvSpPr>
        <p:spPr>
          <a:xfrm>
            <a:off x="609600" y="1143001"/>
            <a:ext cx="10972800" cy="4983164"/>
          </a:xfrm>
        </p:spPr>
        <p:txBody>
          <a:bodyPr>
            <a:normAutofit fontScale="92500" lnSpcReduction="10000"/>
          </a:bodyPr>
          <a:lstStyle/>
          <a:p>
            <a:r>
              <a:rPr lang="en-US" b="1" dirty="0"/>
              <a:t>Extending Office Networks</a:t>
            </a:r>
            <a:r>
              <a:rPr lang="en-US" dirty="0"/>
              <a:t>: Small businesses or offices with larger floor areas can use repeaters to expand wired or wireless connectivity across the space.</a:t>
            </a:r>
          </a:p>
          <a:p>
            <a:r>
              <a:rPr lang="en-US" b="1" dirty="0"/>
              <a:t>Improving Home Wi-Fi Coverage</a:t>
            </a:r>
            <a:r>
              <a:rPr lang="en-US" dirty="0"/>
              <a:t>: Home users employ Wi-Fi repeaters to eliminate dead zones, ensuring consistent signal coverage.</a:t>
            </a:r>
          </a:p>
          <a:p>
            <a:r>
              <a:rPr lang="en-US" b="1" dirty="0"/>
              <a:t>Long-Distance Communication</a:t>
            </a:r>
            <a:r>
              <a:rPr lang="en-US" dirty="0"/>
              <a:t>: Telecommunications companies use optical repeaters to maintain signal integrity over extensive fiber-optic networks.</a:t>
            </a:r>
          </a:p>
          <a:p>
            <a:r>
              <a:rPr lang="en-US" b="1" dirty="0"/>
              <a:t>Rural Connectivity</a:t>
            </a:r>
            <a:r>
              <a:rPr lang="en-US" dirty="0"/>
              <a:t>: Radio and satellite repeaters help bring internet and broadcast services to rural or hard-to-reach areas.</a:t>
            </a:r>
          </a:p>
          <a:p>
            <a:endParaRPr lang="en-US" dirty="0"/>
          </a:p>
        </p:txBody>
      </p:sp>
    </p:spTree>
    <p:extLst>
      <p:ext uri="{BB962C8B-B14F-4D97-AF65-F5344CB8AC3E}">
        <p14:creationId xmlns:p14="http://schemas.microsoft.com/office/powerpoint/2010/main" val="28588858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99F8-6FCF-412B-849D-7E5FFE06A1B5}"/>
              </a:ext>
            </a:extLst>
          </p:cNvPr>
          <p:cNvSpPr>
            <a:spLocks noGrp="1"/>
          </p:cNvSpPr>
          <p:nvPr>
            <p:ph type="title"/>
          </p:nvPr>
        </p:nvSpPr>
        <p:spPr/>
        <p:txBody>
          <a:bodyPr>
            <a:normAutofit fontScale="90000"/>
          </a:bodyPr>
          <a:lstStyle/>
          <a:p>
            <a:r>
              <a:rPr lang="en-US" b="1" dirty="0"/>
              <a:t>Bridge</a:t>
            </a:r>
            <a:br>
              <a:rPr lang="en-US" b="1" dirty="0"/>
            </a:br>
            <a:endParaRPr lang="en-US" dirty="0"/>
          </a:p>
        </p:txBody>
      </p:sp>
      <p:sp>
        <p:nvSpPr>
          <p:cNvPr id="3" name="Content Placeholder 2">
            <a:extLst>
              <a:ext uri="{FF2B5EF4-FFF2-40B4-BE49-F238E27FC236}">
                <a16:creationId xmlns:a16="http://schemas.microsoft.com/office/drawing/2014/main" id="{6DD145F4-48AD-48FB-9817-9BD3AF5AE076}"/>
              </a:ext>
            </a:extLst>
          </p:cNvPr>
          <p:cNvSpPr>
            <a:spLocks noGrp="1"/>
          </p:cNvSpPr>
          <p:nvPr>
            <p:ph idx="1"/>
          </p:nvPr>
        </p:nvSpPr>
        <p:spPr>
          <a:xfrm>
            <a:off x="609600" y="1417639"/>
            <a:ext cx="10972800" cy="4708526"/>
          </a:xfrm>
        </p:spPr>
        <p:txBody>
          <a:bodyPr>
            <a:normAutofit fontScale="92500" lnSpcReduction="10000"/>
          </a:bodyPr>
          <a:lstStyle/>
          <a:p>
            <a:r>
              <a:rPr lang="en-US" b="1" dirty="0"/>
              <a:t>Description</a:t>
            </a:r>
            <a:r>
              <a:rPr lang="en-US" dirty="0"/>
              <a:t>: A </a:t>
            </a:r>
            <a:r>
              <a:rPr lang="en-US" b="1" dirty="0"/>
              <a:t>network bridge</a:t>
            </a:r>
            <a:r>
              <a:rPr lang="en-US" dirty="0"/>
              <a:t> is a device that connects two or more separate network segments, allowing them to function as a single, unified network. </a:t>
            </a:r>
          </a:p>
          <a:p>
            <a:r>
              <a:rPr lang="en-US" b="1" dirty="0"/>
              <a:t>Function</a:t>
            </a:r>
            <a:r>
              <a:rPr lang="en-US" dirty="0"/>
              <a:t>: Operates at the data link layer (Layer 2), filtering traffic and reducing collisions by dividing networks into segments.</a:t>
            </a:r>
          </a:p>
          <a:p>
            <a:r>
              <a:rPr lang="en-US" b="1" dirty="0"/>
              <a:t>Types</a:t>
            </a:r>
            <a:r>
              <a:rPr lang="en-US" dirty="0"/>
              <a:t>:</a:t>
            </a:r>
          </a:p>
          <a:p>
            <a:pPr lvl="1"/>
            <a:r>
              <a:rPr lang="en-US" b="1" dirty="0"/>
              <a:t>Transparent Bridge</a:t>
            </a:r>
            <a:r>
              <a:rPr lang="en-US" dirty="0"/>
              <a:t>: Learns the MAC addresses of devices on both sides and forwards traffic accordingly.</a:t>
            </a:r>
          </a:p>
          <a:p>
            <a:pPr lvl="1"/>
            <a:r>
              <a:rPr lang="en-US" b="1" dirty="0"/>
              <a:t>Source Route Bridge</a:t>
            </a:r>
            <a:r>
              <a:rPr lang="en-US" dirty="0"/>
              <a:t>: Uses routing information included in the data packets to forward traffic.</a:t>
            </a:r>
          </a:p>
          <a:p>
            <a:endParaRPr lang="en-US" dirty="0"/>
          </a:p>
        </p:txBody>
      </p:sp>
    </p:spTree>
    <p:extLst>
      <p:ext uri="{BB962C8B-B14F-4D97-AF65-F5344CB8AC3E}">
        <p14:creationId xmlns:p14="http://schemas.microsoft.com/office/powerpoint/2010/main" val="11324453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Gill Sans MT" panose="020B0502020104020203" pitchFamily="34" charset="0"/>
              </a:rPr>
              <a:t>Ethernet Bridge </a:t>
            </a:r>
            <a:br>
              <a:rPr lang="en-US" b="1" dirty="0">
                <a:latin typeface="Gill Sans MT" panose="020B0502020104020203" pitchFamily="34" charset="0"/>
              </a:rPr>
            </a:br>
            <a:endParaRPr lang="en-US" b="1" dirty="0">
              <a:latin typeface="Gill Sans MT" panose="020B0502020104020203" pitchFamily="34" charset="0"/>
            </a:endParaRPr>
          </a:p>
        </p:txBody>
      </p:sp>
      <p:pic>
        <p:nvPicPr>
          <p:cNvPr id="4" name="Picture 3"/>
          <p:cNvPicPr>
            <a:picLocks noChangeAspect="1"/>
          </p:cNvPicPr>
          <p:nvPr/>
        </p:nvPicPr>
        <p:blipFill>
          <a:blip r:embed="rId2"/>
          <a:stretch>
            <a:fillRect/>
          </a:stretch>
        </p:blipFill>
        <p:spPr>
          <a:xfrm>
            <a:off x="2711764" y="1604962"/>
            <a:ext cx="6384611" cy="3881438"/>
          </a:xfrm>
          <a:prstGeom prst="rect">
            <a:avLst/>
          </a:prstGeom>
        </p:spPr>
      </p:pic>
    </p:spTree>
    <p:extLst>
      <p:ext uri="{BB962C8B-B14F-4D97-AF65-F5344CB8AC3E}">
        <p14:creationId xmlns:p14="http://schemas.microsoft.com/office/powerpoint/2010/main" val="31754836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7C62-7699-4896-A7FE-F66B9608E947}"/>
              </a:ext>
            </a:extLst>
          </p:cNvPr>
          <p:cNvSpPr>
            <a:spLocks noGrp="1"/>
          </p:cNvSpPr>
          <p:nvPr>
            <p:ph type="title"/>
          </p:nvPr>
        </p:nvSpPr>
        <p:spPr/>
        <p:txBody>
          <a:bodyPr>
            <a:normAutofit fontScale="90000"/>
          </a:bodyPr>
          <a:lstStyle/>
          <a:p>
            <a:r>
              <a:rPr lang="en-US" b="1" dirty="0"/>
              <a:t>Key Functions of a Network Bridge</a:t>
            </a:r>
            <a:br>
              <a:rPr lang="en-US" b="1" dirty="0"/>
            </a:br>
            <a:endParaRPr lang="en-US" dirty="0"/>
          </a:p>
        </p:txBody>
      </p:sp>
      <p:sp>
        <p:nvSpPr>
          <p:cNvPr id="3" name="Content Placeholder 2">
            <a:extLst>
              <a:ext uri="{FF2B5EF4-FFF2-40B4-BE49-F238E27FC236}">
                <a16:creationId xmlns:a16="http://schemas.microsoft.com/office/drawing/2014/main" id="{B2ED90AC-E26E-425F-98D0-EBDA6EDBF4DC}"/>
              </a:ext>
            </a:extLst>
          </p:cNvPr>
          <p:cNvSpPr>
            <a:spLocks noGrp="1"/>
          </p:cNvSpPr>
          <p:nvPr>
            <p:ph idx="1"/>
          </p:nvPr>
        </p:nvSpPr>
        <p:spPr>
          <a:xfrm>
            <a:off x="609600" y="1143001"/>
            <a:ext cx="10972800" cy="4983164"/>
          </a:xfrm>
        </p:spPr>
        <p:txBody>
          <a:bodyPr>
            <a:normAutofit fontScale="92500" lnSpcReduction="20000"/>
          </a:bodyPr>
          <a:lstStyle/>
          <a:p>
            <a:r>
              <a:rPr lang="en-US" b="1" dirty="0"/>
              <a:t>Traffic Segmentation</a:t>
            </a:r>
            <a:r>
              <a:rPr lang="en-US" dirty="0"/>
              <a:t>: Bridges reduce network traffic by dividing a large network into smaller segments, which helps to reduce congestion and collisions.</a:t>
            </a:r>
          </a:p>
          <a:p>
            <a:r>
              <a:rPr lang="en-US" b="1" dirty="0"/>
              <a:t>Packet Filtering</a:t>
            </a:r>
            <a:r>
              <a:rPr lang="en-US" dirty="0"/>
              <a:t>: A bridge inspects the MAC address of each packet it receives and determines whether it should forward or discard the packet based on the destination address.</a:t>
            </a:r>
          </a:p>
          <a:p>
            <a:r>
              <a:rPr lang="en-US" b="1" dirty="0"/>
              <a:t>Collision Domain Management</a:t>
            </a:r>
            <a:r>
              <a:rPr lang="en-US" dirty="0"/>
              <a:t>: By segmenting a network, bridges limit collision domains, meaning fewer devices contend for the same bandwidth in each segment.</a:t>
            </a:r>
          </a:p>
          <a:p>
            <a:r>
              <a:rPr lang="en-US" b="1" dirty="0"/>
              <a:t>Transparency</a:t>
            </a:r>
            <a:r>
              <a:rPr lang="en-US" dirty="0"/>
              <a:t>: Bridges operate transparently, so the devices in the network do not need special configurations to communicate through a bridge.</a:t>
            </a:r>
          </a:p>
          <a:p>
            <a:endParaRPr lang="en-US" dirty="0"/>
          </a:p>
        </p:txBody>
      </p:sp>
    </p:spTree>
    <p:extLst>
      <p:ext uri="{BB962C8B-B14F-4D97-AF65-F5344CB8AC3E}">
        <p14:creationId xmlns:p14="http://schemas.microsoft.com/office/powerpoint/2010/main" val="22953243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ECE62-71FC-4FAD-AE50-384B1F90A8E7}"/>
              </a:ext>
            </a:extLst>
          </p:cNvPr>
          <p:cNvSpPr>
            <a:spLocks noGrp="1"/>
          </p:cNvSpPr>
          <p:nvPr>
            <p:ph type="title"/>
          </p:nvPr>
        </p:nvSpPr>
        <p:spPr>
          <a:xfrm>
            <a:off x="609600" y="9378"/>
            <a:ext cx="10972800" cy="639762"/>
          </a:xfrm>
        </p:spPr>
        <p:txBody>
          <a:bodyPr>
            <a:normAutofit fontScale="90000"/>
          </a:bodyPr>
          <a:lstStyle/>
          <a:p>
            <a:br>
              <a:rPr lang="en-US" b="1" dirty="0"/>
            </a:br>
            <a:r>
              <a:rPr lang="en-US" b="1" dirty="0"/>
              <a:t>Types of Network Bridges</a:t>
            </a:r>
            <a:br>
              <a:rPr lang="en-US" b="1" dirty="0"/>
            </a:br>
            <a:endParaRPr lang="en-US" dirty="0"/>
          </a:p>
        </p:txBody>
      </p:sp>
      <p:sp>
        <p:nvSpPr>
          <p:cNvPr id="3" name="Content Placeholder 2">
            <a:extLst>
              <a:ext uri="{FF2B5EF4-FFF2-40B4-BE49-F238E27FC236}">
                <a16:creationId xmlns:a16="http://schemas.microsoft.com/office/drawing/2014/main" id="{E15B7403-86D8-4F69-BE98-22286D2382C6}"/>
              </a:ext>
            </a:extLst>
          </p:cNvPr>
          <p:cNvSpPr>
            <a:spLocks noGrp="1"/>
          </p:cNvSpPr>
          <p:nvPr>
            <p:ph idx="1"/>
          </p:nvPr>
        </p:nvSpPr>
        <p:spPr>
          <a:xfrm>
            <a:off x="609600" y="649141"/>
            <a:ext cx="10972800" cy="5477024"/>
          </a:xfrm>
        </p:spPr>
        <p:txBody>
          <a:bodyPr>
            <a:normAutofit fontScale="85000" lnSpcReduction="10000"/>
          </a:bodyPr>
          <a:lstStyle/>
          <a:p>
            <a:r>
              <a:rPr lang="en-US" b="1" dirty="0"/>
              <a:t>Transparent Bridge</a:t>
            </a:r>
            <a:r>
              <a:rPr lang="en-US" dirty="0"/>
              <a:t>:</a:t>
            </a:r>
          </a:p>
          <a:p>
            <a:pPr lvl="1"/>
            <a:r>
              <a:rPr lang="en-US" b="1" dirty="0"/>
              <a:t>Description</a:t>
            </a:r>
            <a:r>
              <a:rPr lang="en-US" dirty="0"/>
              <a:t>: Also known as a learning bridge, this type operates transparently by learning the MAC addresses of devices on each network segment.</a:t>
            </a:r>
          </a:p>
          <a:p>
            <a:pPr lvl="1"/>
            <a:r>
              <a:rPr lang="en-US" b="1" dirty="0"/>
              <a:t>Function</a:t>
            </a:r>
            <a:r>
              <a:rPr lang="en-US" dirty="0"/>
              <a:t>: Stores MAC addresses in a table and forwards packets only to the relevant segment, based on the destination MAC address.</a:t>
            </a:r>
          </a:p>
          <a:p>
            <a:pPr lvl="1"/>
            <a:r>
              <a:rPr lang="en-US" b="1" dirty="0"/>
              <a:t>Application</a:t>
            </a:r>
            <a:r>
              <a:rPr lang="en-US" dirty="0"/>
              <a:t>: Used in local area networks (LANs) to minimize traffic and collisions.</a:t>
            </a:r>
          </a:p>
          <a:p>
            <a:r>
              <a:rPr lang="en-US" b="1" dirty="0"/>
              <a:t>Source Routing Bridge</a:t>
            </a:r>
            <a:r>
              <a:rPr lang="en-US" dirty="0"/>
              <a:t>:</a:t>
            </a:r>
          </a:p>
          <a:p>
            <a:pPr lvl="1"/>
            <a:r>
              <a:rPr lang="en-US" b="1" dirty="0"/>
              <a:t>Description</a:t>
            </a:r>
            <a:r>
              <a:rPr lang="en-US" dirty="0"/>
              <a:t>: Often used in Token Ring networks, source routing bridges include routing information in the packet header, dictating the route the packet should take.</a:t>
            </a:r>
          </a:p>
          <a:p>
            <a:pPr lvl="1"/>
            <a:r>
              <a:rPr lang="en-US" b="1" dirty="0"/>
              <a:t>Function</a:t>
            </a:r>
            <a:r>
              <a:rPr lang="en-US" dirty="0"/>
              <a:t>: Does not rely on MAC address tables but instead uses the route specified by the sender.</a:t>
            </a:r>
          </a:p>
          <a:p>
            <a:pPr lvl="1"/>
            <a:r>
              <a:rPr lang="en-US" b="1" dirty="0"/>
              <a:t>Application</a:t>
            </a:r>
            <a:r>
              <a:rPr lang="en-US" dirty="0"/>
              <a:t>: Common in older networks where sender control over routing was required.</a:t>
            </a:r>
          </a:p>
        </p:txBody>
      </p:sp>
    </p:spTree>
    <p:extLst>
      <p:ext uri="{BB962C8B-B14F-4D97-AF65-F5344CB8AC3E}">
        <p14:creationId xmlns:p14="http://schemas.microsoft.com/office/powerpoint/2010/main" val="81489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426E8-8806-4D53-A3E6-D23DB8E87E95}"/>
              </a:ext>
            </a:extLst>
          </p:cNvPr>
          <p:cNvSpPr>
            <a:spLocks noGrp="1"/>
          </p:cNvSpPr>
          <p:nvPr>
            <p:ph type="title"/>
          </p:nvPr>
        </p:nvSpPr>
        <p:spPr/>
        <p:txBody>
          <a:bodyPr>
            <a:normAutofit fontScale="90000"/>
          </a:bodyPr>
          <a:lstStyle/>
          <a:p>
            <a:br>
              <a:rPr lang="en-US" b="1" dirty="0"/>
            </a:br>
            <a:r>
              <a:rPr lang="en-US" b="1" dirty="0"/>
              <a:t>Types of Network Bridges</a:t>
            </a:r>
            <a:br>
              <a:rPr lang="en-US" b="1" dirty="0"/>
            </a:br>
            <a:endParaRPr lang="en-US" dirty="0"/>
          </a:p>
        </p:txBody>
      </p:sp>
      <p:sp>
        <p:nvSpPr>
          <p:cNvPr id="3" name="Content Placeholder 2">
            <a:extLst>
              <a:ext uri="{FF2B5EF4-FFF2-40B4-BE49-F238E27FC236}">
                <a16:creationId xmlns:a16="http://schemas.microsoft.com/office/drawing/2014/main" id="{3D8D5562-C2FE-465F-A331-5F3A9CE25B96}"/>
              </a:ext>
            </a:extLst>
          </p:cNvPr>
          <p:cNvSpPr>
            <a:spLocks noGrp="1"/>
          </p:cNvSpPr>
          <p:nvPr>
            <p:ph idx="1"/>
          </p:nvPr>
        </p:nvSpPr>
        <p:spPr/>
        <p:txBody>
          <a:bodyPr>
            <a:normAutofit fontScale="85000" lnSpcReduction="20000"/>
          </a:bodyPr>
          <a:lstStyle/>
          <a:p>
            <a:r>
              <a:rPr lang="en-US" b="1" dirty="0"/>
              <a:t>Wireless Bridge</a:t>
            </a:r>
            <a:r>
              <a:rPr lang="en-US" dirty="0"/>
              <a:t>:</a:t>
            </a:r>
          </a:p>
          <a:p>
            <a:pPr lvl="1"/>
            <a:r>
              <a:rPr lang="en-US" b="1" dirty="0"/>
              <a:t>Description</a:t>
            </a:r>
            <a:r>
              <a:rPr lang="en-US" dirty="0"/>
              <a:t>: Connects two or more LAN segments over a wireless link.</a:t>
            </a:r>
          </a:p>
          <a:p>
            <a:pPr lvl="1"/>
            <a:r>
              <a:rPr lang="en-US" b="1" dirty="0"/>
              <a:t>Function</a:t>
            </a:r>
            <a:r>
              <a:rPr lang="en-US" dirty="0"/>
              <a:t>: Extends network connectivity to areas where physical cabling is impractical.</a:t>
            </a:r>
          </a:p>
          <a:p>
            <a:pPr lvl="1"/>
            <a:r>
              <a:rPr lang="en-US" b="1" dirty="0"/>
              <a:t>Application</a:t>
            </a:r>
            <a:r>
              <a:rPr lang="en-US" dirty="0"/>
              <a:t>: Useful in large campuses or locations where running cables is costly or inconvenient.</a:t>
            </a:r>
          </a:p>
          <a:p>
            <a:r>
              <a:rPr lang="en-US" b="1" dirty="0"/>
              <a:t>Multiport Bridge</a:t>
            </a:r>
            <a:r>
              <a:rPr lang="en-US" dirty="0"/>
              <a:t>:</a:t>
            </a:r>
          </a:p>
          <a:p>
            <a:pPr lvl="1"/>
            <a:r>
              <a:rPr lang="en-US" b="1" dirty="0"/>
              <a:t>Description</a:t>
            </a:r>
            <a:r>
              <a:rPr lang="en-US" dirty="0"/>
              <a:t>: A bridge with more than two ports, often serving as a simple alternative to a switch.</a:t>
            </a:r>
          </a:p>
          <a:p>
            <a:pPr lvl="1"/>
            <a:r>
              <a:rPr lang="en-US" b="1" dirty="0"/>
              <a:t>Function</a:t>
            </a:r>
            <a:r>
              <a:rPr lang="en-US" dirty="0"/>
              <a:t>: Connects multiple network segments and filters traffic across each.</a:t>
            </a:r>
          </a:p>
          <a:p>
            <a:pPr lvl="1"/>
            <a:r>
              <a:rPr lang="en-US" b="1" dirty="0"/>
              <a:t>Application</a:t>
            </a:r>
            <a:r>
              <a:rPr lang="en-US" dirty="0"/>
              <a:t>: Typically used in small or less complex networks to interconnect segments.</a:t>
            </a:r>
          </a:p>
          <a:p>
            <a:endParaRPr lang="en-US" dirty="0"/>
          </a:p>
          <a:p>
            <a:endParaRPr lang="en-US" dirty="0"/>
          </a:p>
        </p:txBody>
      </p:sp>
    </p:spTree>
    <p:extLst>
      <p:ext uri="{BB962C8B-B14F-4D97-AF65-F5344CB8AC3E}">
        <p14:creationId xmlns:p14="http://schemas.microsoft.com/office/powerpoint/2010/main" val="18597885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0D4E0-2F1D-4323-9847-AF0BF36AE97F}"/>
              </a:ext>
            </a:extLst>
          </p:cNvPr>
          <p:cNvSpPr>
            <a:spLocks noGrp="1"/>
          </p:cNvSpPr>
          <p:nvPr>
            <p:ph type="title"/>
          </p:nvPr>
        </p:nvSpPr>
        <p:spPr>
          <a:xfrm>
            <a:off x="597877" y="39320"/>
            <a:ext cx="10972800" cy="715962"/>
          </a:xfrm>
        </p:spPr>
        <p:txBody>
          <a:bodyPr>
            <a:normAutofit fontScale="90000"/>
          </a:bodyPr>
          <a:lstStyle/>
          <a:p>
            <a:br>
              <a:rPr lang="en-US" b="1" dirty="0"/>
            </a:br>
            <a:r>
              <a:rPr lang="en-US" b="1" dirty="0"/>
              <a:t>Advantages of Network Bridges</a:t>
            </a:r>
            <a:br>
              <a:rPr lang="en-US" b="1" dirty="0"/>
            </a:br>
            <a:endParaRPr lang="en-US" dirty="0"/>
          </a:p>
        </p:txBody>
      </p:sp>
      <p:sp>
        <p:nvSpPr>
          <p:cNvPr id="3" name="Content Placeholder 2">
            <a:extLst>
              <a:ext uri="{FF2B5EF4-FFF2-40B4-BE49-F238E27FC236}">
                <a16:creationId xmlns:a16="http://schemas.microsoft.com/office/drawing/2014/main" id="{D7047628-24C0-4B4E-80DE-D27AFC7096D7}"/>
              </a:ext>
            </a:extLst>
          </p:cNvPr>
          <p:cNvSpPr>
            <a:spLocks noGrp="1"/>
          </p:cNvSpPr>
          <p:nvPr>
            <p:ph idx="1"/>
          </p:nvPr>
        </p:nvSpPr>
        <p:spPr>
          <a:xfrm>
            <a:off x="609600" y="755283"/>
            <a:ext cx="10972800" cy="5370882"/>
          </a:xfrm>
        </p:spPr>
        <p:txBody>
          <a:bodyPr>
            <a:normAutofit fontScale="92500" lnSpcReduction="10000"/>
          </a:bodyPr>
          <a:lstStyle/>
          <a:p>
            <a:r>
              <a:rPr lang="en-US" b="1" dirty="0"/>
              <a:t>Reduced Network Traffic</a:t>
            </a:r>
            <a:r>
              <a:rPr lang="en-US" dirty="0"/>
              <a:t>: By limiting broadcast traffic and reducing unnecessary data flow between segments, bridges help reduce overall network traffic.</a:t>
            </a:r>
          </a:p>
          <a:p>
            <a:r>
              <a:rPr lang="en-US" b="1" dirty="0"/>
              <a:t>Enhanced Security</a:t>
            </a:r>
            <a:r>
              <a:rPr lang="en-US" dirty="0"/>
              <a:t>: Bridges can control data flow, offering a basic level of network segmentation, which can help with network security.</a:t>
            </a:r>
          </a:p>
          <a:p>
            <a:r>
              <a:rPr lang="en-US" b="1" dirty="0"/>
              <a:t>Network Scalability</a:t>
            </a:r>
            <a:r>
              <a:rPr lang="en-US" dirty="0"/>
              <a:t>: Bridges enable network expansion by connecting additional segments, allowing more devices to join the network.</a:t>
            </a:r>
          </a:p>
          <a:p>
            <a:r>
              <a:rPr lang="en-US" b="1" dirty="0"/>
              <a:t>Collision Domain Isolation</a:t>
            </a:r>
            <a:r>
              <a:rPr lang="en-US" dirty="0"/>
              <a:t>: Reducing collision domains helps prevent network bottlenecks and improves data transmission efficiency.</a:t>
            </a:r>
          </a:p>
          <a:p>
            <a:endParaRPr lang="en-US" dirty="0"/>
          </a:p>
        </p:txBody>
      </p:sp>
    </p:spTree>
    <p:extLst>
      <p:ext uri="{BB962C8B-B14F-4D97-AF65-F5344CB8AC3E}">
        <p14:creationId xmlns:p14="http://schemas.microsoft.com/office/powerpoint/2010/main" val="11356865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89B7-779B-4F51-AEDB-4B9F12B754EB}"/>
              </a:ext>
            </a:extLst>
          </p:cNvPr>
          <p:cNvSpPr>
            <a:spLocks noGrp="1"/>
          </p:cNvSpPr>
          <p:nvPr>
            <p:ph type="title"/>
          </p:nvPr>
        </p:nvSpPr>
        <p:spPr>
          <a:xfrm>
            <a:off x="609600" y="152400"/>
            <a:ext cx="10972800" cy="715962"/>
          </a:xfrm>
        </p:spPr>
        <p:txBody>
          <a:bodyPr>
            <a:normAutofit fontScale="90000"/>
          </a:bodyPr>
          <a:lstStyle/>
          <a:p>
            <a:br>
              <a:rPr lang="en-US" b="1" dirty="0"/>
            </a:br>
            <a:r>
              <a:rPr lang="en-US" b="1" dirty="0"/>
              <a:t>Disadvantages of Network Bridges</a:t>
            </a:r>
            <a:br>
              <a:rPr lang="en-US" b="1" dirty="0"/>
            </a:br>
            <a:endParaRPr lang="en-US" dirty="0"/>
          </a:p>
        </p:txBody>
      </p:sp>
      <p:sp>
        <p:nvSpPr>
          <p:cNvPr id="3" name="Content Placeholder 2">
            <a:extLst>
              <a:ext uri="{FF2B5EF4-FFF2-40B4-BE49-F238E27FC236}">
                <a16:creationId xmlns:a16="http://schemas.microsoft.com/office/drawing/2014/main" id="{0FD0B59E-1FD0-4041-ADF7-A5271D23CA70}"/>
              </a:ext>
            </a:extLst>
          </p:cNvPr>
          <p:cNvSpPr>
            <a:spLocks noGrp="1"/>
          </p:cNvSpPr>
          <p:nvPr>
            <p:ph idx="1"/>
          </p:nvPr>
        </p:nvSpPr>
        <p:spPr>
          <a:xfrm>
            <a:off x="609600" y="990601"/>
            <a:ext cx="10972800" cy="5135564"/>
          </a:xfrm>
        </p:spPr>
        <p:txBody>
          <a:bodyPr>
            <a:normAutofit/>
          </a:bodyPr>
          <a:lstStyle/>
          <a:p>
            <a:r>
              <a:rPr lang="en-US" b="1" dirty="0"/>
              <a:t>Limited Scalability</a:t>
            </a:r>
            <a:r>
              <a:rPr lang="en-US" dirty="0"/>
              <a:t>: Bridges are generally suitable for small-to-medium-sized networks; in large networks, switches or routers are more effective.</a:t>
            </a:r>
          </a:p>
          <a:p>
            <a:r>
              <a:rPr lang="en-US" b="1" dirty="0"/>
              <a:t>Latency Issues</a:t>
            </a:r>
            <a:r>
              <a:rPr lang="en-US" dirty="0"/>
              <a:t>: Bridges can introduce latency as they inspect and forward packets between segments.</a:t>
            </a:r>
          </a:p>
          <a:p>
            <a:r>
              <a:rPr lang="en-US" b="1" dirty="0"/>
              <a:t>Lack of Advanced Features</a:t>
            </a:r>
            <a:r>
              <a:rPr lang="en-US" dirty="0"/>
              <a:t>: Compared to switches and routers, bridges lack advanced network management features, such as VLAN support or dynamic routing capabilities.</a:t>
            </a:r>
          </a:p>
          <a:p>
            <a:endParaRPr lang="en-US" dirty="0"/>
          </a:p>
        </p:txBody>
      </p:sp>
    </p:spTree>
    <p:extLst>
      <p:ext uri="{BB962C8B-B14F-4D97-AF65-F5344CB8AC3E}">
        <p14:creationId xmlns:p14="http://schemas.microsoft.com/office/powerpoint/2010/main" val="5797387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E13B1-5AC5-440B-8BE2-C5E4748AF42C}"/>
              </a:ext>
            </a:extLst>
          </p:cNvPr>
          <p:cNvSpPr>
            <a:spLocks noGrp="1"/>
          </p:cNvSpPr>
          <p:nvPr>
            <p:ph type="title"/>
          </p:nvPr>
        </p:nvSpPr>
        <p:spPr>
          <a:xfrm>
            <a:off x="609600" y="37514"/>
            <a:ext cx="10972800" cy="457198"/>
          </a:xfrm>
        </p:spPr>
        <p:txBody>
          <a:bodyPr>
            <a:normAutofit fontScale="90000"/>
          </a:bodyPr>
          <a:lstStyle/>
          <a:p>
            <a:br>
              <a:rPr lang="en-US" b="1" dirty="0"/>
            </a:br>
            <a:r>
              <a:rPr lang="en-US" b="1" dirty="0"/>
              <a:t>Common Use Cases</a:t>
            </a:r>
            <a:br>
              <a:rPr lang="en-US" b="1" dirty="0"/>
            </a:br>
            <a:endParaRPr lang="en-US" dirty="0"/>
          </a:p>
        </p:txBody>
      </p:sp>
      <p:sp>
        <p:nvSpPr>
          <p:cNvPr id="3" name="Content Placeholder 2">
            <a:extLst>
              <a:ext uri="{FF2B5EF4-FFF2-40B4-BE49-F238E27FC236}">
                <a16:creationId xmlns:a16="http://schemas.microsoft.com/office/drawing/2014/main" id="{33E1378E-23A3-42DC-9389-CF61A87DC234}"/>
              </a:ext>
            </a:extLst>
          </p:cNvPr>
          <p:cNvSpPr>
            <a:spLocks noGrp="1"/>
          </p:cNvSpPr>
          <p:nvPr>
            <p:ph idx="1"/>
          </p:nvPr>
        </p:nvSpPr>
        <p:spPr>
          <a:xfrm>
            <a:off x="609600" y="609601"/>
            <a:ext cx="10972800" cy="5516564"/>
          </a:xfrm>
        </p:spPr>
        <p:txBody>
          <a:bodyPr>
            <a:normAutofit/>
          </a:bodyPr>
          <a:lstStyle/>
          <a:p>
            <a:r>
              <a:rPr lang="en-US" b="1" dirty="0"/>
              <a:t>Connecting Different LANs</a:t>
            </a:r>
            <a:r>
              <a:rPr lang="en-US" dirty="0"/>
              <a:t>: Bridges are commonly used to link smaller LAN segments, helping to extend a network within buildings or across adjacent buildings.</a:t>
            </a:r>
          </a:p>
          <a:p>
            <a:r>
              <a:rPr lang="en-US" b="1" dirty="0"/>
              <a:t>Reducing Network Congestion</a:t>
            </a:r>
            <a:r>
              <a:rPr lang="en-US" dirty="0"/>
              <a:t>: By filtering traffic, bridges can help manage and reduce congestion in large networks.</a:t>
            </a:r>
          </a:p>
          <a:p>
            <a:r>
              <a:rPr lang="en-US" b="1" dirty="0"/>
              <a:t>Wireless Networking</a:t>
            </a:r>
            <a:r>
              <a:rPr lang="en-US" dirty="0"/>
              <a:t>: Wireless bridges extend network connectivity wirelessly, which is useful for campuses or locations with challenging physical environments.</a:t>
            </a:r>
          </a:p>
          <a:p>
            <a:endParaRPr lang="en-US" dirty="0"/>
          </a:p>
        </p:txBody>
      </p:sp>
    </p:spTree>
    <p:extLst>
      <p:ext uri="{BB962C8B-B14F-4D97-AF65-F5344CB8AC3E}">
        <p14:creationId xmlns:p14="http://schemas.microsoft.com/office/powerpoint/2010/main" val="16272887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3274-7D75-4EAB-92DD-EA11BB988C4A}"/>
              </a:ext>
            </a:extLst>
          </p:cNvPr>
          <p:cNvSpPr>
            <a:spLocks noGrp="1"/>
          </p:cNvSpPr>
          <p:nvPr>
            <p:ph type="title"/>
          </p:nvPr>
        </p:nvSpPr>
        <p:spPr/>
        <p:txBody>
          <a:bodyPr>
            <a:normAutofit fontScale="90000"/>
          </a:bodyPr>
          <a:lstStyle/>
          <a:p>
            <a:r>
              <a:rPr lang="en-US" b="1" dirty="0"/>
              <a:t>Gateway</a:t>
            </a:r>
            <a:br>
              <a:rPr lang="en-US" b="1" dirty="0"/>
            </a:br>
            <a:endParaRPr lang="en-US" dirty="0"/>
          </a:p>
        </p:txBody>
      </p:sp>
      <p:sp>
        <p:nvSpPr>
          <p:cNvPr id="3" name="Content Placeholder 2">
            <a:extLst>
              <a:ext uri="{FF2B5EF4-FFF2-40B4-BE49-F238E27FC236}">
                <a16:creationId xmlns:a16="http://schemas.microsoft.com/office/drawing/2014/main" id="{1597D561-198E-4DA0-BFD5-103166D4A241}"/>
              </a:ext>
            </a:extLst>
          </p:cNvPr>
          <p:cNvSpPr>
            <a:spLocks noGrp="1"/>
          </p:cNvSpPr>
          <p:nvPr>
            <p:ph idx="1"/>
          </p:nvPr>
        </p:nvSpPr>
        <p:spPr>
          <a:xfrm>
            <a:off x="609600" y="1066801"/>
            <a:ext cx="10972800" cy="5059364"/>
          </a:xfrm>
        </p:spPr>
        <p:txBody>
          <a:bodyPr>
            <a:normAutofit fontScale="85000" lnSpcReduction="10000"/>
          </a:bodyPr>
          <a:lstStyle/>
          <a:p>
            <a:r>
              <a:rPr lang="en-US" b="1" dirty="0"/>
              <a:t>Description</a:t>
            </a:r>
            <a:r>
              <a:rPr lang="en-US" dirty="0"/>
              <a:t>: A </a:t>
            </a:r>
            <a:r>
              <a:rPr lang="en-US" b="1" dirty="0"/>
              <a:t>gateway</a:t>
            </a:r>
            <a:r>
              <a:rPr lang="en-US" dirty="0"/>
              <a:t> is a network device that acts as a bridge between different networks, translating protocols, data formats, and addressing schemes to enable communication across heterogeneous systems. </a:t>
            </a:r>
          </a:p>
          <a:p>
            <a:r>
              <a:rPr lang="en-US" b="1" dirty="0"/>
              <a:t>Function: </a:t>
            </a:r>
            <a:r>
              <a:rPr lang="en-US" dirty="0"/>
              <a:t>Gateways operate across various layers of the OSI model, depending on the functions they serve, but they typically work at higher levels than devices like switches or routers. </a:t>
            </a:r>
          </a:p>
          <a:p>
            <a:r>
              <a:rPr lang="en-US" dirty="0"/>
              <a:t>They enable data exchange and interoperability between networks with differing architectures, such as LAN to WAN connections, different protocols (e.g., TCP/IP to IPX/SPX), and even between analog and digital systems.</a:t>
            </a:r>
            <a:endParaRPr lang="en-US" b="1" dirty="0"/>
          </a:p>
          <a:p>
            <a:r>
              <a:rPr lang="en-US" b="1" dirty="0"/>
              <a:t>Application</a:t>
            </a:r>
            <a:r>
              <a:rPr lang="en-US" dirty="0"/>
              <a:t>: Commonly used in enterprise networks to connect an internal network to the internet or other external networks.</a:t>
            </a:r>
          </a:p>
          <a:p>
            <a:endParaRPr lang="en-US" dirty="0"/>
          </a:p>
        </p:txBody>
      </p:sp>
    </p:spTree>
    <p:extLst>
      <p:ext uri="{BB962C8B-B14F-4D97-AF65-F5344CB8AC3E}">
        <p14:creationId xmlns:p14="http://schemas.microsoft.com/office/powerpoint/2010/main" val="33781457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9D8B7-76CB-47CF-B3CD-AAD5EAC6AE53}"/>
              </a:ext>
            </a:extLst>
          </p:cNvPr>
          <p:cNvSpPr>
            <a:spLocks noGrp="1"/>
          </p:cNvSpPr>
          <p:nvPr>
            <p:ph type="title"/>
          </p:nvPr>
        </p:nvSpPr>
        <p:spPr>
          <a:xfrm>
            <a:off x="609600" y="23446"/>
            <a:ext cx="10972800" cy="563562"/>
          </a:xfrm>
        </p:spPr>
        <p:txBody>
          <a:bodyPr>
            <a:normAutofit fontScale="90000"/>
          </a:bodyPr>
          <a:lstStyle/>
          <a:p>
            <a:br>
              <a:rPr lang="en-US" b="1" dirty="0"/>
            </a:br>
            <a:r>
              <a:rPr lang="en-US" b="1" dirty="0"/>
              <a:t>Key Functions of a Gateway</a:t>
            </a:r>
            <a:br>
              <a:rPr lang="en-US" b="1" dirty="0"/>
            </a:br>
            <a:endParaRPr lang="en-US" dirty="0"/>
          </a:p>
        </p:txBody>
      </p:sp>
      <p:sp>
        <p:nvSpPr>
          <p:cNvPr id="3" name="Content Placeholder 2">
            <a:extLst>
              <a:ext uri="{FF2B5EF4-FFF2-40B4-BE49-F238E27FC236}">
                <a16:creationId xmlns:a16="http://schemas.microsoft.com/office/drawing/2014/main" id="{A99F3743-DF09-42CA-87EE-D426CD1EE114}"/>
              </a:ext>
            </a:extLst>
          </p:cNvPr>
          <p:cNvSpPr>
            <a:spLocks noGrp="1"/>
          </p:cNvSpPr>
          <p:nvPr>
            <p:ph idx="1"/>
          </p:nvPr>
        </p:nvSpPr>
        <p:spPr>
          <a:xfrm>
            <a:off x="609600" y="838201"/>
            <a:ext cx="10972800" cy="5287964"/>
          </a:xfrm>
        </p:spPr>
        <p:txBody>
          <a:bodyPr>
            <a:normAutofit fontScale="85000" lnSpcReduction="20000"/>
          </a:bodyPr>
          <a:lstStyle/>
          <a:p>
            <a:r>
              <a:rPr lang="en-US" b="1" dirty="0"/>
              <a:t>Protocol Conversion</a:t>
            </a:r>
            <a:r>
              <a:rPr lang="en-US" dirty="0"/>
              <a:t>: Translates between different communication protocols to enable data exchange across diverse networks (e.g., TCP/IP to FTP, HTTP to HTTPS).</a:t>
            </a:r>
          </a:p>
          <a:p>
            <a:r>
              <a:rPr lang="en-US" b="1" dirty="0"/>
              <a:t>Data Formatting</a:t>
            </a:r>
            <a:r>
              <a:rPr lang="en-US" dirty="0"/>
              <a:t>: Converts data formats to be compatible with different network types and applications (e.g., email formatting from SMTP to HTTP).</a:t>
            </a:r>
          </a:p>
          <a:p>
            <a:r>
              <a:rPr lang="en-US" b="1" dirty="0"/>
              <a:t>Address Translation</a:t>
            </a:r>
            <a:r>
              <a:rPr lang="en-US" dirty="0"/>
              <a:t>: Translates between different addressing schemes, such as IPv4 and IPv6, or IP addresses to non-IP addresses.</a:t>
            </a:r>
          </a:p>
          <a:p>
            <a:r>
              <a:rPr lang="en-US" b="1" dirty="0"/>
              <a:t>Data Encapsulation and Decapsulation</a:t>
            </a:r>
            <a:r>
              <a:rPr lang="en-US" dirty="0"/>
              <a:t>: Encapsulates or decapsulates data depending on network requirements, which is essential for tunneling protocols and Virtual Private Networks (VPNs).</a:t>
            </a:r>
          </a:p>
          <a:p>
            <a:r>
              <a:rPr lang="en-US" b="1" dirty="0"/>
              <a:t>Application-Level Services</a:t>
            </a:r>
            <a:r>
              <a:rPr lang="en-US" dirty="0"/>
              <a:t>: Often provides services such as email processing, file conversion, and secure tunneling by working at the Application Layer (Layer 7).</a:t>
            </a:r>
          </a:p>
          <a:p>
            <a:endParaRPr lang="en-US" dirty="0"/>
          </a:p>
        </p:txBody>
      </p:sp>
    </p:spTree>
    <p:extLst>
      <p:ext uri="{BB962C8B-B14F-4D97-AF65-F5344CB8AC3E}">
        <p14:creationId xmlns:p14="http://schemas.microsoft.com/office/powerpoint/2010/main" val="31483570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8AB8-6B4C-48DD-8CEA-D0EBA60CC180}"/>
              </a:ext>
            </a:extLst>
          </p:cNvPr>
          <p:cNvSpPr>
            <a:spLocks noGrp="1"/>
          </p:cNvSpPr>
          <p:nvPr>
            <p:ph type="title"/>
          </p:nvPr>
        </p:nvSpPr>
        <p:spPr>
          <a:xfrm>
            <a:off x="609600" y="9378"/>
            <a:ext cx="10972800" cy="457198"/>
          </a:xfrm>
        </p:spPr>
        <p:txBody>
          <a:bodyPr>
            <a:normAutofit fontScale="90000"/>
          </a:bodyPr>
          <a:lstStyle/>
          <a:p>
            <a:br>
              <a:rPr lang="en-US" b="1" dirty="0"/>
            </a:br>
            <a:r>
              <a:rPr lang="en-US" b="1" dirty="0"/>
              <a:t>Types of Gateways</a:t>
            </a:r>
            <a:br>
              <a:rPr lang="en-US" b="1" dirty="0"/>
            </a:br>
            <a:endParaRPr lang="en-US" dirty="0"/>
          </a:p>
        </p:txBody>
      </p:sp>
      <p:sp>
        <p:nvSpPr>
          <p:cNvPr id="3" name="Content Placeholder 2">
            <a:extLst>
              <a:ext uri="{FF2B5EF4-FFF2-40B4-BE49-F238E27FC236}">
                <a16:creationId xmlns:a16="http://schemas.microsoft.com/office/drawing/2014/main" id="{ECD1F29F-0FCE-4308-8DC2-F177C31AC983}"/>
              </a:ext>
            </a:extLst>
          </p:cNvPr>
          <p:cNvSpPr>
            <a:spLocks noGrp="1"/>
          </p:cNvSpPr>
          <p:nvPr>
            <p:ph idx="1"/>
          </p:nvPr>
        </p:nvSpPr>
        <p:spPr>
          <a:xfrm>
            <a:off x="609600" y="685801"/>
            <a:ext cx="10972800" cy="5440364"/>
          </a:xfrm>
        </p:spPr>
        <p:txBody>
          <a:bodyPr>
            <a:noAutofit/>
          </a:bodyPr>
          <a:lstStyle/>
          <a:p>
            <a:r>
              <a:rPr lang="en-US" sz="1500" b="1" dirty="0"/>
              <a:t>Network Gateway</a:t>
            </a:r>
            <a:r>
              <a:rPr lang="en-US" sz="1500" dirty="0"/>
              <a:t>:</a:t>
            </a:r>
          </a:p>
          <a:p>
            <a:pPr lvl="1"/>
            <a:r>
              <a:rPr lang="en-US" sz="1500" b="1" dirty="0"/>
              <a:t>Description</a:t>
            </a:r>
            <a:r>
              <a:rPr lang="en-US" sz="1500" dirty="0"/>
              <a:t>: Provides a bridge between two different networks, typically LAN to WAN, enabling data exchange between them.</a:t>
            </a:r>
          </a:p>
          <a:p>
            <a:pPr lvl="1"/>
            <a:r>
              <a:rPr lang="en-US" sz="1500" b="1" dirty="0"/>
              <a:t>Applications</a:t>
            </a:r>
            <a:r>
              <a:rPr lang="en-US" sz="1500" dirty="0"/>
              <a:t>: Common in corporate networks where internal LANs connect to external networks or the internet.</a:t>
            </a:r>
          </a:p>
          <a:p>
            <a:pPr lvl="1"/>
            <a:r>
              <a:rPr lang="en-US" sz="1500" b="1" dirty="0"/>
              <a:t>Features</a:t>
            </a:r>
            <a:r>
              <a:rPr lang="en-US" sz="1500" dirty="0"/>
              <a:t>: Translates network addresses, protocols, and data formats as required.</a:t>
            </a:r>
          </a:p>
          <a:p>
            <a:r>
              <a:rPr lang="en-US" sz="1500" b="1" dirty="0"/>
              <a:t>Application Gateway (Application-Level Gateway or ALG)</a:t>
            </a:r>
            <a:r>
              <a:rPr lang="en-US" sz="1500" dirty="0"/>
              <a:t>:</a:t>
            </a:r>
          </a:p>
          <a:p>
            <a:pPr lvl="1"/>
            <a:r>
              <a:rPr lang="en-US" sz="1500" b="1" dirty="0"/>
              <a:t>Description</a:t>
            </a:r>
            <a:r>
              <a:rPr lang="en-US" sz="1500" dirty="0"/>
              <a:t>: Works at the Application Layer, filtering and handling data specific to certain applications like FTP, HTTP, and VoIP.</a:t>
            </a:r>
          </a:p>
          <a:p>
            <a:pPr lvl="1"/>
            <a:r>
              <a:rPr lang="en-US" sz="1500" b="1" dirty="0"/>
              <a:t>Applications</a:t>
            </a:r>
            <a:r>
              <a:rPr lang="en-US" sz="1500" dirty="0"/>
              <a:t>: Often used in firewalls to inspect and control specific types of application traffic.</a:t>
            </a:r>
          </a:p>
          <a:p>
            <a:pPr lvl="1"/>
            <a:r>
              <a:rPr lang="en-US" sz="1500" b="1" dirty="0"/>
              <a:t>Advantages</a:t>
            </a:r>
            <a:r>
              <a:rPr lang="en-US" sz="1500" dirty="0"/>
              <a:t>: Provides fine-grained control of application data, improving security and compliance.</a:t>
            </a:r>
          </a:p>
          <a:p>
            <a:r>
              <a:rPr lang="en-US" sz="1500" b="1" dirty="0"/>
              <a:t>Internet Gateway</a:t>
            </a:r>
            <a:r>
              <a:rPr lang="en-US" sz="1500" dirty="0"/>
              <a:t>:</a:t>
            </a:r>
          </a:p>
          <a:p>
            <a:pPr lvl="1"/>
            <a:r>
              <a:rPr lang="en-US" sz="1500" b="1" dirty="0"/>
              <a:t>Description</a:t>
            </a:r>
            <a:r>
              <a:rPr lang="en-US" sz="1500" dirty="0"/>
              <a:t>: Serves as a bridge between an internal network and the internet, typically used for routing traffic to and from external sources.</a:t>
            </a:r>
          </a:p>
          <a:p>
            <a:pPr lvl="1"/>
            <a:r>
              <a:rPr lang="en-US" sz="1500" b="1" dirty="0"/>
              <a:t>Applications</a:t>
            </a:r>
            <a:r>
              <a:rPr lang="en-US" sz="1500" dirty="0"/>
              <a:t>: Provides internet access for devices within a local network by routing traffic out to the internet and managing return traffic.</a:t>
            </a:r>
          </a:p>
          <a:p>
            <a:pPr lvl="1"/>
            <a:r>
              <a:rPr lang="en-US" sz="1500" b="1" dirty="0"/>
              <a:t>Security</a:t>
            </a:r>
            <a:r>
              <a:rPr lang="en-US" sz="1500" dirty="0"/>
              <a:t>: Often equipped with firewall capabilities to control data entering or leaving the network.</a:t>
            </a:r>
          </a:p>
          <a:p>
            <a:r>
              <a:rPr lang="en-US" sz="1500" b="1" dirty="0"/>
              <a:t>VoIP Gateway</a:t>
            </a:r>
            <a:r>
              <a:rPr lang="en-US" sz="1500" dirty="0"/>
              <a:t>:</a:t>
            </a:r>
          </a:p>
          <a:p>
            <a:pPr lvl="1"/>
            <a:r>
              <a:rPr lang="en-US" sz="1500" b="1" dirty="0"/>
              <a:t>Description</a:t>
            </a:r>
            <a:r>
              <a:rPr lang="en-US" sz="1500" dirty="0"/>
              <a:t>: Converts voice traffic between traditional telephony networks and Voice over IP (VoIP) networks.</a:t>
            </a:r>
          </a:p>
          <a:p>
            <a:pPr lvl="1"/>
            <a:r>
              <a:rPr lang="en-US" sz="1500" b="1" dirty="0"/>
              <a:t>Applications</a:t>
            </a:r>
            <a:r>
              <a:rPr lang="en-US" sz="1500" dirty="0"/>
              <a:t>: Used in businesses to integrate legacy phone systems with modern VoIP systems, facilitating calls between them.</a:t>
            </a:r>
          </a:p>
          <a:p>
            <a:pPr lvl="1"/>
            <a:r>
              <a:rPr lang="en-US" sz="1500" b="1" dirty="0"/>
              <a:t>Advantages</a:t>
            </a:r>
            <a:r>
              <a:rPr lang="en-US" sz="1500" dirty="0"/>
              <a:t>: Enables cost savings by allowing use of VoIP infrastructure while still supporting traditional phones.</a:t>
            </a:r>
          </a:p>
        </p:txBody>
      </p:sp>
    </p:spTree>
    <p:extLst>
      <p:ext uri="{BB962C8B-B14F-4D97-AF65-F5344CB8AC3E}">
        <p14:creationId xmlns:p14="http://schemas.microsoft.com/office/powerpoint/2010/main" val="14128337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6E688-7742-44C4-8C2E-E2778D9B6D2B}"/>
              </a:ext>
            </a:extLst>
          </p:cNvPr>
          <p:cNvSpPr>
            <a:spLocks noGrp="1"/>
          </p:cNvSpPr>
          <p:nvPr>
            <p:ph type="title"/>
          </p:nvPr>
        </p:nvSpPr>
        <p:spPr>
          <a:xfrm>
            <a:off x="588498" y="168273"/>
            <a:ext cx="10972800" cy="563562"/>
          </a:xfrm>
        </p:spPr>
        <p:txBody>
          <a:bodyPr>
            <a:normAutofit fontScale="90000"/>
          </a:bodyPr>
          <a:lstStyle/>
          <a:p>
            <a:br>
              <a:rPr lang="en-US" b="1" dirty="0"/>
            </a:br>
            <a:r>
              <a:rPr lang="en-US" b="1" dirty="0"/>
              <a:t>Types of Gateways</a:t>
            </a:r>
            <a:br>
              <a:rPr lang="en-US" b="1" dirty="0"/>
            </a:br>
            <a:endParaRPr lang="en-US" dirty="0"/>
          </a:p>
        </p:txBody>
      </p:sp>
      <p:sp>
        <p:nvSpPr>
          <p:cNvPr id="3" name="Content Placeholder 2">
            <a:extLst>
              <a:ext uri="{FF2B5EF4-FFF2-40B4-BE49-F238E27FC236}">
                <a16:creationId xmlns:a16="http://schemas.microsoft.com/office/drawing/2014/main" id="{82A431FA-6076-4B86-8A80-96AFEA495A52}"/>
              </a:ext>
            </a:extLst>
          </p:cNvPr>
          <p:cNvSpPr>
            <a:spLocks noGrp="1"/>
          </p:cNvSpPr>
          <p:nvPr>
            <p:ph idx="1"/>
          </p:nvPr>
        </p:nvSpPr>
        <p:spPr>
          <a:xfrm>
            <a:off x="609600" y="838200"/>
            <a:ext cx="10972800" cy="5287965"/>
          </a:xfrm>
        </p:spPr>
        <p:txBody>
          <a:bodyPr>
            <a:noAutofit/>
          </a:bodyPr>
          <a:lstStyle/>
          <a:p>
            <a:r>
              <a:rPr lang="en-US" sz="1700" b="1" dirty="0"/>
              <a:t>Cloud Storage Gateway</a:t>
            </a:r>
            <a:r>
              <a:rPr lang="en-US" sz="1700" dirty="0"/>
              <a:t>:</a:t>
            </a:r>
          </a:p>
          <a:p>
            <a:pPr lvl="1"/>
            <a:r>
              <a:rPr lang="en-US" sz="1700" b="1" dirty="0"/>
              <a:t>Description</a:t>
            </a:r>
            <a:r>
              <a:rPr lang="en-US" sz="1700" dirty="0"/>
              <a:t>: Translates data storage requests into cloud-compatible formats, facilitating data storage and retrieval from cloud services.</a:t>
            </a:r>
          </a:p>
          <a:p>
            <a:pPr lvl="1"/>
            <a:r>
              <a:rPr lang="en-US" sz="1700" b="1" dirty="0"/>
              <a:t>Applications</a:t>
            </a:r>
            <a:r>
              <a:rPr lang="en-US" sz="1700" dirty="0"/>
              <a:t>: Common in hybrid cloud environments, allowing seamless interaction between on-premises storage and cloud storage.</a:t>
            </a:r>
          </a:p>
          <a:p>
            <a:pPr lvl="1"/>
            <a:r>
              <a:rPr lang="en-US" sz="1700" b="1" dirty="0"/>
              <a:t>Advantages</a:t>
            </a:r>
            <a:r>
              <a:rPr lang="en-US" sz="1700" dirty="0"/>
              <a:t>: Enhances scalability by leveraging cloud storage while maintaining compatibility with local storage systems.</a:t>
            </a:r>
          </a:p>
          <a:p>
            <a:r>
              <a:rPr lang="en-US" sz="1700" b="1" dirty="0"/>
              <a:t>IoT Gateway</a:t>
            </a:r>
            <a:r>
              <a:rPr lang="en-US" sz="1700" dirty="0"/>
              <a:t>:</a:t>
            </a:r>
          </a:p>
          <a:p>
            <a:pPr lvl="1"/>
            <a:r>
              <a:rPr lang="en-US" sz="1700" b="1" dirty="0"/>
              <a:t>Description</a:t>
            </a:r>
            <a:r>
              <a:rPr lang="en-US" sz="1700" dirty="0"/>
              <a:t>: Manages and translates protocols between IoT devices and centralized networks, handling data processing and connectivity for IoT systems.</a:t>
            </a:r>
          </a:p>
          <a:p>
            <a:pPr lvl="1"/>
            <a:r>
              <a:rPr lang="en-US" sz="1700" b="1" dirty="0"/>
              <a:t>Applications</a:t>
            </a:r>
            <a:r>
              <a:rPr lang="en-US" sz="1700" dirty="0"/>
              <a:t>: Used in industrial automation, smart homes, and healthcare to centralize data from various IoT devices.</a:t>
            </a:r>
          </a:p>
          <a:p>
            <a:pPr lvl="1"/>
            <a:r>
              <a:rPr lang="en-US" sz="1700" b="1" dirty="0"/>
              <a:t>Features</a:t>
            </a:r>
            <a:r>
              <a:rPr lang="en-US" sz="1700" dirty="0"/>
              <a:t>: Often includes security, data filtering, and protocol translation specific to IoT standards.</a:t>
            </a:r>
          </a:p>
          <a:p>
            <a:r>
              <a:rPr lang="en-US" sz="1700" b="1" dirty="0"/>
              <a:t>Email Gateway</a:t>
            </a:r>
            <a:r>
              <a:rPr lang="en-US" sz="1700" dirty="0"/>
              <a:t>:</a:t>
            </a:r>
          </a:p>
          <a:p>
            <a:pPr lvl="1"/>
            <a:r>
              <a:rPr lang="en-US" sz="1700" b="1" dirty="0"/>
              <a:t>Description</a:t>
            </a:r>
            <a:r>
              <a:rPr lang="en-US" sz="1700" dirty="0"/>
              <a:t>: Routes and filters emails between different email systems and provides security, such as anti-spam and anti-phishing.</a:t>
            </a:r>
          </a:p>
          <a:p>
            <a:pPr lvl="1"/>
            <a:r>
              <a:rPr lang="en-US" sz="1700" b="1" dirty="0"/>
              <a:t>Applications</a:t>
            </a:r>
            <a:r>
              <a:rPr lang="en-US" sz="1700" dirty="0"/>
              <a:t>: Used by organizations to control inbound and outbound email traffic, ensuring compliance and security.</a:t>
            </a:r>
          </a:p>
          <a:p>
            <a:pPr lvl="1"/>
            <a:r>
              <a:rPr lang="en-US" sz="1700" b="1" dirty="0"/>
              <a:t>Security Features</a:t>
            </a:r>
            <a:r>
              <a:rPr lang="en-US" sz="1700" dirty="0"/>
              <a:t>: Protects against spam, phishing, and malware, often applying encryption for sensitive emails.</a:t>
            </a:r>
          </a:p>
          <a:p>
            <a:endParaRPr lang="en-US" sz="1700" dirty="0"/>
          </a:p>
          <a:p>
            <a:endParaRPr lang="en-US" sz="1700" dirty="0"/>
          </a:p>
        </p:txBody>
      </p:sp>
    </p:spTree>
    <p:extLst>
      <p:ext uri="{BB962C8B-B14F-4D97-AF65-F5344CB8AC3E}">
        <p14:creationId xmlns:p14="http://schemas.microsoft.com/office/powerpoint/2010/main" val="40181951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EB4AF-56D6-4D3C-8490-3F38D8EC03BA}"/>
              </a:ext>
            </a:extLst>
          </p:cNvPr>
          <p:cNvSpPr>
            <a:spLocks noGrp="1"/>
          </p:cNvSpPr>
          <p:nvPr>
            <p:ph type="title"/>
          </p:nvPr>
        </p:nvSpPr>
        <p:spPr>
          <a:xfrm>
            <a:off x="584982" y="152400"/>
            <a:ext cx="10972800" cy="715962"/>
          </a:xfrm>
        </p:spPr>
        <p:txBody>
          <a:bodyPr>
            <a:normAutofit fontScale="90000"/>
          </a:bodyPr>
          <a:lstStyle/>
          <a:p>
            <a:br>
              <a:rPr lang="en-US" b="1" dirty="0"/>
            </a:br>
            <a:r>
              <a:rPr lang="en-US" b="1" dirty="0"/>
              <a:t>Advantages of Gateways</a:t>
            </a:r>
            <a:br>
              <a:rPr lang="en-US" b="1" dirty="0"/>
            </a:br>
            <a:endParaRPr lang="en-US" dirty="0"/>
          </a:p>
        </p:txBody>
      </p:sp>
      <p:sp>
        <p:nvSpPr>
          <p:cNvPr id="3" name="Content Placeholder 2">
            <a:extLst>
              <a:ext uri="{FF2B5EF4-FFF2-40B4-BE49-F238E27FC236}">
                <a16:creationId xmlns:a16="http://schemas.microsoft.com/office/drawing/2014/main" id="{ED7B39A6-49BB-4B97-8D74-AEABE3D414C7}"/>
              </a:ext>
            </a:extLst>
          </p:cNvPr>
          <p:cNvSpPr>
            <a:spLocks noGrp="1"/>
          </p:cNvSpPr>
          <p:nvPr>
            <p:ph idx="1"/>
          </p:nvPr>
        </p:nvSpPr>
        <p:spPr>
          <a:xfrm>
            <a:off x="609600" y="868363"/>
            <a:ext cx="10972800" cy="5257802"/>
          </a:xfrm>
        </p:spPr>
        <p:txBody>
          <a:bodyPr>
            <a:normAutofit fontScale="85000" lnSpcReduction="10000"/>
          </a:bodyPr>
          <a:lstStyle/>
          <a:p>
            <a:r>
              <a:rPr lang="en-US" b="1" dirty="0"/>
              <a:t>Interoperability</a:t>
            </a:r>
            <a:r>
              <a:rPr lang="en-US" dirty="0"/>
              <a:t>: Enables diverse systems and networks to communicate, supporting integration across different protocols and formats.</a:t>
            </a:r>
          </a:p>
          <a:p>
            <a:r>
              <a:rPr lang="en-US" b="1" dirty="0"/>
              <a:t>Data and Address Translation</a:t>
            </a:r>
            <a:r>
              <a:rPr lang="en-US" dirty="0"/>
              <a:t>: Allows data exchange even between networks with distinct addressing schemes and protocols.</a:t>
            </a:r>
          </a:p>
          <a:p>
            <a:r>
              <a:rPr lang="en-US" b="1" dirty="0"/>
              <a:t>Enhanced Security</a:t>
            </a:r>
            <a:r>
              <a:rPr lang="en-US" dirty="0"/>
              <a:t>: Many gateways provide security features, such as packet filtering, access control, and content inspection, safeguarding network resources.</a:t>
            </a:r>
          </a:p>
          <a:p>
            <a:r>
              <a:rPr lang="en-US" b="1" dirty="0"/>
              <a:t>Application-Specific Controls</a:t>
            </a:r>
            <a:r>
              <a:rPr lang="en-US" dirty="0"/>
              <a:t>: Gateways can control specific application traffic, improving network efficiency and application performance.</a:t>
            </a:r>
          </a:p>
          <a:p>
            <a:r>
              <a:rPr lang="en-US" b="1" dirty="0"/>
              <a:t>Support for Hybrid Networks</a:t>
            </a:r>
            <a:r>
              <a:rPr lang="en-US" dirty="0"/>
              <a:t>: Facilitates integration between cloud, IoT, and on-premises networks, making them essential in modern, diverse infrastructures.</a:t>
            </a:r>
          </a:p>
          <a:p>
            <a:endParaRPr lang="en-US" dirty="0"/>
          </a:p>
        </p:txBody>
      </p:sp>
    </p:spTree>
    <p:extLst>
      <p:ext uri="{BB962C8B-B14F-4D97-AF65-F5344CB8AC3E}">
        <p14:creationId xmlns:p14="http://schemas.microsoft.com/office/powerpoint/2010/main" val="20252309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7C5A-1992-425D-81C6-66DF0C2119A9}"/>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Disadvantages of Gateways</a:t>
            </a:r>
            <a:br>
              <a:rPr lang="en-US" b="1" dirty="0"/>
            </a:br>
            <a:endParaRPr lang="en-US" dirty="0"/>
          </a:p>
        </p:txBody>
      </p:sp>
      <p:sp>
        <p:nvSpPr>
          <p:cNvPr id="3" name="Content Placeholder 2">
            <a:extLst>
              <a:ext uri="{FF2B5EF4-FFF2-40B4-BE49-F238E27FC236}">
                <a16:creationId xmlns:a16="http://schemas.microsoft.com/office/drawing/2014/main" id="{AE7F7A2D-08E8-4EAB-ADCF-908475D6B497}"/>
              </a:ext>
            </a:extLst>
          </p:cNvPr>
          <p:cNvSpPr>
            <a:spLocks noGrp="1"/>
          </p:cNvSpPr>
          <p:nvPr>
            <p:ph idx="1"/>
          </p:nvPr>
        </p:nvSpPr>
        <p:spPr>
          <a:xfrm>
            <a:off x="609600" y="914401"/>
            <a:ext cx="10972800" cy="5211764"/>
          </a:xfrm>
        </p:spPr>
        <p:txBody>
          <a:bodyPr>
            <a:normAutofit fontScale="92500"/>
          </a:bodyPr>
          <a:lstStyle/>
          <a:p>
            <a:r>
              <a:rPr lang="en-US" b="1" dirty="0"/>
              <a:t>Complex Configuration</a:t>
            </a:r>
            <a:r>
              <a:rPr lang="en-US" dirty="0"/>
              <a:t>: Gateways require specialized setup and maintenance, as they handle various protocols and data types.</a:t>
            </a:r>
          </a:p>
          <a:p>
            <a:r>
              <a:rPr lang="en-US" b="1" dirty="0"/>
              <a:t>Potential Latency</a:t>
            </a:r>
            <a:r>
              <a:rPr lang="en-US" dirty="0"/>
              <a:t>: Data translation and protocol conversion can introduce delays, especially when processing large amounts of data or handling complex translations.</a:t>
            </a:r>
          </a:p>
          <a:p>
            <a:r>
              <a:rPr lang="en-US" b="1" dirty="0"/>
              <a:t>Higher Cost</a:t>
            </a:r>
            <a:r>
              <a:rPr lang="en-US" dirty="0"/>
              <a:t>: Gateways are more complex and often more expensive than simpler network devices like routers or switches.</a:t>
            </a:r>
          </a:p>
          <a:p>
            <a:r>
              <a:rPr lang="en-US" b="1" dirty="0"/>
              <a:t>Single Point of Failure</a:t>
            </a:r>
            <a:r>
              <a:rPr lang="en-US" dirty="0"/>
              <a:t>: If a gateway fails, communication between networks it connects may be disrupted, impacting availability and performance.</a:t>
            </a:r>
          </a:p>
          <a:p>
            <a:endParaRPr lang="en-US" dirty="0"/>
          </a:p>
        </p:txBody>
      </p:sp>
    </p:spTree>
    <p:extLst>
      <p:ext uri="{BB962C8B-B14F-4D97-AF65-F5344CB8AC3E}">
        <p14:creationId xmlns:p14="http://schemas.microsoft.com/office/powerpoint/2010/main" val="34174846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3078-29A7-4E3F-B855-FD30C49D944B}"/>
              </a:ext>
            </a:extLst>
          </p:cNvPr>
          <p:cNvSpPr>
            <a:spLocks noGrp="1"/>
          </p:cNvSpPr>
          <p:nvPr>
            <p:ph type="title"/>
          </p:nvPr>
        </p:nvSpPr>
        <p:spPr>
          <a:xfrm>
            <a:off x="609600" y="274638"/>
            <a:ext cx="10972800" cy="457198"/>
          </a:xfrm>
        </p:spPr>
        <p:txBody>
          <a:bodyPr>
            <a:normAutofit fontScale="90000"/>
          </a:bodyPr>
          <a:lstStyle/>
          <a:p>
            <a:br>
              <a:rPr lang="en-US" b="1" dirty="0"/>
            </a:br>
            <a:br>
              <a:rPr lang="en-US" b="1" dirty="0"/>
            </a:br>
            <a:r>
              <a:rPr lang="en-US" b="1" dirty="0"/>
              <a:t>Applications of Gateways</a:t>
            </a:r>
            <a:br>
              <a:rPr lang="en-US" b="1" dirty="0"/>
            </a:br>
            <a:br>
              <a:rPr lang="en-US" b="1" dirty="0"/>
            </a:br>
            <a:endParaRPr lang="en-US" dirty="0"/>
          </a:p>
        </p:txBody>
      </p:sp>
      <p:sp>
        <p:nvSpPr>
          <p:cNvPr id="3" name="Content Placeholder 2">
            <a:extLst>
              <a:ext uri="{FF2B5EF4-FFF2-40B4-BE49-F238E27FC236}">
                <a16:creationId xmlns:a16="http://schemas.microsoft.com/office/drawing/2014/main" id="{6210CB64-948C-4EE9-9588-7F6CD869AD45}"/>
              </a:ext>
            </a:extLst>
          </p:cNvPr>
          <p:cNvSpPr>
            <a:spLocks noGrp="1"/>
          </p:cNvSpPr>
          <p:nvPr>
            <p:ph idx="1"/>
          </p:nvPr>
        </p:nvSpPr>
        <p:spPr>
          <a:xfrm>
            <a:off x="609600" y="838201"/>
            <a:ext cx="10972800" cy="5287964"/>
          </a:xfrm>
        </p:spPr>
        <p:txBody>
          <a:bodyPr>
            <a:normAutofit fontScale="85000" lnSpcReduction="10000"/>
          </a:bodyPr>
          <a:lstStyle/>
          <a:p>
            <a:r>
              <a:rPr lang="en-US" b="1" dirty="0"/>
              <a:t>Corporate Networks</a:t>
            </a:r>
            <a:r>
              <a:rPr lang="en-US" dirty="0"/>
              <a:t>: Act as a bridge between internal networks and the internet, often providing access control, VPN support, and secure data exchange.</a:t>
            </a:r>
          </a:p>
          <a:p>
            <a:r>
              <a:rPr lang="en-US" b="1" dirty="0"/>
              <a:t>Data Center Integration</a:t>
            </a:r>
            <a:r>
              <a:rPr lang="en-US" dirty="0"/>
              <a:t>: Connects on-premises data centers with cloud resources, enabling hybrid and multi-cloud architectures.</a:t>
            </a:r>
          </a:p>
          <a:p>
            <a:r>
              <a:rPr lang="en-US" b="1" dirty="0"/>
              <a:t>Industrial IoT</a:t>
            </a:r>
            <a:r>
              <a:rPr lang="en-US" dirty="0"/>
              <a:t>: Integrates IoT devices with centralized data systems, translating protocols specific to industrial standards (e.g., Modbus, MQTT).</a:t>
            </a:r>
          </a:p>
          <a:p>
            <a:r>
              <a:rPr lang="en-US" b="1" dirty="0"/>
              <a:t>Email Filtering and Protection</a:t>
            </a:r>
            <a:r>
              <a:rPr lang="en-US" dirty="0"/>
              <a:t>: Protects organizations from email-based threats, filtering spam, and preventing phishing and malware attacks.</a:t>
            </a:r>
          </a:p>
          <a:p>
            <a:r>
              <a:rPr lang="en-US" b="1" dirty="0"/>
              <a:t>Remote Access</a:t>
            </a:r>
            <a:r>
              <a:rPr lang="en-US" dirty="0"/>
              <a:t>: Provides VPN and secure remote access for users, allowing secure communication with an organization's internal resources from outside the network.</a:t>
            </a:r>
          </a:p>
          <a:p>
            <a:endParaRPr lang="en-US" dirty="0"/>
          </a:p>
        </p:txBody>
      </p:sp>
    </p:spTree>
    <p:extLst>
      <p:ext uri="{BB962C8B-B14F-4D97-AF65-F5344CB8AC3E}">
        <p14:creationId xmlns:p14="http://schemas.microsoft.com/office/powerpoint/2010/main" val="31906705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40D6-3E32-4B51-B9AE-6DCA5E84EADB}"/>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Load Balancer</a:t>
            </a:r>
            <a:br>
              <a:rPr lang="en-US" b="1" dirty="0"/>
            </a:br>
            <a:endParaRPr lang="en-US" dirty="0"/>
          </a:p>
        </p:txBody>
      </p:sp>
      <p:sp>
        <p:nvSpPr>
          <p:cNvPr id="3" name="Content Placeholder 2">
            <a:extLst>
              <a:ext uri="{FF2B5EF4-FFF2-40B4-BE49-F238E27FC236}">
                <a16:creationId xmlns:a16="http://schemas.microsoft.com/office/drawing/2014/main" id="{A1E56593-1283-425F-87E1-037DDE5C194C}"/>
              </a:ext>
            </a:extLst>
          </p:cNvPr>
          <p:cNvSpPr>
            <a:spLocks noGrp="1"/>
          </p:cNvSpPr>
          <p:nvPr>
            <p:ph idx="1"/>
          </p:nvPr>
        </p:nvSpPr>
        <p:spPr>
          <a:xfrm>
            <a:off x="609600" y="990601"/>
            <a:ext cx="10972800" cy="5135564"/>
          </a:xfrm>
        </p:spPr>
        <p:txBody>
          <a:bodyPr>
            <a:normAutofit lnSpcReduction="10000"/>
          </a:bodyPr>
          <a:lstStyle/>
          <a:p>
            <a:r>
              <a:rPr lang="en-US" b="1" dirty="0"/>
              <a:t>Description</a:t>
            </a:r>
            <a:r>
              <a:rPr lang="en-US" dirty="0"/>
              <a:t>: A </a:t>
            </a:r>
            <a:r>
              <a:rPr lang="en-US" b="1" dirty="0"/>
              <a:t>load balancer</a:t>
            </a:r>
            <a:r>
              <a:rPr lang="en-US" dirty="0"/>
              <a:t> is a network device or software application that distributes incoming network traffic across multiple servers or resources to ensure reliability, efficiency, and optimal resource utilization. </a:t>
            </a:r>
          </a:p>
          <a:p>
            <a:r>
              <a:rPr lang="en-US" b="1" dirty="0"/>
              <a:t>Function</a:t>
            </a:r>
            <a:r>
              <a:rPr lang="en-US" dirty="0"/>
              <a:t>: By managing and balancing the load, these devices help prevent overloading of any single resource, leading to enhanced performance and availability for applications and services.</a:t>
            </a:r>
            <a:endParaRPr lang="en-US" b="1" dirty="0"/>
          </a:p>
          <a:p>
            <a:r>
              <a:rPr lang="en-US" b="1" dirty="0"/>
              <a:t>Types</a:t>
            </a:r>
            <a:r>
              <a:rPr lang="en-US" dirty="0"/>
              <a:t>: Layer 4 (Transport Layer) load balancers and Layer 7 (Application Layer) load balancers.</a:t>
            </a:r>
          </a:p>
          <a:p>
            <a:endParaRPr lang="en-US" dirty="0"/>
          </a:p>
        </p:txBody>
      </p:sp>
    </p:spTree>
    <p:extLst>
      <p:ext uri="{BB962C8B-B14F-4D97-AF65-F5344CB8AC3E}">
        <p14:creationId xmlns:p14="http://schemas.microsoft.com/office/powerpoint/2010/main" val="4570210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06A8D-0356-4556-BB74-9DDC7DCF654C}"/>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Key Functions of a Load Balancer</a:t>
            </a:r>
            <a:br>
              <a:rPr lang="en-US" b="1" dirty="0"/>
            </a:br>
            <a:endParaRPr lang="en-US" dirty="0"/>
          </a:p>
        </p:txBody>
      </p:sp>
      <p:sp>
        <p:nvSpPr>
          <p:cNvPr id="3" name="Content Placeholder 2">
            <a:extLst>
              <a:ext uri="{FF2B5EF4-FFF2-40B4-BE49-F238E27FC236}">
                <a16:creationId xmlns:a16="http://schemas.microsoft.com/office/drawing/2014/main" id="{E693D2CA-D7B6-4E8E-822A-471DCDDB2063}"/>
              </a:ext>
            </a:extLst>
          </p:cNvPr>
          <p:cNvSpPr>
            <a:spLocks noGrp="1"/>
          </p:cNvSpPr>
          <p:nvPr>
            <p:ph idx="1"/>
          </p:nvPr>
        </p:nvSpPr>
        <p:spPr>
          <a:xfrm>
            <a:off x="609600" y="1066801"/>
            <a:ext cx="10972800" cy="5059364"/>
          </a:xfrm>
        </p:spPr>
        <p:txBody>
          <a:bodyPr>
            <a:normAutofit fontScale="92500" lnSpcReduction="20000"/>
          </a:bodyPr>
          <a:lstStyle/>
          <a:p>
            <a:r>
              <a:rPr lang="en-US" b="1" dirty="0"/>
              <a:t>Traffic Distribution</a:t>
            </a:r>
            <a:r>
              <a:rPr lang="en-US" dirty="0"/>
              <a:t>: Directs incoming requests to various servers in a balanced manner, based on predefined algorithms or real-time analysis.</a:t>
            </a:r>
          </a:p>
          <a:p>
            <a:r>
              <a:rPr lang="en-US" b="1" dirty="0"/>
              <a:t>Fault Tolerance</a:t>
            </a:r>
            <a:r>
              <a:rPr lang="en-US" dirty="0"/>
              <a:t>: Redirects traffic from failed or underperforming servers to operational ones, ensuring continuity and high availability.</a:t>
            </a:r>
          </a:p>
          <a:p>
            <a:r>
              <a:rPr lang="en-US" b="1" dirty="0"/>
              <a:t>Health Monitoring</a:t>
            </a:r>
            <a:r>
              <a:rPr lang="en-US" dirty="0"/>
              <a:t>: Regularly checks the status of servers in the network, directing traffic only to healthy servers.</a:t>
            </a:r>
          </a:p>
          <a:p>
            <a:r>
              <a:rPr lang="en-US" b="1" dirty="0"/>
              <a:t>SSL Termination</a:t>
            </a:r>
            <a:r>
              <a:rPr lang="en-US" dirty="0"/>
              <a:t>: Manages and offloads SSL/TLS encryption and decryption processes, freeing up server resources.</a:t>
            </a:r>
          </a:p>
          <a:p>
            <a:r>
              <a:rPr lang="en-US" b="1" dirty="0"/>
              <a:t>Session Persistence</a:t>
            </a:r>
            <a:r>
              <a:rPr lang="en-US" dirty="0"/>
              <a:t>: Ensures requests from the same client are routed to the same server to maintain session continuity.</a:t>
            </a:r>
          </a:p>
          <a:p>
            <a:endParaRPr lang="en-US" dirty="0"/>
          </a:p>
        </p:txBody>
      </p:sp>
    </p:spTree>
    <p:extLst>
      <p:ext uri="{BB962C8B-B14F-4D97-AF65-F5344CB8AC3E}">
        <p14:creationId xmlns:p14="http://schemas.microsoft.com/office/powerpoint/2010/main" val="27795529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B2D5-41C0-4D8F-BAE8-DA46FBD6DF04}"/>
              </a:ext>
            </a:extLst>
          </p:cNvPr>
          <p:cNvSpPr>
            <a:spLocks noGrp="1"/>
          </p:cNvSpPr>
          <p:nvPr>
            <p:ph type="title"/>
          </p:nvPr>
        </p:nvSpPr>
        <p:spPr>
          <a:xfrm>
            <a:off x="609600" y="152400"/>
            <a:ext cx="10972800" cy="457198"/>
          </a:xfrm>
        </p:spPr>
        <p:txBody>
          <a:bodyPr>
            <a:normAutofit fontScale="90000"/>
          </a:bodyPr>
          <a:lstStyle/>
          <a:p>
            <a:br>
              <a:rPr lang="en-US" b="1" dirty="0"/>
            </a:br>
            <a:r>
              <a:rPr lang="en-US" b="1" dirty="0"/>
              <a:t>Types of Load Balancers</a:t>
            </a:r>
            <a:br>
              <a:rPr lang="en-US" b="1" dirty="0"/>
            </a:br>
            <a:endParaRPr lang="en-US" dirty="0"/>
          </a:p>
        </p:txBody>
      </p:sp>
      <p:sp>
        <p:nvSpPr>
          <p:cNvPr id="3" name="Content Placeholder 2">
            <a:extLst>
              <a:ext uri="{FF2B5EF4-FFF2-40B4-BE49-F238E27FC236}">
                <a16:creationId xmlns:a16="http://schemas.microsoft.com/office/drawing/2014/main" id="{45E2CFE1-9617-4F34-95EE-D5C89B65E915}"/>
              </a:ext>
            </a:extLst>
          </p:cNvPr>
          <p:cNvSpPr>
            <a:spLocks noGrp="1"/>
          </p:cNvSpPr>
          <p:nvPr>
            <p:ph idx="1"/>
          </p:nvPr>
        </p:nvSpPr>
        <p:spPr>
          <a:xfrm>
            <a:off x="609600" y="914401"/>
            <a:ext cx="10972800" cy="5211764"/>
          </a:xfrm>
        </p:spPr>
        <p:txBody>
          <a:bodyPr>
            <a:normAutofit fontScale="70000" lnSpcReduction="20000"/>
          </a:bodyPr>
          <a:lstStyle/>
          <a:p>
            <a:r>
              <a:rPr lang="en-US" b="1" dirty="0"/>
              <a:t>Hardware Load Balancers</a:t>
            </a:r>
            <a:r>
              <a:rPr lang="en-US" dirty="0"/>
              <a:t>:</a:t>
            </a:r>
          </a:p>
          <a:p>
            <a:pPr lvl="1"/>
            <a:r>
              <a:rPr lang="en-US" b="1" dirty="0"/>
              <a:t>Description</a:t>
            </a:r>
            <a:r>
              <a:rPr lang="en-US" dirty="0"/>
              <a:t>: Dedicated physical devices optimized for load balancing tasks.</a:t>
            </a:r>
          </a:p>
          <a:p>
            <a:pPr lvl="1"/>
            <a:r>
              <a:rPr lang="en-US" b="1" dirty="0"/>
              <a:t>Features</a:t>
            </a:r>
            <a:r>
              <a:rPr lang="en-US" dirty="0"/>
              <a:t>: High performance and scalability; may support advanced features like SSL acceleration.</a:t>
            </a:r>
          </a:p>
          <a:p>
            <a:pPr lvl="1"/>
            <a:r>
              <a:rPr lang="en-US" b="1" dirty="0"/>
              <a:t>Use Cases</a:t>
            </a:r>
            <a:r>
              <a:rPr lang="en-US" dirty="0"/>
              <a:t>: Common in large enterprises where high traffic volumes require robust, high-throughput load balancing.</a:t>
            </a:r>
          </a:p>
          <a:p>
            <a:r>
              <a:rPr lang="en-US" b="1" dirty="0"/>
              <a:t>Software Load Balancers</a:t>
            </a:r>
            <a:r>
              <a:rPr lang="en-US" dirty="0"/>
              <a:t>:</a:t>
            </a:r>
          </a:p>
          <a:p>
            <a:pPr lvl="1"/>
            <a:r>
              <a:rPr lang="en-US" b="1" dirty="0"/>
              <a:t>Description</a:t>
            </a:r>
            <a:r>
              <a:rPr lang="en-US" dirty="0"/>
              <a:t>: Installed on standard hardware or virtual servers to manage traffic distribution.</a:t>
            </a:r>
          </a:p>
          <a:p>
            <a:pPr lvl="1"/>
            <a:r>
              <a:rPr lang="en-US" b="1" dirty="0"/>
              <a:t>Features</a:t>
            </a:r>
            <a:r>
              <a:rPr lang="en-US" dirty="0"/>
              <a:t>: Flexible, easily configurable, and cost-effective compared to hardware solutions.</a:t>
            </a:r>
          </a:p>
          <a:p>
            <a:pPr lvl="1"/>
            <a:r>
              <a:rPr lang="en-US" b="1" dirty="0"/>
              <a:t>Use Cases</a:t>
            </a:r>
            <a:r>
              <a:rPr lang="en-US" dirty="0"/>
              <a:t>: Often used in cloud environments or by organizations needing scalable, budget-friendly solutions.</a:t>
            </a:r>
          </a:p>
          <a:p>
            <a:r>
              <a:rPr lang="en-US" b="1" dirty="0"/>
              <a:t>Cloud Load Balancers</a:t>
            </a:r>
            <a:r>
              <a:rPr lang="en-US" dirty="0"/>
              <a:t>:</a:t>
            </a:r>
          </a:p>
          <a:p>
            <a:pPr lvl="1"/>
            <a:r>
              <a:rPr lang="en-US" b="1" dirty="0"/>
              <a:t>Description</a:t>
            </a:r>
            <a:r>
              <a:rPr lang="en-US" dirty="0"/>
              <a:t>: Provided as a service by cloud providers, distributing traffic across virtual machines or cloud instances.</a:t>
            </a:r>
          </a:p>
          <a:p>
            <a:pPr lvl="1"/>
            <a:r>
              <a:rPr lang="en-US" b="1" dirty="0"/>
              <a:t>Features</a:t>
            </a:r>
            <a:r>
              <a:rPr lang="en-US" dirty="0"/>
              <a:t>: Scalable, pay-as-you-go model, often with integration into cloud infrastructure.</a:t>
            </a:r>
          </a:p>
          <a:p>
            <a:pPr lvl="1"/>
            <a:r>
              <a:rPr lang="en-US" b="1" dirty="0"/>
              <a:t>Use Cases</a:t>
            </a:r>
            <a:r>
              <a:rPr lang="en-US" dirty="0"/>
              <a:t>: Ideal for dynamic, scalable applications running in public or hybrid cloud environments.</a:t>
            </a:r>
          </a:p>
        </p:txBody>
      </p:sp>
    </p:spTree>
    <p:extLst>
      <p:ext uri="{BB962C8B-B14F-4D97-AF65-F5344CB8AC3E}">
        <p14:creationId xmlns:p14="http://schemas.microsoft.com/office/powerpoint/2010/main" val="41502025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98425-D760-4BE4-878B-8520FB62EB0D}"/>
              </a:ext>
            </a:extLst>
          </p:cNvPr>
          <p:cNvSpPr>
            <a:spLocks noGrp="1"/>
          </p:cNvSpPr>
          <p:nvPr>
            <p:ph type="title"/>
          </p:nvPr>
        </p:nvSpPr>
        <p:spPr/>
        <p:txBody>
          <a:bodyPr>
            <a:normAutofit fontScale="90000"/>
          </a:bodyPr>
          <a:lstStyle/>
          <a:p>
            <a:br>
              <a:rPr lang="en-US" b="1" dirty="0"/>
            </a:br>
            <a:r>
              <a:rPr lang="en-US" b="1" dirty="0"/>
              <a:t>Types of Load Balancers</a:t>
            </a:r>
            <a:br>
              <a:rPr lang="en-US" b="1" dirty="0"/>
            </a:br>
            <a:endParaRPr lang="en-US" dirty="0"/>
          </a:p>
        </p:txBody>
      </p:sp>
      <p:sp>
        <p:nvSpPr>
          <p:cNvPr id="3" name="Content Placeholder 2">
            <a:extLst>
              <a:ext uri="{FF2B5EF4-FFF2-40B4-BE49-F238E27FC236}">
                <a16:creationId xmlns:a16="http://schemas.microsoft.com/office/drawing/2014/main" id="{0C8F19D3-9E04-4880-B0B2-7C1166DDB452}"/>
              </a:ext>
            </a:extLst>
          </p:cNvPr>
          <p:cNvSpPr>
            <a:spLocks noGrp="1"/>
          </p:cNvSpPr>
          <p:nvPr>
            <p:ph idx="1"/>
          </p:nvPr>
        </p:nvSpPr>
        <p:spPr>
          <a:xfrm>
            <a:off x="609600" y="1417639"/>
            <a:ext cx="10972800" cy="4708526"/>
          </a:xfrm>
        </p:spPr>
        <p:txBody>
          <a:bodyPr>
            <a:normAutofit fontScale="77500" lnSpcReduction="20000"/>
          </a:bodyPr>
          <a:lstStyle/>
          <a:p>
            <a:r>
              <a:rPr lang="en-US" b="1" dirty="0"/>
              <a:t>Global Load Balancers</a:t>
            </a:r>
            <a:r>
              <a:rPr lang="en-US" dirty="0"/>
              <a:t>:</a:t>
            </a:r>
          </a:p>
          <a:p>
            <a:pPr lvl="1"/>
            <a:r>
              <a:rPr lang="en-US" b="1" dirty="0"/>
              <a:t>Description</a:t>
            </a:r>
            <a:r>
              <a:rPr lang="en-US" dirty="0"/>
              <a:t>: Operates at the DNS level to balance traffic across geographically distributed data centers.</a:t>
            </a:r>
          </a:p>
          <a:p>
            <a:pPr lvl="1"/>
            <a:r>
              <a:rPr lang="en-US" b="1" dirty="0"/>
              <a:t>Features</a:t>
            </a:r>
            <a:r>
              <a:rPr lang="en-US" dirty="0"/>
              <a:t>: Geolocation-based routing, disaster recovery, and redundancy across multiple locations.</a:t>
            </a:r>
          </a:p>
          <a:p>
            <a:pPr lvl="1"/>
            <a:r>
              <a:rPr lang="en-US" b="1" dirty="0"/>
              <a:t>Use Cases</a:t>
            </a:r>
            <a:r>
              <a:rPr lang="en-US" dirty="0"/>
              <a:t>: Useful for applications with global users requiring fast response times and high availability.</a:t>
            </a:r>
          </a:p>
          <a:p>
            <a:r>
              <a:rPr lang="en-US" b="1" dirty="0"/>
              <a:t>Application Load Balancers</a:t>
            </a:r>
            <a:r>
              <a:rPr lang="en-US" dirty="0"/>
              <a:t>:</a:t>
            </a:r>
          </a:p>
          <a:p>
            <a:pPr lvl="1"/>
            <a:r>
              <a:rPr lang="en-US" b="1" dirty="0"/>
              <a:t>Description</a:t>
            </a:r>
            <a:r>
              <a:rPr lang="en-US" dirty="0"/>
              <a:t>: Operates at the application layer (Layer 7) of the OSI model, providing content-based routing.</a:t>
            </a:r>
          </a:p>
          <a:p>
            <a:pPr lvl="1"/>
            <a:r>
              <a:rPr lang="en-US" b="1" dirty="0"/>
              <a:t>Features</a:t>
            </a:r>
            <a:r>
              <a:rPr lang="en-US" dirty="0"/>
              <a:t>: Can route traffic based on HTTP headers, URLs, cookies, or other data within requests.</a:t>
            </a:r>
          </a:p>
          <a:p>
            <a:pPr lvl="1"/>
            <a:r>
              <a:rPr lang="en-US" b="1" dirty="0"/>
              <a:t>Use Cases</a:t>
            </a:r>
            <a:r>
              <a:rPr lang="en-US" dirty="0"/>
              <a:t>: Ideal for applications that require advanced traffic management based on content types or user profiles.</a:t>
            </a:r>
          </a:p>
          <a:p>
            <a:endParaRPr lang="en-US" dirty="0"/>
          </a:p>
          <a:p>
            <a:endParaRPr lang="en-US" dirty="0"/>
          </a:p>
        </p:txBody>
      </p:sp>
    </p:spTree>
    <p:extLst>
      <p:ext uri="{BB962C8B-B14F-4D97-AF65-F5344CB8AC3E}">
        <p14:creationId xmlns:p14="http://schemas.microsoft.com/office/powerpoint/2010/main" val="10079854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AF1BF-98D8-4A98-AC52-19F71EC19FAD}"/>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Load Balancing Algorithms</a:t>
            </a:r>
            <a:br>
              <a:rPr lang="en-US" b="1" dirty="0"/>
            </a:br>
            <a:endParaRPr lang="en-US" dirty="0"/>
          </a:p>
        </p:txBody>
      </p:sp>
      <p:sp>
        <p:nvSpPr>
          <p:cNvPr id="3" name="Content Placeholder 2">
            <a:extLst>
              <a:ext uri="{FF2B5EF4-FFF2-40B4-BE49-F238E27FC236}">
                <a16:creationId xmlns:a16="http://schemas.microsoft.com/office/drawing/2014/main" id="{46D51306-E996-4196-A383-458F071EF26E}"/>
              </a:ext>
            </a:extLst>
          </p:cNvPr>
          <p:cNvSpPr>
            <a:spLocks noGrp="1"/>
          </p:cNvSpPr>
          <p:nvPr>
            <p:ph idx="1"/>
          </p:nvPr>
        </p:nvSpPr>
        <p:spPr>
          <a:xfrm>
            <a:off x="609600" y="914401"/>
            <a:ext cx="10972800" cy="5211764"/>
          </a:xfrm>
        </p:spPr>
        <p:txBody>
          <a:bodyPr>
            <a:normAutofit fontScale="92500" lnSpcReduction="10000"/>
          </a:bodyPr>
          <a:lstStyle/>
          <a:p>
            <a:r>
              <a:rPr lang="en-US" b="1" dirty="0"/>
              <a:t>Round Robin</a:t>
            </a:r>
            <a:r>
              <a:rPr lang="en-US" dirty="0"/>
              <a:t>: Cycles through servers sequentially, assigning each incoming request to the next available server.</a:t>
            </a:r>
          </a:p>
          <a:p>
            <a:r>
              <a:rPr lang="en-US" b="1" dirty="0"/>
              <a:t>Least Connections</a:t>
            </a:r>
            <a:r>
              <a:rPr lang="en-US" dirty="0"/>
              <a:t>: Routes traffic to the server with the fewest active connections, useful for managing servers with varying workloads.</a:t>
            </a:r>
          </a:p>
          <a:p>
            <a:r>
              <a:rPr lang="en-US" b="1" dirty="0"/>
              <a:t>Least Response Time</a:t>
            </a:r>
            <a:r>
              <a:rPr lang="en-US" dirty="0"/>
              <a:t>: Directs requests to the server with the lowest response time and active connections, optimizing for speed.</a:t>
            </a:r>
          </a:p>
          <a:p>
            <a:r>
              <a:rPr lang="en-US" b="1" dirty="0"/>
              <a:t>IP Hash</a:t>
            </a:r>
            <a:r>
              <a:rPr lang="en-US" dirty="0"/>
              <a:t>: Distributes requests based on a hash of the client’s IP address, often used for session persistence.</a:t>
            </a:r>
          </a:p>
          <a:p>
            <a:r>
              <a:rPr lang="en-US" b="1" dirty="0"/>
              <a:t>Weighted Distribution</a:t>
            </a:r>
            <a:r>
              <a:rPr lang="en-US" dirty="0"/>
              <a:t>: Distributes traffic based on server capacity, assigning more requests to servers with higher processing power.</a:t>
            </a:r>
          </a:p>
          <a:p>
            <a:endParaRPr lang="en-US" dirty="0"/>
          </a:p>
        </p:txBody>
      </p:sp>
    </p:spTree>
    <p:extLst>
      <p:ext uri="{BB962C8B-B14F-4D97-AF65-F5344CB8AC3E}">
        <p14:creationId xmlns:p14="http://schemas.microsoft.com/office/powerpoint/2010/main" val="13165017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BACE-2D0F-420D-917F-67C163FD4519}"/>
              </a:ext>
            </a:extLst>
          </p:cNvPr>
          <p:cNvSpPr>
            <a:spLocks noGrp="1"/>
          </p:cNvSpPr>
          <p:nvPr>
            <p:ph type="title"/>
          </p:nvPr>
        </p:nvSpPr>
        <p:spPr>
          <a:xfrm>
            <a:off x="601394" y="92074"/>
            <a:ext cx="10972800" cy="639762"/>
          </a:xfrm>
        </p:spPr>
        <p:txBody>
          <a:bodyPr>
            <a:normAutofit fontScale="90000"/>
          </a:bodyPr>
          <a:lstStyle/>
          <a:p>
            <a:br>
              <a:rPr lang="en-US" b="1" dirty="0"/>
            </a:br>
            <a:r>
              <a:rPr lang="en-US" b="1" dirty="0"/>
              <a:t>Advantages of Load Balancers</a:t>
            </a:r>
            <a:br>
              <a:rPr lang="en-US" b="1" dirty="0"/>
            </a:br>
            <a:endParaRPr lang="en-US" dirty="0"/>
          </a:p>
        </p:txBody>
      </p:sp>
      <p:sp>
        <p:nvSpPr>
          <p:cNvPr id="3" name="Content Placeholder 2">
            <a:extLst>
              <a:ext uri="{FF2B5EF4-FFF2-40B4-BE49-F238E27FC236}">
                <a16:creationId xmlns:a16="http://schemas.microsoft.com/office/drawing/2014/main" id="{882E7882-13EF-48EB-9A3D-2866A2022EC6}"/>
              </a:ext>
            </a:extLst>
          </p:cNvPr>
          <p:cNvSpPr>
            <a:spLocks noGrp="1"/>
          </p:cNvSpPr>
          <p:nvPr>
            <p:ph idx="1"/>
          </p:nvPr>
        </p:nvSpPr>
        <p:spPr>
          <a:xfrm>
            <a:off x="609600" y="838201"/>
            <a:ext cx="10972800" cy="5287964"/>
          </a:xfrm>
        </p:spPr>
        <p:txBody>
          <a:bodyPr>
            <a:normAutofit fontScale="92500"/>
          </a:bodyPr>
          <a:lstStyle/>
          <a:p>
            <a:r>
              <a:rPr lang="en-US" b="1" dirty="0"/>
              <a:t>Improved Performance</a:t>
            </a:r>
            <a:r>
              <a:rPr lang="en-US" dirty="0"/>
              <a:t>: By balancing the load, servers can process requests more efficiently, improving response times.</a:t>
            </a:r>
          </a:p>
          <a:p>
            <a:r>
              <a:rPr lang="en-US" b="1" dirty="0"/>
              <a:t>High Availability and Redundancy</a:t>
            </a:r>
            <a:r>
              <a:rPr lang="en-US" dirty="0"/>
              <a:t>: Distributes traffic across multiple servers, reducing the risk of downtime.</a:t>
            </a:r>
          </a:p>
          <a:p>
            <a:r>
              <a:rPr lang="en-US" b="1" dirty="0"/>
              <a:t>Enhanced Scalability</a:t>
            </a:r>
            <a:r>
              <a:rPr lang="en-US" dirty="0"/>
              <a:t>: Allows for the addition of servers to handle increased traffic without reconfiguring client access.</a:t>
            </a:r>
          </a:p>
          <a:p>
            <a:r>
              <a:rPr lang="en-US" b="1" dirty="0"/>
              <a:t>Resource Optimization</a:t>
            </a:r>
            <a:r>
              <a:rPr lang="en-US" dirty="0"/>
              <a:t>: Maximizes resource utilization, reducing the likelihood of a single server becoming a bottleneck.</a:t>
            </a:r>
          </a:p>
          <a:p>
            <a:r>
              <a:rPr lang="en-US" b="1" dirty="0"/>
              <a:t>Efficient Failover</a:t>
            </a:r>
            <a:r>
              <a:rPr lang="en-US" dirty="0"/>
              <a:t>: Automatically reroutes traffic to healthy servers, ensuring continuity during server outages.</a:t>
            </a:r>
          </a:p>
          <a:p>
            <a:endParaRPr lang="en-US" dirty="0"/>
          </a:p>
        </p:txBody>
      </p:sp>
    </p:spTree>
    <p:extLst>
      <p:ext uri="{BB962C8B-B14F-4D97-AF65-F5344CB8AC3E}">
        <p14:creationId xmlns:p14="http://schemas.microsoft.com/office/powerpoint/2010/main" val="37937532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16715-2FDB-49DD-9A9A-918FC57662CC}"/>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Disadvantages of Load Balancers</a:t>
            </a:r>
            <a:br>
              <a:rPr lang="en-US" b="1" dirty="0"/>
            </a:br>
            <a:endParaRPr lang="en-US" dirty="0"/>
          </a:p>
        </p:txBody>
      </p:sp>
      <p:sp>
        <p:nvSpPr>
          <p:cNvPr id="3" name="Content Placeholder 2">
            <a:extLst>
              <a:ext uri="{FF2B5EF4-FFF2-40B4-BE49-F238E27FC236}">
                <a16:creationId xmlns:a16="http://schemas.microsoft.com/office/drawing/2014/main" id="{B55C0CC0-640B-4D31-BDAC-DF6B29826C45}"/>
              </a:ext>
            </a:extLst>
          </p:cNvPr>
          <p:cNvSpPr>
            <a:spLocks noGrp="1"/>
          </p:cNvSpPr>
          <p:nvPr>
            <p:ph idx="1"/>
          </p:nvPr>
        </p:nvSpPr>
        <p:spPr>
          <a:xfrm>
            <a:off x="609600" y="1066801"/>
            <a:ext cx="10972800" cy="5059364"/>
          </a:xfrm>
        </p:spPr>
        <p:txBody>
          <a:bodyPr>
            <a:normAutofit fontScale="92500"/>
          </a:bodyPr>
          <a:lstStyle/>
          <a:p>
            <a:r>
              <a:rPr lang="en-US" b="1" dirty="0"/>
              <a:t>Complexity in Setup</a:t>
            </a:r>
            <a:r>
              <a:rPr lang="en-US" dirty="0"/>
              <a:t>: Configuring and managing load balancers requires technical expertise, particularly for large-scale deployments.</a:t>
            </a:r>
          </a:p>
          <a:p>
            <a:r>
              <a:rPr lang="en-US" b="1" dirty="0"/>
              <a:t>Cost</a:t>
            </a:r>
            <a:r>
              <a:rPr lang="en-US" dirty="0"/>
              <a:t>: Hardware load balancers and advanced software solutions can be expensive, especially for smaller organizations.</a:t>
            </a:r>
          </a:p>
          <a:p>
            <a:r>
              <a:rPr lang="en-US" b="1" dirty="0"/>
              <a:t>Potential Single Point of Failure</a:t>
            </a:r>
            <a:r>
              <a:rPr lang="en-US" dirty="0"/>
              <a:t>: Unless configured in a redundant setup, the load balancer itself could become a single point of failure.</a:t>
            </a:r>
          </a:p>
          <a:p>
            <a:r>
              <a:rPr lang="en-US" b="1" dirty="0"/>
              <a:t>Latency</a:t>
            </a:r>
            <a:r>
              <a:rPr lang="en-US" dirty="0"/>
              <a:t>: Load balancing can introduce latency, particularly when SSL/TLS offloading and deep packet inspection are involved.</a:t>
            </a:r>
          </a:p>
          <a:p>
            <a:endParaRPr lang="en-US" dirty="0"/>
          </a:p>
        </p:txBody>
      </p:sp>
    </p:spTree>
    <p:extLst>
      <p:ext uri="{BB962C8B-B14F-4D97-AF65-F5344CB8AC3E}">
        <p14:creationId xmlns:p14="http://schemas.microsoft.com/office/powerpoint/2010/main" val="20588864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E0B66-8901-4B33-9CC5-406531D1CC76}"/>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Use Cases for Load Balancers</a:t>
            </a:r>
            <a:br>
              <a:rPr lang="en-US" b="1" dirty="0"/>
            </a:br>
            <a:endParaRPr lang="en-US" dirty="0"/>
          </a:p>
        </p:txBody>
      </p:sp>
      <p:sp>
        <p:nvSpPr>
          <p:cNvPr id="3" name="Content Placeholder 2">
            <a:extLst>
              <a:ext uri="{FF2B5EF4-FFF2-40B4-BE49-F238E27FC236}">
                <a16:creationId xmlns:a16="http://schemas.microsoft.com/office/drawing/2014/main" id="{3877758F-E9B6-4539-81A8-2304EBF1B459}"/>
              </a:ext>
            </a:extLst>
          </p:cNvPr>
          <p:cNvSpPr>
            <a:spLocks noGrp="1"/>
          </p:cNvSpPr>
          <p:nvPr>
            <p:ph idx="1"/>
          </p:nvPr>
        </p:nvSpPr>
        <p:spPr>
          <a:xfrm>
            <a:off x="609600" y="914401"/>
            <a:ext cx="10972800" cy="5211764"/>
          </a:xfrm>
        </p:spPr>
        <p:txBody>
          <a:bodyPr>
            <a:normAutofit fontScale="92500" lnSpcReduction="10000"/>
          </a:bodyPr>
          <a:lstStyle/>
          <a:p>
            <a:r>
              <a:rPr lang="en-US" b="1" dirty="0"/>
              <a:t>E-commerce Websites</a:t>
            </a:r>
            <a:r>
              <a:rPr lang="en-US" dirty="0"/>
              <a:t>: Ensures that high traffic volumes are efficiently managed, with failover to prevent service disruption.</a:t>
            </a:r>
          </a:p>
          <a:p>
            <a:r>
              <a:rPr lang="en-US" b="1" dirty="0"/>
              <a:t>Content Delivery Networks (CDNs)</a:t>
            </a:r>
            <a:r>
              <a:rPr lang="en-US" dirty="0"/>
              <a:t>: Routes traffic to servers closer to the client, improving response times for media-rich applications.</a:t>
            </a:r>
          </a:p>
          <a:p>
            <a:r>
              <a:rPr lang="en-US" b="1" dirty="0"/>
              <a:t>Financial Services</a:t>
            </a:r>
            <a:r>
              <a:rPr lang="en-US" dirty="0"/>
              <a:t>: Manages transaction volumes, balances loads across secure servers, and ensures compliance with redundancy requirements.</a:t>
            </a:r>
          </a:p>
          <a:p>
            <a:r>
              <a:rPr lang="en-US" b="1" dirty="0"/>
              <a:t>Cloud Applications</a:t>
            </a:r>
            <a:r>
              <a:rPr lang="en-US" dirty="0"/>
              <a:t>: Supports scalability by balancing loads across cloud instances, enabling rapid response to demand fluctuations.</a:t>
            </a:r>
          </a:p>
          <a:p>
            <a:r>
              <a:rPr lang="en-US" b="1" dirty="0"/>
              <a:t>Mobile Applications</a:t>
            </a:r>
            <a:r>
              <a:rPr lang="en-US" dirty="0"/>
              <a:t>: Maintains high availability and performance for applications with a large, distributed user base.</a:t>
            </a:r>
          </a:p>
          <a:p>
            <a:endParaRPr lang="en-US" dirty="0"/>
          </a:p>
        </p:txBody>
      </p:sp>
    </p:spTree>
    <p:extLst>
      <p:ext uri="{BB962C8B-B14F-4D97-AF65-F5344CB8AC3E}">
        <p14:creationId xmlns:p14="http://schemas.microsoft.com/office/powerpoint/2010/main" val="42561921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B3A8-A419-4063-96F4-3A18A1CB291C}"/>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Network Attached Storage (NAS)</a:t>
            </a:r>
            <a:br>
              <a:rPr lang="en-US" b="1" dirty="0"/>
            </a:br>
            <a:endParaRPr lang="en-US" dirty="0"/>
          </a:p>
        </p:txBody>
      </p:sp>
      <p:sp>
        <p:nvSpPr>
          <p:cNvPr id="3" name="Content Placeholder 2">
            <a:extLst>
              <a:ext uri="{FF2B5EF4-FFF2-40B4-BE49-F238E27FC236}">
                <a16:creationId xmlns:a16="http://schemas.microsoft.com/office/drawing/2014/main" id="{E00D742A-D934-4538-A8F6-F38440C9CC8A}"/>
              </a:ext>
            </a:extLst>
          </p:cNvPr>
          <p:cNvSpPr>
            <a:spLocks noGrp="1"/>
          </p:cNvSpPr>
          <p:nvPr>
            <p:ph idx="1"/>
          </p:nvPr>
        </p:nvSpPr>
        <p:spPr>
          <a:xfrm>
            <a:off x="609600" y="914401"/>
            <a:ext cx="10972800" cy="5211764"/>
          </a:xfrm>
        </p:spPr>
        <p:txBody>
          <a:bodyPr>
            <a:normAutofit/>
          </a:bodyPr>
          <a:lstStyle/>
          <a:p>
            <a:r>
              <a:rPr lang="en-US" b="1" dirty="0"/>
              <a:t>Description</a:t>
            </a:r>
            <a:r>
              <a:rPr lang="en-US" dirty="0"/>
              <a:t>: </a:t>
            </a:r>
            <a:r>
              <a:rPr lang="en-US" b="1" dirty="0"/>
              <a:t>Network Attached Storage (NAS)</a:t>
            </a:r>
            <a:r>
              <a:rPr lang="en-US" dirty="0"/>
              <a:t> is a </a:t>
            </a:r>
            <a:r>
              <a:rPr lang="en-US" b="1" dirty="0"/>
              <a:t>Network Attached Storage (NAS)</a:t>
            </a:r>
            <a:r>
              <a:rPr lang="en-US" dirty="0"/>
              <a:t> is a dedicated file storage device connected to a network, allowing multiple users and devices to access and share data from a centralized location. </a:t>
            </a:r>
          </a:p>
          <a:p>
            <a:r>
              <a:rPr lang="en-US" b="1" dirty="0"/>
              <a:t>Function</a:t>
            </a:r>
            <a:r>
              <a:rPr lang="en-US" dirty="0"/>
              <a:t>: NAS systems use standard networking protocols to make storage easily accessible and manageable, allowing users and applications to share files over the network as though they were accessing local storage.</a:t>
            </a:r>
            <a:endParaRPr lang="en-US" b="1" dirty="0"/>
          </a:p>
          <a:p>
            <a:r>
              <a:rPr lang="en-US" b="1" dirty="0"/>
              <a:t>Features</a:t>
            </a:r>
            <a:r>
              <a:rPr lang="en-US" dirty="0"/>
              <a:t>: Typically supports various protocols like NFS, SMB/CIFS, and FTP.</a:t>
            </a:r>
          </a:p>
          <a:p>
            <a:endParaRPr lang="en-US" dirty="0"/>
          </a:p>
        </p:txBody>
      </p:sp>
    </p:spTree>
    <p:extLst>
      <p:ext uri="{BB962C8B-B14F-4D97-AF65-F5344CB8AC3E}">
        <p14:creationId xmlns:p14="http://schemas.microsoft.com/office/powerpoint/2010/main" val="27665677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7850-49E1-47F5-A273-EA6FE22F4AA6}"/>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Types of NAS</a:t>
            </a:r>
            <a:br>
              <a:rPr lang="en-US" b="1" dirty="0"/>
            </a:br>
            <a:endParaRPr lang="en-US" dirty="0"/>
          </a:p>
        </p:txBody>
      </p:sp>
      <p:sp>
        <p:nvSpPr>
          <p:cNvPr id="3" name="Content Placeholder 2">
            <a:extLst>
              <a:ext uri="{FF2B5EF4-FFF2-40B4-BE49-F238E27FC236}">
                <a16:creationId xmlns:a16="http://schemas.microsoft.com/office/drawing/2014/main" id="{7C62ADDE-0AD0-446A-BBF7-8D3F09259D72}"/>
              </a:ext>
            </a:extLst>
          </p:cNvPr>
          <p:cNvSpPr>
            <a:spLocks noGrp="1"/>
          </p:cNvSpPr>
          <p:nvPr>
            <p:ph idx="1"/>
          </p:nvPr>
        </p:nvSpPr>
        <p:spPr>
          <a:xfrm>
            <a:off x="609600" y="990601"/>
            <a:ext cx="10972800" cy="5135564"/>
          </a:xfrm>
        </p:spPr>
        <p:txBody>
          <a:bodyPr>
            <a:normAutofit/>
          </a:bodyPr>
          <a:lstStyle/>
          <a:p>
            <a:r>
              <a:rPr lang="en-US" b="1" dirty="0"/>
              <a:t>Home NAS</a:t>
            </a:r>
            <a:r>
              <a:rPr lang="en-US" dirty="0"/>
              <a:t>: Typically smaller devices for personal or small home office use, often equipped with multimedia support for streaming.</a:t>
            </a:r>
          </a:p>
          <a:p>
            <a:r>
              <a:rPr lang="en-US" b="1" dirty="0"/>
              <a:t>Business NAS</a:t>
            </a:r>
            <a:r>
              <a:rPr lang="en-US" dirty="0"/>
              <a:t>: Designed for small to medium-sized businesses, often with multi-bay drives, RAID configurations, and user access management.</a:t>
            </a:r>
          </a:p>
          <a:p>
            <a:r>
              <a:rPr lang="en-US" b="1" dirty="0"/>
              <a:t>Enterprise NAS</a:t>
            </a:r>
            <a:r>
              <a:rPr lang="en-US" dirty="0"/>
              <a:t>: High-performance NAS systems with extensive scalability, advanced security, and redundancy features, suitable for large organizations.</a:t>
            </a:r>
          </a:p>
          <a:p>
            <a:endParaRPr lang="en-US" dirty="0"/>
          </a:p>
        </p:txBody>
      </p:sp>
    </p:spTree>
    <p:extLst>
      <p:ext uri="{BB962C8B-B14F-4D97-AF65-F5344CB8AC3E}">
        <p14:creationId xmlns:p14="http://schemas.microsoft.com/office/powerpoint/2010/main" val="14561577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D7F5-CEF4-4D89-AC12-27CAAE52BEAB}"/>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Advantages of NAS</a:t>
            </a:r>
            <a:br>
              <a:rPr lang="en-US" b="1" dirty="0"/>
            </a:br>
            <a:endParaRPr lang="en-US" dirty="0"/>
          </a:p>
        </p:txBody>
      </p:sp>
      <p:sp>
        <p:nvSpPr>
          <p:cNvPr id="3" name="Content Placeholder 2">
            <a:extLst>
              <a:ext uri="{FF2B5EF4-FFF2-40B4-BE49-F238E27FC236}">
                <a16:creationId xmlns:a16="http://schemas.microsoft.com/office/drawing/2014/main" id="{96EE9DA9-CEA3-488E-B472-C48FDFAEF4AB}"/>
              </a:ext>
            </a:extLst>
          </p:cNvPr>
          <p:cNvSpPr>
            <a:spLocks noGrp="1"/>
          </p:cNvSpPr>
          <p:nvPr>
            <p:ph idx="1"/>
          </p:nvPr>
        </p:nvSpPr>
        <p:spPr>
          <a:xfrm>
            <a:off x="609600" y="990601"/>
            <a:ext cx="10972800" cy="5135564"/>
          </a:xfrm>
        </p:spPr>
        <p:txBody>
          <a:bodyPr>
            <a:normAutofit lnSpcReduction="10000"/>
          </a:bodyPr>
          <a:lstStyle/>
          <a:p>
            <a:r>
              <a:rPr lang="en-US" b="1" dirty="0"/>
              <a:t>Centralized Data Access</a:t>
            </a:r>
            <a:r>
              <a:rPr lang="en-US" dirty="0"/>
              <a:t>: Simplifies data access by providing a shared storage solution accessible to multiple users and devices.</a:t>
            </a:r>
          </a:p>
          <a:p>
            <a:r>
              <a:rPr lang="en-US" b="1" dirty="0"/>
              <a:t>Scalability</a:t>
            </a:r>
            <a:r>
              <a:rPr lang="en-US" dirty="0"/>
              <a:t>: NAS storage can be expanded by adding additional drives or upgrading to larger devices.</a:t>
            </a:r>
          </a:p>
          <a:p>
            <a:r>
              <a:rPr lang="en-US" b="1" dirty="0"/>
              <a:t>Cost-Effective</a:t>
            </a:r>
            <a:r>
              <a:rPr lang="en-US" dirty="0"/>
              <a:t>: NAS provides affordable network storage compared to more complex setups like SANs (Storage Area Networks).</a:t>
            </a:r>
          </a:p>
          <a:p>
            <a:r>
              <a:rPr lang="en-US" b="1" dirty="0"/>
              <a:t>Ease of Use</a:t>
            </a:r>
            <a:r>
              <a:rPr lang="en-US" dirty="0"/>
              <a:t>: Typically simple to set up, manage, and access, even for users without extensive technical expertise.</a:t>
            </a:r>
          </a:p>
          <a:p>
            <a:endParaRPr lang="en-US" dirty="0"/>
          </a:p>
        </p:txBody>
      </p:sp>
    </p:spTree>
    <p:extLst>
      <p:ext uri="{BB962C8B-B14F-4D97-AF65-F5344CB8AC3E}">
        <p14:creationId xmlns:p14="http://schemas.microsoft.com/office/powerpoint/2010/main" val="11241452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931D-77E2-40E5-9AAB-F6ECBEE26785}"/>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Disadvantages of NAS</a:t>
            </a:r>
            <a:br>
              <a:rPr lang="en-US" b="1" dirty="0"/>
            </a:br>
            <a:endParaRPr lang="en-US" dirty="0"/>
          </a:p>
        </p:txBody>
      </p:sp>
      <p:sp>
        <p:nvSpPr>
          <p:cNvPr id="3" name="Content Placeholder 2">
            <a:extLst>
              <a:ext uri="{FF2B5EF4-FFF2-40B4-BE49-F238E27FC236}">
                <a16:creationId xmlns:a16="http://schemas.microsoft.com/office/drawing/2014/main" id="{C2F0A9CA-8EB4-4938-AA72-8EB58E958F57}"/>
              </a:ext>
            </a:extLst>
          </p:cNvPr>
          <p:cNvSpPr>
            <a:spLocks noGrp="1"/>
          </p:cNvSpPr>
          <p:nvPr>
            <p:ph idx="1"/>
          </p:nvPr>
        </p:nvSpPr>
        <p:spPr>
          <a:xfrm>
            <a:off x="609600" y="990601"/>
            <a:ext cx="10972800" cy="5135564"/>
          </a:xfrm>
        </p:spPr>
        <p:txBody>
          <a:bodyPr>
            <a:normAutofit/>
          </a:bodyPr>
          <a:lstStyle/>
          <a:p>
            <a:r>
              <a:rPr lang="en-US" b="1" dirty="0"/>
              <a:t>Network Dependency</a:t>
            </a:r>
            <a:r>
              <a:rPr lang="en-US" dirty="0"/>
              <a:t>: Performance is limited by network speed and bandwidth, making it unsuitable for high-transaction or latency-sensitive applications.</a:t>
            </a:r>
          </a:p>
          <a:p>
            <a:r>
              <a:rPr lang="en-US" b="1" dirty="0"/>
              <a:t>Limited Performance</a:t>
            </a:r>
            <a:r>
              <a:rPr lang="en-US" dirty="0"/>
              <a:t>: NAS generally doesn’t match the performance of block-level storage solutions, like SAN, which are better suited for database applications.</a:t>
            </a:r>
          </a:p>
          <a:p>
            <a:r>
              <a:rPr lang="en-US" b="1" dirty="0"/>
              <a:t>Security Risks</a:t>
            </a:r>
            <a:r>
              <a:rPr lang="en-US" dirty="0"/>
              <a:t>: As a network-connected device, NAS is vulnerable to cyber threats and requires proper security configurations.</a:t>
            </a:r>
          </a:p>
          <a:p>
            <a:endParaRPr lang="en-US" dirty="0"/>
          </a:p>
        </p:txBody>
      </p:sp>
    </p:spTree>
    <p:extLst>
      <p:ext uri="{BB962C8B-B14F-4D97-AF65-F5344CB8AC3E}">
        <p14:creationId xmlns:p14="http://schemas.microsoft.com/office/powerpoint/2010/main" val="35186456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DD4A-1E6B-4319-A50E-22C6FEBCB46A}"/>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Use Cases for NAS</a:t>
            </a:r>
            <a:br>
              <a:rPr lang="en-US" b="1" dirty="0"/>
            </a:br>
            <a:endParaRPr lang="en-US" dirty="0"/>
          </a:p>
        </p:txBody>
      </p:sp>
      <p:sp>
        <p:nvSpPr>
          <p:cNvPr id="3" name="Content Placeholder 2">
            <a:extLst>
              <a:ext uri="{FF2B5EF4-FFF2-40B4-BE49-F238E27FC236}">
                <a16:creationId xmlns:a16="http://schemas.microsoft.com/office/drawing/2014/main" id="{D4CFAF41-24B9-46E8-9B98-6D83B184F634}"/>
              </a:ext>
            </a:extLst>
          </p:cNvPr>
          <p:cNvSpPr>
            <a:spLocks noGrp="1"/>
          </p:cNvSpPr>
          <p:nvPr>
            <p:ph idx="1"/>
          </p:nvPr>
        </p:nvSpPr>
        <p:spPr>
          <a:xfrm>
            <a:off x="609600" y="1066801"/>
            <a:ext cx="10972800" cy="5059364"/>
          </a:xfrm>
        </p:spPr>
        <p:txBody>
          <a:bodyPr>
            <a:normAutofit/>
          </a:bodyPr>
          <a:lstStyle/>
          <a:p>
            <a:r>
              <a:rPr lang="en-US" b="1" dirty="0"/>
              <a:t>File Sharing and Collaboration</a:t>
            </a:r>
            <a:r>
              <a:rPr lang="en-US" dirty="0"/>
              <a:t>: Provides easy access to shared files for collaborative work across teams.</a:t>
            </a:r>
          </a:p>
          <a:p>
            <a:r>
              <a:rPr lang="en-US" b="1" dirty="0"/>
              <a:t>Backup and Recovery</a:t>
            </a:r>
            <a:r>
              <a:rPr lang="en-US" dirty="0"/>
              <a:t>: A reliable solution for centralized data backups, often used in disaster recovery planning.</a:t>
            </a:r>
          </a:p>
          <a:p>
            <a:r>
              <a:rPr lang="en-US" b="1" dirty="0"/>
              <a:t>Media Streaming</a:t>
            </a:r>
            <a:r>
              <a:rPr lang="en-US" dirty="0"/>
              <a:t>: Many NAS systems support multimedia streaming, making them popular for home media setups.</a:t>
            </a:r>
          </a:p>
          <a:p>
            <a:r>
              <a:rPr lang="en-US" b="1" dirty="0"/>
              <a:t>Data Archiving</a:t>
            </a:r>
            <a:r>
              <a:rPr lang="en-US" dirty="0"/>
              <a:t>: Used for long-term data storage, especially for files that don’t require frequent access.</a:t>
            </a:r>
          </a:p>
          <a:p>
            <a:endParaRPr lang="en-US" dirty="0"/>
          </a:p>
        </p:txBody>
      </p:sp>
    </p:spTree>
    <p:extLst>
      <p:ext uri="{BB962C8B-B14F-4D97-AF65-F5344CB8AC3E}">
        <p14:creationId xmlns:p14="http://schemas.microsoft.com/office/powerpoint/2010/main" val="36708791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D06B-CEFD-4E44-A2A7-587BC6870B61}"/>
              </a:ext>
            </a:extLst>
          </p:cNvPr>
          <p:cNvSpPr>
            <a:spLocks noGrp="1"/>
          </p:cNvSpPr>
          <p:nvPr>
            <p:ph type="title"/>
          </p:nvPr>
        </p:nvSpPr>
        <p:spPr>
          <a:xfrm>
            <a:off x="609600" y="274638"/>
            <a:ext cx="10972800" cy="792162"/>
          </a:xfrm>
        </p:spPr>
        <p:txBody>
          <a:bodyPr>
            <a:noAutofit/>
          </a:bodyPr>
          <a:lstStyle/>
          <a:p>
            <a:br>
              <a:rPr lang="en-US" sz="3200" b="1" dirty="0">
                <a:latin typeface="Gill Sans MT" panose="020B0502020104020203" pitchFamily="34" charset="0"/>
              </a:rPr>
            </a:br>
            <a:r>
              <a:rPr lang="en-US" sz="3200" b="1" dirty="0">
                <a:latin typeface="Gill Sans MT" panose="020B0502020104020203" pitchFamily="34" charset="0"/>
              </a:rPr>
              <a:t>VIRTUAL PRIVATE NETWORK HEADEND DEVICE </a:t>
            </a:r>
            <a:br>
              <a:rPr lang="en-US" sz="3200" b="1" dirty="0">
                <a:latin typeface="Gill Sans MT" panose="020B0502020104020203" pitchFamily="34" charset="0"/>
              </a:rPr>
            </a:br>
            <a:endParaRPr lang="en-US" sz="3200" dirty="0"/>
          </a:p>
        </p:txBody>
      </p:sp>
      <p:sp>
        <p:nvSpPr>
          <p:cNvPr id="3" name="Content Placeholder 2">
            <a:extLst>
              <a:ext uri="{FF2B5EF4-FFF2-40B4-BE49-F238E27FC236}">
                <a16:creationId xmlns:a16="http://schemas.microsoft.com/office/drawing/2014/main" id="{3AB9D6EB-9856-4E80-80ED-38CEE776D9FF}"/>
              </a:ext>
            </a:extLst>
          </p:cNvPr>
          <p:cNvSpPr>
            <a:spLocks noGrp="1"/>
          </p:cNvSpPr>
          <p:nvPr>
            <p:ph idx="1"/>
          </p:nvPr>
        </p:nvSpPr>
        <p:spPr>
          <a:xfrm>
            <a:off x="609600" y="1066801"/>
            <a:ext cx="10972800" cy="5059364"/>
          </a:xfrm>
        </p:spPr>
        <p:txBody>
          <a:bodyPr/>
          <a:lstStyle/>
          <a:p>
            <a:r>
              <a:rPr lang="en-US" dirty="0"/>
              <a:t>A </a:t>
            </a:r>
            <a:r>
              <a:rPr lang="en-US" b="1" dirty="0"/>
              <a:t>VPN Headend Device</a:t>
            </a:r>
            <a:r>
              <a:rPr lang="en-US" dirty="0"/>
              <a:t> is a critical component in a Virtual Private Network (VPN) architecture that serves as the central point for managing, terminating, and establishing secure connections between remote clients or branch offices and the main corporate network. </a:t>
            </a:r>
          </a:p>
          <a:p>
            <a:r>
              <a:rPr lang="en-US" dirty="0"/>
              <a:t>It acts as the gateway for all VPN traffic, ensuring that data transmitted over the internet is encrypted and secure.</a:t>
            </a:r>
          </a:p>
        </p:txBody>
      </p:sp>
    </p:spTree>
    <p:extLst>
      <p:ext uri="{BB962C8B-B14F-4D97-AF65-F5344CB8AC3E}">
        <p14:creationId xmlns:p14="http://schemas.microsoft.com/office/powerpoint/2010/main" val="9403363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9F24-A0C2-42A4-B620-2A8BF3D3CD01}"/>
              </a:ext>
            </a:extLst>
          </p:cNvPr>
          <p:cNvSpPr>
            <a:spLocks noGrp="1"/>
          </p:cNvSpPr>
          <p:nvPr>
            <p:ph type="title"/>
          </p:nvPr>
        </p:nvSpPr>
        <p:spPr/>
        <p:txBody>
          <a:bodyPr>
            <a:normAutofit fontScale="90000"/>
          </a:bodyPr>
          <a:lstStyle/>
          <a:p>
            <a:r>
              <a:rPr lang="en-US" b="1" dirty="0"/>
              <a:t>Key Functions of a VPN Headend Device</a:t>
            </a:r>
            <a:br>
              <a:rPr lang="en-US" b="1" dirty="0"/>
            </a:br>
            <a:endParaRPr lang="en-US" dirty="0"/>
          </a:p>
        </p:txBody>
      </p:sp>
      <p:sp>
        <p:nvSpPr>
          <p:cNvPr id="3" name="Content Placeholder 2">
            <a:extLst>
              <a:ext uri="{FF2B5EF4-FFF2-40B4-BE49-F238E27FC236}">
                <a16:creationId xmlns:a16="http://schemas.microsoft.com/office/drawing/2014/main" id="{5041B952-883D-4356-B7FC-FD78E26BB557}"/>
              </a:ext>
            </a:extLst>
          </p:cNvPr>
          <p:cNvSpPr>
            <a:spLocks noGrp="1"/>
          </p:cNvSpPr>
          <p:nvPr>
            <p:ph idx="1"/>
          </p:nvPr>
        </p:nvSpPr>
        <p:spPr/>
        <p:txBody>
          <a:bodyPr>
            <a:normAutofit fontScale="92500" lnSpcReduction="10000"/>
          </a:bodyPr>
          <a:lstStyle/>
          <a:p>
            <a:r>
              <a:rPr lang="en-US" b="1" dirty="0"/>
              <a:t>Tunnel Termination</a:t>
            </a:r>
            <a:r>
              <a:rPr lang="en-US" dirty="0"/>
              <a:t>: It establishes and terminates secure tunnels (encrypted connections) between remote devices and the corporate network, allowing secure communication over potentially untrusted networks (e.g., the Internet).</a:t>
            </a:r>
          </a:p>
          <a:p>
            <a:r>
              <a:rPr lang="en-US" b="1" dirty="0"/>
              <a:t>Authentication</a:t>
            </a:r>
            <a:r>
              <a:rPr lang="en-US" dirty="0"/>
              <a:t>: It verifies the identity of users or devices attempting to connect to the VPN, typically using protocols such as RADIUS, TACACS+, or LDAP.</a:t>
            </a:r>
          </a:p>
          <a:p>
            <a:r>
              <a:rPr lang="en-US" b="1" dirty="0"/>
              <a:t>Encryption and Decryption</a:t>
            </a:r>
            <a:r>
              <a:rPr lang="en-US" dirty="0"/>
              <a:t>: The headend device encrypts data before sending it over the internet and decrypts incoming data to maintain confidentiality and integrity.</a:t>
            </a:r>
          </a:p>
        </p:txBody>
      </p:sp>
    </p:spTree>
    <p:extLst>
      <p:ext uri="{BB962C8B-B14F-4D97-AF65-F5344CB8AC3E}">
        <p14:creationId xmlns:p14="http://schemas.microsoft.com/office/powerpoint/2010/main" val="398119940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7E6-79DF-4306-8CEB-5A548AC7D348}"/>
              </a:ext>
            </a:extLst>
          </p:cNvPr>
          <p:cNvSpPr>
            <a:spLocks noGrp="1"/>
          </p:cNvSpPr>
          <p:nvPr>
            <p:ph type="title"/>
          </p:nvPr>
        </p:nvSpPr>
        <p:spPr/>
        <p:txBody>
          <a:bodyPr>
            <a:normAutofit fontScale="90000"/>
          </a:bodyPr>
          <a:lstStyle/>
          <a:p>
            <a:r>
              <a:rPr lang="en-US" b="1" dirty="0"/>
              <a:t>Key Functions of a VPN Headend Device</a:t>
            </a:r>
            <a:br>
              <a:rPr lang="en-US" b="1" dirty="0"/>
            </a:br>
            <a:endParaRPr lang="en-US" dirty="0"/>
          </a:p>
        </p:txBody>
      </p:sp>
      <p:sp>
        <p:nvSpPr>
          <p:cNvPr id="3" name="Content Placeholder 2">
            <a:extLst>
              <a:ext uri="{FF2B5EF4-FFF2-40B4-BE49-F238E27FC236}">
                <a16:creationId xmlns:a16="http://schemas.microsoft.com/office/drawing/2014/main" id="{05F41868-8705-4AC6-BC06-78DA167FA472}"/>
              </a:ext>
            </a:extLst>
          </p:cNvPr>
          <p:cNvSpPr>
            <a:spLocks noGrp="1"/>
          </p:cNvSpPr>
          <p:nvPr>
            <p:ph idx="1"/>
          </p:nvPr>
        </p:nvSpPr>
        <p:spPr/>
        <p:txBody>
          <a:bodyPr>
            <a:normAutofit lnSpcReduction="10000"/>
          </a:bodyPr>
          <a:lstStyle/>
          <a:p>
            <a:r>
              <a:rPr lang="en-US" b="1" dirty="0"/>
              <a:t>Traffic Management</a:t>
            </a:r>
            <a:r>
              <a:rPr lang="en-US" dirty="0"/>
              <a:t>: It manages VPN traffic to ensure efficient data transfer, including bandwidth allocation and Quality of Service (QoS) to prioritize critical applications.</a:t>
            </a:r>
          </a:p>
          <a:p>
            <a:r>
              <a:rPr lang="en-US" b="1" dirty="0"/>
              <a:t>Access Control</a:t>
            </a:r>
            <a:r>
              <a:rPr lang="en-US" dirty="0"/>
              <a:t>: The headend device implements policies to control user access to resources based on authentication credentials and user roles.</a:t>
            </a:r>
          </a:p>
          <a:p>
            <a:r>
              <a:rPr lang="en-US" b="1" dirty="0"/>
              <a:t>Logging and Monitoring</a:t>
            </a:r>
            <a:r>
              <a:rPr lang="en-US" dirty="0"/>
              <a:t>: It logs connection attempts, data transfers, and user activities, providing important information for auditing and monitoring network security.</a:t>
            </a:r>
          </a:p>
          <a:p>
            <a:endParaRPr lang="en-US" dirty="0"/>
          </a:p>
          <a:p>
            <a:endParaRPr lang="en-US" dirty="0"/>
          </a:p>
        </p:txBody>
      </p:sp>
    </p:spTree>
    <p:extLst>
      <p:ext uri="{BB962C8B-B14F-4D97-AF65-F5344CB8AC3E}">
        <p14:creationId xmlns:p14="http://schemas.microsoft.com/office/powerpoint/2010/main" val="17564809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0323-6B63-49A0-A18B-8E9FD28089BA}"/>
              </a:ext>
            </a:extLst>
          </p:cNvPr>
          <p:cNvSpPr>
            <a:spLocks noGrp="1"/>
          </p:cNvSpPr>
          <p:nvPr>
            <p:ph type="title"/>
          </p:nvPr>
        </p:nvSpPr>
        <p:spPr>
          <a:xfrm>
            <a:off x="609600" y="274638"/>
            <a:ext cx="10972800" cy="792162"/>
          </a:xfrm>
        </p:spPr>
        <p:txBody>
          <a:bodyPr>
            <a:normAutofit fontScale="90000"/>
          </a:bodyPr>
          <a:lstStyle/>
          <a:p>
            <a:br>
              <a:rPr lang="en-US" b="1" dirty="0"/>
            </a:br>
            <a:r>
              <a:rPr lang="en-US" b="1" dirty="0"/>
              <a:t>Types of VPN Headend Devices</a:t>
            </a:r>
            <a:br>
              <a:rPr lang="en-US" b="1" dirty="0"/>
            </a:br>
            <a:endParaRPr lang="en-US" dirty="0"/>
          </a:p>
        </p:txBody>
      </p:sp>
      <p:sp>
        <p:nvSpPr>
          <p:cNvPr id="3" name="Content Placeholder 2">
            <a:extLst>
              <a:ext uri="{FF2B5EF4-FFF2-40B4-BE49-F238E27FC236}">
                <a16:creationId xmlns:a16="http://schemas.microsoft.com/office/drawing/2014/main" id="{55C60EFC-3607-408C-AC7C-987A38237146}"/>
              </a:ext>
            </a:extLst>
          </p:cNvPr>
          <p:cNvSpPr>
            <a:spLocks noGrp="1"/>
          </p:cNvSpPr>
          <p:nvPr>
            <p:ph idx="1"/>
          </p:nvPr>
        </p:nvSpPr>
        <p:spPr>
          <a:xfrm>
            <a:off x="609600" y="1219201"/>
            <a:ext cx="10972800" cy="4906964"/>
          </a:xfrm>
        </p:spPr>
        <p:txBody>
          <a:bodyPr>
            <a:normAutofit fontScale="92500" lnSpcReduction="20000"/>
          </a:bodyPr>
          <a:lstStyle/>
          <a:p>
            <a:r>
              <a:rPr lang="en-US" b="1" dirty="0"/>
              <a:t>VPN Gateways</a:t>
            </a:r>
            <a:r>
              <a:rPr lang="en-US" dirty="0"/>
              <a:t>: Dedicated devices that solely manage VPN connections, often featuring specialized hardware to handle encryption and tunneling efficiently.</a:t>
            </a:r>
          </a:p>
          <a:p>
            <a:r>
              <a:rPr lang="en-US" b="1" dirty="0"/>
              <a:t>Firewalls with VPN Capabilities</a:t>
            </a:r>
            <a:r>
              <a:rPr lang="en-US" dirty="0"/>
              <a:t>: Many modern firewalls include built-in VPN functionalities, allowing them to serve as both a security perimeter and a VPN headend.</a:t>
            </a:r>
          </a:p>
          <a:p>
            <a:r>
              <a:rPr lang="en-US" b="1" dirty="0"/>
              <a:t>Routers with VPN Support</a:t>
            </a:r>
            <a:r>
              <a:rPr lang="en-US" dirty="0"/>
              <a:t>: Some routers offer VPN capabilities, allowing them to establish VPN connections directly while managing other network traffic.</a:t>
            </a:r>
          </a:p>
          <a:p>
            <a:r>
              <a:rPr lang="en-US" b="1" dirty="0"/>
              <a:t>Software-Based VPN Solutions</a:t>
            </a:r>
            <a:r>
              <a:rPr lang="en-US" dirty="0"/>
              <a:t>: In some cases, VPN headend functionalities can be implemented using software running on general-purpose servers or cloud infrastructure.</a:t>
            </a:r>
          </a:p>
          <a:p>
            <a:endParaRPr lang="en-US" dirty="0"/>
          </a:p>
        </p:txBody>
      </p:sp>
    </p:spTree>
    <p:extLst>
      <p:ext uri="{BB962C8B-B14F-4D97-AF65-F5344CB8AC3E}">
        <p14:creationId xmlns:p14="http://schemas.microsoft.com/office/powerpoint/2010/main" val="3322865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40E2-824C-4722-AAFA-BE8C34B2628C}"/>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Advantages of VPN Headend Devices</a:t>
            </a:r>
            <a:br>
              <a:rPr lang="en-US" b="1" dirty="0"/>
            </a:br>
            <a:endParaRPr lang="en-US" dirty="0"/>
          </a:p>
        </p:txBody>
      </p:sp>
      <p:sp>
        <p:nvSpPr>
          <p:cNvPr id="3" name="Content Placeholder 2">
            <a:extLst>
              <a:ext uri="{FF2B5EF4-FFF2-40B4-BE49-F238E27FC236}">
                <a16:creationId xmlns:a16="http://schemas.microsoft.com/office/drawing/2014/main" id="{0F2D50C0-BA54-4BF3-A64A-4A9901BEFF22}"/>
              </a:ext>
            </a:extLst>
          </p:cNvPr>
          <p:cNvSpPr>
            <a:spLocks noGrp="1"/>
          </p:cNvSpPr>
          <p:nvPr>
            <p:ph idx="1"/>
          </p:nvPr>
        </p:nvSpPr>
        <p:spPr>
          <a:xfrm>
            <a:off x="609600" y="1219201"/>
            <a:ext cx="10972800" cy="4906964"/>
          </a:xfrm>
        </p:spPr>
        <p:txBody>
          <a:bodyPr>
            <a:normAutofit fontScale="92500" lnSpcReduction="10000"/>
          </a:bodyPr>
          <a:lstStyle/>
          <a:p>
            <a:r>
              <a:rPr lang="en-US" b="1" dirty="0"/>
              <a:t>Enhanced Security</a:t>
            </a:r>
            <a:r>
              <a:rPr lang="en-US" dirty="0"/>
              <a:t>: By encrypting data and authenticating users, VPN headend devices provide secure access to corporate resources over the internet.</a:t>
            </a:r>
          </a:p>
          <a:p>
            <a:r>
              <a:rPr lang="en-US" b="1" dirty="0"/>
              <a:t>Remote Access</a:t>
            </a:r>
            <a:r>
              <a:rPr lang="en-US" dirty="0"/>
              <a:t>: They enable employees to connect securely to the corporate network from remote locations, supporting remote work and mobility.</a:t>
            </a:r>
          </a:p>
          <a:p>
            <a:r>
              <a:rPr lang="en-US" b="1" dirty="0"/>
              <a:t>Cost Efficiency</a:t>
            </a:r>
            <a:r>
              <a:rPr lang="en-US" dirty="0"/>
              <a:t>: VPNs can reduce the need for expensive leased lines or dedicated circuits, as they utilize existing internet connections.</a:t>
            </a:r>
          </a:p>
          <a:p>
            <a:r>
              <a:rPr lang="en-US" b="1" dirty="0"/>
              <a:t>Scalability</a:t>
            </a:r>
            <a:r>
              <a:rPr lang="en-US" dirty="0"/>
              <a:t>: Organizations can easily add new users or devices to the VPN without significant infrastructure changes.</a:t>
            </a:r>
          </a:p>
          <a:p>
            <a:endParaRPr lang="en-US" dirty="0"/>
          </a:p>
        </p:txBody>
      </p:sp>
    </p:spTree>
    <p:extLst>
      <p:ext uri="{BB962C8B-B14F-4D97-AF65-F5344CB8AC3E}">
        <p14:creationId xmlns:p14="http://schemas.microsoft.com/office/powerpoint/2010/main" val="8876286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102A-B77E-4E70-B88F-865F30CFC2FA}"/>
              </a:ext>
            </a:extLst>
          </p:cNvPr>
          <p:cNvSpPr>
            <a:spLocks noGrp="1"/>
          </p:cNvSpPr>
          <p:nvPr>
            <p:ph type="title"/>
          </p:nvPr>
        </p:nvSpPr>
        <p:spPr>
          <a:xfrm>
            <a:off x="609600" y="274638"/>
            <a:ext cx="10972800" cy="715962"/>
          </a:xfrm>
        </p:spPr>
        <p:txBody>
          <a:bodyPr>
            <a:normAutofit fontScale="90000"/>
          </a:bodyPr>
          <a:lstStyle/>
          <a:p>
            <a:br>
              <a:rPr lang="en-US" b="1" dirty="0"/>
            </a:br>
            <a:r>
              <a:rPr lang="en-US" b="1" dirty="0"/>
              <a:t>Disadvantages of VPN Headend Devices</a:t>
            </a:r>
            <a:br>
              <a:rPr lang="en-US" b="1" dirty="0"/>
            </a:br>
            <a:endParaRPr lang="en-US" dirty="0"/>
          </a:p>
        </p:txBody>
      </p:sp>
      <p:sp>
        <p:nvSpPr>
          <p:cNvPr id="3" name="Content Placeholder 2">
            <a:extLst>
              <a:ext uri="{FF2B5EF4-FFF2-40B4-BE49-F238E27FC236}">
                <a16:creationId xmlns:a16="http://schemas.microsoft.com/office/drawing/2014/main" id="{400DC871-F8C9-4712-9122-6E1827D8AE1C}"/>
              </a:ext>
            </a:extLst>
          </p:cNvPr>
          <p:cNvSpPr>
            <a:spLocks noGrp="1"/>
          </p:cNvSpPr>
          <p:nvPr>
            <p:ph idx="1"/>
          </p:nvPr>
        </p:nvSpPr>
        <p:spPr>
          <a:xfrm>
            <a:off x="609600" y="1143001"/>
            <a:ext cx="10972800" cy="4983164"/>
          </a:xfrm>
        </p:spPr>
        <p:txBody>
          <a:bodyPr>
            <a:normAutofit fontScale="92500" lnSpcReduction="10000"/>
          </a:bodyPr>
          <a:lstStyle/>
          <a:p>
            <a:r>
              <a:rPr lang="en-US" b="1" dirty="0"/>
              <a:t>Performance Overhead</a:t>
            </a:r>
            <a:r>
              <a:rPr lang="en-US" dirty="0"/>
              <a:t>: The encryption and decryption processes can introduce latency and impact overall network performance, especially under heavy loads.</a:t>
            </a:r>
          </a:p>
          <a:p>
            <a:r>
              <a:rPr lang="en-US" b="1" dirty="0"/>
              <a:t>Complex Configuration</a:t>
            </a:r>
            <a:r>
              <a:rPr lang="en-US" dirty="0"/>
              <a:t>: Setting up and managing a VPN headend device can be complex and may require specialized knowledge.</a:t>
            </a:r>
          </a:p>
          <a:p>
            <a:r>
              <a:rPr lang="en-US" b="1" dirty="0"/>
              <a:t>Single Point of Failure</a:t>
            </a:r>
            <a:r>
              <a:rPr lang="en-US" dirty="0"/>
              <a:t>: If the VPN headend device fails, remote users may lose access to the corporate network, emphasizing the need for redundancy.</a:t>
            </a:r>
          </a:p>
          <a:p>
            <a:r>
              <a:rPr lang="en-US" b="1" dirty="0"/>
              <a:t>Security Risks</a:t>
            </a:r>
            <a:r>
              <a:rPr lang="en-US" dirty="0"/>
              <a:t>: If not properly configured, VPN headend devices can become targets for attacks, potentially exposing the network to security breaches.</a:t>
            </a:r>
          </a:p>
          <a:p>
            <a:endParaRPr lang="en-US" dirty="0"/>
          </a:p>
        </p:txBody>
      </p:sp>
    </p:spTree>
    <p:extLst>
      <p:ext uri="{BB962C8B-B14F-4D97-AF65-F5344CB8AC3E}">
        <p14:creationId xmlns:p14="http://schemas.microsoft.com/office/powerpoint/2010/main" val="267267785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4107-53B1-4D43-97B7-AB89B6AF9A5F}"/>
              </a:ext>
            </a:extLst>
          </p:cNvPr>
          <p:cNvSpPr>
            <a:spLocks noGrp="1"/>
          </p:cNvSpPr>
          <p:nvPr>
            <p:ph type="title"/>
          </p:nvPr>
        </p:nvSpPr>
        <p:spPr/>
        <p:txBody>
          <a:bodyPr>
            <a:normAutofit fontScale="90000"/>
          </a:bodyPr>
          <a:lstStyle/>
          <a:p>
            <a:br>
              <a:rPr lang="en-US" b="1" dirty="0"/>
            </a:br>
            <a:r>
              <a:rPr lang="en-US" b="1" dirty="0"/>
              <a:t>Use Cases of VPN Headend Devices</a:t>
            </a:r>
            <a:br>
              <a:rPr lang="en-US" b="1" dirty="0"/>
            </a:br>
            <a:endParaRPr lang="en-US" dirty="0"/>
          </a:p>
        </p:txBody>
      </p:sp>
      <p:sp>
        <p:nvSpPr>
          <p:cNvPr id="3" name="Content Placeholder 2">
            <a:extLst>
              <a:ext uri="{FF2B5EF4-FFF2-40B4-BE49-F238E27FC236}">
                <a16:creationId xmlns:a16="http://schemas.microsoft.com/office/drawing/2014/main" id="{E9A63138-2053-4162-A091-1AE1DF8ADB14}"/>
              </a:ext>
            </a:extLst>
          </p:cNvPr>
          <p:cNvSpPr>
            <a:spLocks noGrp="1"/>
          </p:cNvSpPr>
          <p:nvPr>
            <p:ph idx="1"/>
          </p:nvPr>
        </p:nvSpPr>
        <p:spPr/>
        <p:txBody>
          <a:bodyPr>
            <a:normAutofit lnSpcReduction="10000"/>
          </a:bodyPr>
          <a:lstStyle/>
          <a:p>
            <a:r>
              <a:rPr lang="en-US" b="1" dirty="0"/>
              <a:t>Remote Workforce</a:t>
            </a:r>
            <a:r>
              <a:rPr lang="en-US" dirty="0"/>
              <a:t>: Enabling remote employees to securely access company resources, applications, and data from anywhere with an internet connection.</a:t>
            </a:r>
          </a:p>
          <a:p>
            <a:r>
              <a:rPr lang="en-US" b="1" dirty="0"/>
              <a:t>Branch Office Connectivity</a:t>
            </a:r>
            <a:r>
              <a:rPr lang="en-US" dirty="0"/>
              <a:t>: Providing secure connections between multiple branch offices and the main corporate network, facilitating secure data exchange.</a:t>
            </a:r>
          </a:p>
          <a:p>
            <a:r>
              <a:rPr lang="en-US" b="1" dirty="0"/>
              <a:t>Secure Communication</a:t>
            </a:r>
            <a:r>
              <a:rPr lang="en-US" dirty="0"/>
              <a:t>: Ensuring that sensitive data transmitted over public networks remains confidential and protected from eavesdropping.</a:t>
            </a:r>
          </a:p>
          <a:p>
            <a:endParaRPr lang="en-US" dirty="0"/>
          </a:p>
        </p:txBody>
      </p:sp>
    </p:spTree>
    <p:extLst>
      <p:ext uri="{BB962C8B-B14F-4D97-AF65-F5344CB8AC3E}">
        <p14:creationId xmlns:p14="http://schemas.microsoft.com/office/powerpoint/2010/main" val="42855985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8EF6-9F1C-4917-BA9D-02566578D65E}"/>
              </a:ext>
            </a:extLst>
          </p:cNvPr>
          <p:cNvSpPr>
            <a:spLocks noGrp="1"/>
          </p:cNvSpPr>
          <p:nvPr>
            <p:ph type="title"/>
          </p:nvPr>
        </p:nvSpPr>
        <p:spPr/>
        <p:txBody>
          <a:bodyPr/>
          <a:lstStyle/>
          <a:p>
            <a:r>
              <a:rPr lang="en-US" b="1" dirty="0">
                <a:latin typeface="Gill Sans MT" panose="020B0502020104020203" pitchFamily="34" charset="0"/>
              </a:rPr>
              <a:t>Intrusion Detection and Prevention</a:t>
            </a:r>
            <a:endParaRPr lang="en-US" dirty="0"/>
          </a:p>
        </p:txBody>
      </p:sp>
      <p:sp>
        <p:nvSpPr>
          <p:cNvPr id="3" name="Content Placeholder 2">
            <a:extLst>
              <a:ext uri="{FF2B5EF4-FFF2-40B4-BE49-F238E27FC236}">
                <a16:creationId xmlns:a16="http://schemas.microsoft.com/office/drawing/2014/main" id="{54102460-F6DB-4E03-87B5-573CEAD3410C}"/>
              </a:ext>
            </a:extLst>
          </p:cNvPr>
          <p:cNvSpPr>
            <a:spLocks noGrp="1"/>
          </p:cNvSpPr>
          <p:nvPr>
            <p:ph idx="1"/>
          </p:nvPr>
        </p:nvSpPr>
        <p:spPr/>
        <p:txBody>
          <a:bodyPr/>
          <a:lstStyle/>
          <a:p>
            <a:r>
              <a:rPr lang="en-US" b="1" dirty="0"/>
              <a:t>Intrusion Detection and Prevention Systems (IDPS)</a:t>
            </a:r>
            <a:r>
              <a:rPr lang="en-US" dirty="0"/>
              <a:t> are security solutions designed to monitor network or system activities for malicious activities or policy violations. </a:t>
            </a:r>
          </a:p>
          <a:p>
            <a:r>
              <a:rPr lang="en-US" dirty="0"/>
              <a:t>They detect potential security threats and can respond by alerting administrators or taking automated actions to prevent intrusions.</a:t>
            </a:r>
          </a:p>
        </p:txBody>
      </p:sp>
    </p:spTree>
    <p:extLst>
      <p:ext uri="{BB962C8B-B14F-4D97-AF65-F5344CB8AC3E}">
        <p14:creationId xmlns:p14="http://schemas.microsoft.com/office/powerpoint/2010/main" val="22609182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Gill Sans MT" panose="020B0502020104020203" pitchFamily="34" charset="0"/>
              </a:rPr>
              <a:t>IDS and IPS Network Placement </a:t>
            </a:r>
            <a:br>
              <a:rPr lang="en-US" b="1" dirty="0">
                <a:latin typeface="Gill Sans MT" panose="020B0502020104020203" pitchFamily="34" charset="0"/>
              </a:rPr>
            </a:br>
            <a:endParaRPr lang="en-US" b="1" dirty="0">
              <a:latin typeface="Gill Sans MT" panose="020B0502020104020203" pitchFamily="34" charset="0"/>
            </a:endParaRPr>
          </a:p>
        </p:txBody>
      </p:sp>
      <p:pic>
        <p:nvPicPr>
          <p:cNvPr id="4" name="Picture 3"/>
          <p:cNvPicPr>
            <a:picLocks noChangeAspect="1"/>
          </p:cNvPicPr>
          <p:nvPr/>
        </p:nvPicPr>
        <p:blipFill>
          <a:blip r:embed="rId2"/>
          <a:stretch>
            <a:fillRect/>
          </a:stretch>
        </p:blipFill>
        <p:spPr>
          <a:xfrm>
            <a:off x="3810000" y="1524000"/>
            <a:ext cx="5897483" cy="4714875"/>
          </a:xfrm>
          <a:prstGeom prst="rect">
            <a:avLst/>
          </a:prstGeom>
        </p:spPr>
      </p:pic>
    </p:spTree>
    <p:extLst>
      <p:ext uri="{BB962C8B-B14F-4D97-AF65-F5344CB8AC3E}">
        <p14:creationId xmlns:p14="http://schemas.microsoft.com/office/powerpoint/2010/main" val="30468362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5CEBD-1F82-4EAF-A906-A6086F35E290}"/>
              </a:ext>
            </a:extLst>
          </p:cNvPr>
          <p:cNvSpPr>
            <a:spLocks noGrp="1"/>
          </p:cNvSpPr>
          <p:nvPr>
            <p:ph type="title"/>
          </p:nvPr>
        </p:nvSpPr>
        <p:spPr>
          <a:xfrm>
            <a:off x="609600" y="274638"/>
            <a:ext cx="10972800" cy="563562"/>
          </a:xfrm>
        </p:spPr>
        <p:txBody>
          <a:bodyPr>
            <a:normAutofit fontScale="90000"/>
          </a:bodyPr>
          <a:lstStyle/>
          <a:p>
            <a:br>
              <a:rPr lang="en-US" b="1" dirty="0"/>
            </a:br>
            <a:r>
              <a:rPr lang="en-US" b="1" dirty="0"/>
              <a:t>Key Functions of IDPS</a:t>
            </a:r>
            <a:br>
              <a:rPr lang="en-US" b="1" dirty="0"/>
            </a:br>
            <a:endParaRPr lang="en-US" dirty="0"/>
          </a:p>
        </p:txBody>
      </p:sp>
      <p:sp>
        <p:nvSpPr>
          <p:cNvPr id="3" name="Content Placeholder 2">
            <a:extLst>
              <a:ext uri="{FF2B5EF4-FFF2-40B4-BE49-F238E27FC236}">
                <a16:creationId xmlns:a16="http://schemas.microsoft.com/office/drawing/2014/main" id="{E57AFA6E-7F7F-45FA-835F-B2C8DDBCD9B8}"/>
              </a:ext>
            </a:extLst>
          </p:cNvPr>
          <p:cNvSpPr>
            <a:spLocks noGrp="1"/>
          </p:cNvSpPr>
          <p:nvPr>
            <p:ph idx="1"/>
          </p:nvPr>
        </p:nvSpPr>
        <p:spPr>
          <a:xfrm>
            <a:off x="609600" y="1066801"/>
            <a:ext cx="10972800" cy="5059364"/>
          </a:xfrm>
        </p:spPr>
        <p:txBody>
          <a:bodyPr>
            <a:normAutofit fontScale="85000" lnSpcReduction="10000"/>
          </a:bodyPr>
          <a:lstStyle/>
          <a:p>
            <a:r>
              <a:rPr lang="en-US" b="1" dirty="0"/>
              <a:t>Monitoring</a:t>
            </a:r>
            <a:r>
              <a:rPr lang="en-US" dirty="0"/>
              <a:t>: Continuously monitors network traffic, system logs, and other data sources to identify suspicious activity.</a:t>
            </a:r>
          </a:p>
          <a:p>
            <a:r>
              <a:rPr lang="en-US" b="1" dirty="0"/>
              <a:t>Detection</a:t>
            </a:r>
            <a:r>
              <a:rPr lang="en-US" dirty="0"/>
              <a:t>: Identifies potential security incidents using various detection methods, such as signature-based, anomaly-based, and stateful protocol analysis.</a:t>
            </a:r>
          </a:p>
          <a:p>
            <a:r>
              <a:rPr lang="en-US" b="1" dirty="0"/>
              <a:t>Response</a:t>
            </a:r>
            <a:r>
              <a:rPr lang="en-US" dirty="0"/>
              <a:t>: Takes action in response to detected threats, which may include alerting administrators, logging events, or actively blocking malicious traffic.</a:t>
            </a:r>
          </a:p>
          <a:p>
            <a:r>
              <a:rPr lang="en-US" b="1" dirty="0"/>
              <a:t>Reporting</a:t>
            </a:r>
            <a:r>
              <a:rPr lang="en-US" dirty="0"/>
              <a:t>: Generates alerts and reports on detected threats, providing insights into security incidents and helping with compliance requirements.</a:t>
            </a:r>
          </a:p>
          <a:p>
            <a:r>
              <a:rPr lang="en-US" b="1" dirty="0"/>
              <a:t>Analysis</a:t>
            </a:r>
            <a:r>
              <a:rPr lang="en-US" dirty="0"/>
              <a:t>: Analyzes traffic patterns and behavior to improve detection capabilities and reduce false positives.</a:t>
            </a:r>
          </a:p>
          <a:p>
            <a:endParaRPr lang="en-US" dirty="0"/>
          </a:p>
        </p:txBody>
      </p:sp>
    </p:spTree>
    <p:extLst>
      <p:ext uri="{BB962C8B-B14F-4D97-AF65-F5344CB8AC3E}">
        <p14:creationId xmlns:p14="http://schemas.microsoft.com/office/powerpoint/2010/main" val="29507495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49511-B7D0-4611-BE16-042D9E3F516E}"/>
              </a:ext>
            </a:extLst>
          </p:cNvPr>
          <p:cNvSpPr>
            <a:spLocks noGrp="1"/>
          </p:cNvSpPr>
          <p:nvPr>
            <p:ph type="title"/>
          </p:nvPr>
        </p:nvSpPr>
        <p:spPr>
          <a:xfrm>
            <a:off x="609600" y="274638"/>
            <a:ext cx="10972800" cy="792162"/>
          </a:xfrm>
        </p:spPr>
        <p:txBody>
          <a:bodyPr>
            <a:normAutofit fontScale="90000"/>
          </a:bodyPr>
          <a:lstStyle/>
          <a:p>
            <a:br>
              <a:rPr lang="en-US" b="1" dirty="0"/>
            </a:br>
            <a:r>
              <a:rPr lang="en-US" b="1" dirty="0"/>
              <a:t>Types of IDPS</a:t>
            </a:r>
            <a:br>
              <a:rPr lang="en-US" b="1" dirty="0"/>
            </a:br>
            <a:endParaRPr lang="en-US" dirty="0"/>
          </a:p>
        </p:txBody>
      </p:sp>
      <p:sp>
        <p:nvSpPr>
          <p:cNvPr id="3" name="Content Placeholder 2">
            <a:extLst>
              <a:ext uri="{FF2B5EF4-FFF2-40B4-BE49-F238E27FC236}">
                <a16:creationId xmlns:a16="http://schemas.microsoft.com/office/drawing/2014/main" id="{2379FD54-77EE-410C-8804-A39C6564A072}"/>
              </a:ext>
            </a:extLst>
          </p:cNvPr>
          <p:cNvSpPr>
            <a:spLocks noGrp="1"/>
          </p:cNvSpPr>
          <p:nvPr>
            <p:ph idx="1"/>
          </p:nvPr>
        </p:nvSpPr>
        <p:spPr>
          <a:xfrm>
            <a:off x="609600" y="1295401"/>
            <a:ext cx="10972800" cy="4830764"/>
          </a:xfrm>
        </p:spPr>
        <p:txBody>
          <a:bodyPr>
            <a:normAutofit fontScale="77500" lnSpcReduction="20000"/>
          </a:bodyPr>
          <a:lstStyle/>
          <a:p>
            <a:r>
              <a:rPr lang="en-US" b="1" dirty="0"/>
              <a:t>Network-Based Intrusion Detection Systems (NIDS)</a:t>
            </a:r>
            <a:r>
              <a:rPr lang="en-US" dirty="0"/>
              <a:t>:</a:t>
            </a:r>
          </a:p>
          <a:p>
            <a:pPr lvl="1"/>
            <a:r>
              <a:rPr lang="en-US" dirty="0"/>
              <a:t>Monitors network traffic in real-time for suspicious activities.</a:t>
            </a:r>
          </a:p>
          <a:p>
            <a:pPr lvl="1"/>
            <a:r>
              <a:rPr lang="en-US" dirty="0"/>
              <a:t>Typically deployed at strategic points within a network (e.g., perimeter, critical network segments).</a:t>
            </a:r>
          </a:p>
          <a:p>
            <a:pPr lvl="1"/>
            <a:r>
              <a:rPr lang="en-US" dirty="0"/>
              <a:t>Analyzes packets traversing the network to identify potential threats.</a:t>
            </a:r>
          </a:p>
          <a:p>
            <a:r>
              <a:rPr lang="en-US" b="1" dirty="0"/>
              <a:t>Host-Based Intrusion Detection Systems (HIDS)</a:t>
            </a:r>
            <a:r>
              <a:rPr lang="en-US" dirty="0"/>
              <a:t>:</a:t>
            </a:r>
          </a:p>
          <a:p>
            <a:pPr lvl="1"/>
            <a:r>
              <a:rPr lang="en-US" dirty="0"/>
              <a:t>Monitors individual hosts or devices for malicious activities.</a:t>
            </a:r>
          </a:p>
          <a:p>
            <a:pPr lvl="1"/>
            <a:r>
              <a:rPr lang="en-US" dirty="0"/>
              <a:t>Analyzes system logs, file integrity, and user activities to detect unauthorized actions.</a:t>
            </a:r>
          </a:p>
          <a:p>
            <a:pPr lvl="1"/>
            <a:r>
              <a:rPr lang="en-US" dirty="0"/>
              <a:t>Provides deeper visibility into specific endpoints compared to NIDS.</a:t>
            </a:r>
          </a:p>
          <a:p>
            <a:r>
              <a:rPr lang="en-US" b="1" dirty="0"/>
              <a:t>Hybrid IDPS</a:t>
            </a:r>
            <a:r>
              <a:rPr lang="en-US" dirty="0"/>
              <a:t>:</a:t>
            </a:r>
          </a:p>
          <a:p>
            <a:pPr lvl="1"/>
            <a:r>
              <a:rPr lang="en-US" dirty="0"/>
              <a:t>Combines elements of both network-based and host-based systems.</a:t>
            </a:r>
          </a:p>
          <a:p>
            <a:pPr lvl="1"/>
            <a:r>
              <a:rPr lang="en-US" dirty="0"/>
              <a:t>Offers comprehensive coverage by monitoring network traffic while also examining host activities.</a:t>
            </a:r>
          </a:p>
          <a:p>
            <a:endParaRPr lang="en-US" dirty="0"/>
          </a:p>
        </p:txBody>
      </p:sp>
    </p:spTree>
    <p:extLst>
      <p:ext uri="{BB962C8B-B14F-4D97-AF65-F5344CB8AC3E}">
        <p14:creationId xmlns:p14="http://schemas.microsoft.com/office/powerpoint/2010/main" val="14451497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748BA-875A-4C16-B54D-E12CAA80C509}"/>
              </a:ext>
            </a:extLst>
          </p:cNvPr>
          <p:cNvSpPr>
            <a:spLocks noGrp="1"/>
          </p:cNvSpPr>
          <p:nvPr>
            <p:ph type="title"/>
          </p:nvPr>
        </p:nvSpPr>
        <p:spPr>
          <a:xfrm>
            <a:off x="609600" y="274638"/>
            <a:ext cx="10972800" cy="639762"/>
          </a:xfrm>
        </p:spPr>
        <p:txBody>
          <a:bodyPr>
            <a:normAutofit fontScale="90000"/>
          </a:bodyPr>
          <a:lstStyle/>
          <a:p>
            <a:br>
              <a:rPr lang="en-US" b="1" dirty="0"/>
            </a:br>
            <a:r>
              <a:rPr lang="en-US" b="1" dirty="0"/>
              <a:t>Detection Methods</a:t>
            </a:r>
            <a:br>
              <a:rPr lang="en-US" b="1" dirty="0"/>
            </a:br>
            <a:endParaRPr lang="en-US" dirty="0"/>
          </a:p>
        </p:txBody>
      </p:sp>
      <p:sp>
        <p:nvSpPr>
          <p:cNvPr id="3" name="Content Placeholder 2">
            <a:extLst>
              <a:ext uri="{FF2B5EF4-FFF2-40B4-BE49-F238E27FC236}">
                <a16:creationId xmlns:a16="http://schemas.microsoft.com/office/drawing/2014/main" id="{8D877432-56E0-4921-9A8B-31B46594A717}"/>
              </a:ext>
            </a:extLst>
          </p:cNvPr>
          <p:cNvSpPr>
            <a:spLocks noGrp="1"/>
          </p:cNvSpPr>
          <p:nvPr>
            <p:ph idx="1"/>
          </p:nvPr>
        </p:nvSpPr>
        <p:spPr>
          <a:xfrm>
            <a:off x="609600" y="1143001"/>
            <a:ext cx="10972800" cy="4983164"/>
          </a:xfrm>
        </p:spPr>
        <p:txBody>
          <a:bodyPr>
            <a:normAutofit fontScale="85000" lnSpcReduction="20000"/>
          </a:bodyPr>
          <a:lstStyle/>
          <a:p>
            <a:r>
              <a:rPr lang="en-US" b="1" dirty="0"/>
              <a:t>Signature-Based Detection</a:t>
            </a:r>
            <a:r>
              <a:rPr lang="en-US" dirty="0"/>
              <a:t>:</a:t>
            </a:r>
          </a:p>
          <a:p>
            <a:pPr lvl="1"/>
            <a:r>
              <a:rPr lang="en-US" dirty="0"/>
              <a:t>Identifies known threats by comparing incoming data against a database of signatures (known patterns of malicious activity).</a:t>
            </a:r>
          </a:p>
          <a:p>
            <a:pPr lvl="1"/>
            <a:r>
              <a:rPr lang="en-US" dirty="0"/>
              <a:t>Effective for detecting known attacks but may struggle with zero-day threats.</a:t>
            </a:r>
          </a:p>
          <a:p>
            <a:r>
              <a:rPr lang="en-US" b="1" dirty="0"/>
              <a:t>Anomaly-Based Detection</a:t>
            </a:r>
            <a:r>
              <a:rPr lang="en-US" dirty="0"/>
              <a:t>:</a:t>
            </a:r>
          </a:p>
          <a:p>
            <a:pPr lvl="1"/>
            <a:r>
              <a:rPr lang="en-US" dirty="0"/>
              <a:t>Establishes a baseline of normal behavior for network traffic or system activities and flags deviations from this norm as potential threats.</a:t>
            </a:r>
          </a:p>
          <a:p>
            <a:pPr lvl="1"/>
            <a:r>
              <a:rPr lang="en-US" dirty="0"/>
              <a:t>More effective in identifying new or unknown attacks but may result in a higher number of false positives.</a:t>
            </a:r>
          </a:p>
          <a:p>
            <a:r>
              <a:rPr lang="en-US" b="1" dirty="0"/>
              <a:t>Stateful Protocol Analysis</a:t>
            </a:r>
            <a:r>
              <a:rPr lang="en-US" dirty="0"/>
              <a:t>:</a:t>
            </a:r>
          </a:p>
          <a:p>
            <a:pPr lvl="1"/>
            <a:r>
              <a:rPr lang="en-US" dirty="0"/>
              <a:t>Examines network traffic in the context of expected protocol behavior to identify anomalies or deviations from established rules.</a:t>
            </a:r>
          </a:p>
          <a:p>
            <a:pPr lvl="1"/>
            <a:r>
              <a:rPr lang="en-US" dirty="0"/>
              <a:t>Effective in detecting attacks that exploit protocol vulnerabilities.</a:t>
            </a:r>
          </a:p>
          <a:p>
            <a:endParaRPr lang="en-US" dirty="0"/>
          </a:p>
        </p:txBody>
      </p:sp>
    </p:spTree>
    <p:extLst>
      <p:ext uri="{BB962C8B-B14F-4D97-AF65-F5344CB8AC3E}">
        <p14:creationId xmlns:p14="http://schemas.microsoft.com/office/powerpoint/2010/main" val="132297332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8E79-B2D1-4CEC-B795-AB21765FE5A1}"/>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Advantages of IDPS</a:t>
            </a:r>
            <a:br>
              <a:rPr lang="en-US" b="1" dirty="0"/>
            </a:br>
            <a:endParaRPr lang="en-US" dirty="0"/>
          </a:p>
        </p:txBody>
      </p:sp>
      <p:sp>
        <p:nvSpPr>
          <p:cNvPr id="3" name="Content Placeholder 2">
            <a:extLst>
              <a:ext uri="{FF2B5EF4-FFF2-40B4-BE49-F238E27FC236}">
                <a16:creationId xmlns:a16="http://schemas.microsoft.com/office/drawing/2014/main" id="{6E4B3695-B195-4317-9987-4BA04C91CB84}"/>
              </a:ext>
            </a:extLst>
          </p:cNvPr>
          <p:cNvSpPr>
            <a:spLocks noGrp="1"/>
          </p:cNvSpPr>
          <p:nvPr>
            <p:ph idx="1"/>
          </p:nvPr>
        </p:nvSpPr>
        <p:spPr>
          <a:xfrm>
            <a:off x="609600" y="990601"/>
            <a:ext cx="10972800" cy="5135564"/>
          </a:xfrm>
        </p:spPr>
        <p:txBody>
          <a:bodyPr>
            <a:normAutofit fontScale="92500"/>
          </a:bodyPr>
          <a:lstStyle/>
          <a:p>
            <a:r>
              <a:rPr lang="en-US" b="1" dirty="0"/>
              <a:t>Threat Detection</a:t>
            </a:r>
            <a:r>
              <a:rPr lang="en-US" dirty="0"/>
              <a:t>: Provides early warning of potential security incidents, allowing for rapid response and mitigation.</a:t>
            </a:r>
          </a:p>
          <a:p>
            <a:r>
              <a:rPr lang="en-US" b="1" dirty="0"/>
              <a:t>Automated Responses</a:t>
            </a:r>
            <a:r>
              <a:rPr lang="en-US" dirty="0"/>
              <a:t>: Can automate responses to certain threats, improving the speed and efficiency of incident handling.</a:t>
            </a:r>
          </a:p>
          <a:p>
            <a:r>
              <a:rPr lang="en-US" b="1" dirty="0"/>
              <a:t>Compliance and Reporting</a:t>
            </a:r>
            <a:r>
              <a:rPr lang="en-US" dirty="0"/>
              <a:t>: Helps organizations meet regulatory requirements by maintaining logs of security events and providing necessary reports.</a:t>
            </a:r>
          </a:p>
          <a:p>
            <a:r>
              <a:rPr lang="en-US" b="1" dirty="0"/>
              <a:t>Enhanced Visibility</a:t>
            </a:r>
            <a:r>
              <a:rPr lang="en-US" dirty="0"/>
              <a:t>: Offers insights into network and system activities, enabling better security posture and risk management.</a:t>
            </a:r>
          </a:p>
          <a:p>
            <a:endParaRPr lang="en-US" dirty="0"/>
          </a:p>
        </p:txBody>
      </p:sp>
    </p:spTree>
    <p:extLst>
      <p:ext uri="{BB962C8B-B14F-4D97-AF65-F5344CB8AC3E}">
        <p14:creationId xmlns:p14="http://schemas.microsoft.com/office/powerpoint/2010/main" val="10363331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A73F3-C67C-467D-BF3F-EC62E73AA063}"/>
              </a:ext>
            </a:extLst>
          </p:cNvPr>
          <p:cNvSpPr>
            <a:spLocks noGrp="1"/>
          </p:cNvSpPr>
          <p:nvPr>
            <p:ph type="title"/>
          </p:nvPr>
        </p:nvSpPr>
        <p:spPr>
          <a:xfrm>
            <a:off x="609600" y="274638"/>
            <a:ext cx="10972800" cy="457198"/>
          </a:xfrm>
        </p:spPr>
        <p:txBody>
          <a:bodyPr>
            <a:normAutofit fontScale="90000"/>
          </a:bodyPr>
          <a:lstStyle/>
          <a:p>
            <a:br>
              <a:rPr lang="en-US" b="1" dirty="0"/>
            </a:br>
            <a:r>
              <a:rPr lang="en-US" b="1" dirty="0"/>
              <a:t>Disadvantages of IDPS</a:t>
            </a:r>
            <a:br>
              <a:rPr lang="en-US" b="1" dirty="0"/>
            </a:br>
            <a:endParaRPr lang="en-US" dirty="0"/>
          </a:p>
        </p:txBody>
      </p:sp>
      <p:sp>
        <p:nvSpPr>
          <p:cNvPr id="3" name="Content Placeholder 2">
            <a:extLst>
              <a:ext uri="{FF2B5EF4-FFF2-40B4-BE49-F238E27FC236}">
                <a16:creationId xmlns:a16="http://schemas.microsoft.com/office/drawing/2014/main" id="{DFC16B6B-D64D-4CE3-BFC2-6EC9EF00B23F}"/>
              </a:ext>
            </a:extLst>
          </p:cNvPr>
          <p:cNvSpPr>
            <a:spLocks noGrp="1"/>
          </p:cNvSpPr>
          <p:nvPr>
            <p:ph idx="1"/>
          </p:nvPr>
        </p:nvSpPr>
        <p:spPr>
          <a:xfrm>
            <a:off x="609600" y="990601"/>
            <a:ext cx="10972800" cy="5135564"/>
          </a:xfrm>
        </p:spPr>
        <p:txBody>
          <a:bodyPr>
            <a:normAutofit fontScale="92500" lnSpcReduction="10000"/>
          </a:bodyPr>
          <a:lstStyle/>
          <a:p>
            <a:r>
              <a:rPr lang="en-US" b="1" dirty="0"/>
              <a:t>False Positives</a:t>
            </a:r>
            <a:r>
              <a:rPr lang="en-US" dirty="0"/>
              <a:t>: Anomaly detection may lead to a high number of false positives, requiring manual investigation and potentially overwhelming security teams.</a:t>
            </a:r>
          </a:p>
          <a:p>
            <a:r>
              <a:rPr lang="en-US" b="1" dirty="0"/>
              <a:t>Resource Intensive</a:t>
            </a:r>
            <a:r>
              <a:rPr lang="en-US" dirty="0"/>
              <a:t>: Monitoring and analyzing large volumes of data can require significant computational resources, impacting system performance.</a:t>
            </a:r>
          </a:p>
          <a:p>
            <a:r>
              <a:rPr lang="en-US" b="1" dirty="0"/>
              <a:t>Complex Configuration</a:t>
            </a:r>
            <a:r>
              <a:rPr lang="en-US" dirty="0"/>
              <a:t>: Properly configuring IDPS settings for optimal performance and minimal false alerts can be complex and time-consuming.</a:t>
            </a:r>
          </a:p>
          <a:p>
            <a:r>
              <a:rPr lang="en-US" b="1" dirty="0"/>
              <a:t>Limited Detection Scope</a:t>
            </a:r>
            <a:r>
              <a:rPr lang="en-US" dirty="0"/>
              <a:t>: Some IDPS may not detect threats that occur outside their monitoring capabilities (e.g., encrypted traffic).</a:t>
            </a:r>
          </a:p>
          <a:p>
            <a:endParaRPr lang="en-US" dirty="0"/>
          </a:p>
        </p:txBody>
      </p:sp>
    </p:spTree>
    <p:extLst>
      <p:ext uri="{BB962C8B-B14F-4D97-AF65-F5344CB8AC3E}">
        <p14:creationId xmlns:p14="http://schemas.microsoft.com/office/powerpoint/2010/main" val="286370185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8D5A-DC4B-4DF7-A3BE-0FC833DF4515}"/>
              </a:ext>
            </a:extLst>
          </p:cNvPr>
          <p:cNvSpPr>
            <a:spLocks noGrp="1"/>
          </p:cNvSpPr>
          <p:nvPr>
            <p:ph type="title"/>
          </p:nvPr>
        </p:nvSpPr>
        <p:spPr/>
        <p:txBody>
          <a:bodyPr>
            <a:normAutofit fontScale="90000"/>
          </a:bodyPr>
          <a:lstStyle/>
          <a:p>
            <a:br>
              <a:rPr lang="en-US" b="1" dirty="0"/>
            </a:br>
            <a:r>
              <a:rPr lang="en-US" b="1" dirty="0"/>
              <a:t>Use Cases of IDPS</a:t>
            </a:r>
            <a:br>
              <a:rPr lang="en-US" b="1" dirty="0"/>
            </a:br>
            <a:endParaRPr lang="en-US" dirty="0"/>
          </a:p>
        </p:txBody>
      </p:sp>
      <p:sp>
        <p:nvSpPr>
          <p:cNvPr id="3" name="Content Placeholder 2">
            <a:extLst>
              <a:ext uri="{FF2B5EF4-FFF2-40B4-BE49-F238E27FC236}">
                <a16:creationId xmlns:a16="http://schemas.microsoft.com/office/drawing/2014/main" id="{33EC75D3-2846-41F6-A692-AC9586A38EC6}"/>
              </a:ext>
            </a:extLst>
          </p:cNvPr>
          <p:cNvSpPr>
            <a:spLocks noGrp="1"/>
          </p:cNvSpPr>
          <p:nvPr>
            <p:ph idx="1"/>
          </p:nvPr>
        </p:nvSpPr>
        <p:spPr/>
        <p:txBody>
          <a:bodyPr>
            <a:normAutofit/>
          </a:bodyPr>
          <a:lstStyle/>
          <a:p>
            <a:r>
              <a:rPr lang="en-US" b="1" dirty="0"/>
              <a:t>Enterprise Security</a:t>
            </a:r>
            <a:r>
              <a:rPr lang="en-US" dirty="0"/>
              <a:t>: Protecting corporate networks by identifying and mitigating potential threats before they cause harm.</a:t>
            </a:r>
          </a:p>
          <a:p>
            <a:r>
              <a:rPr lang="en-US" b="1" dirty="0"/>
              <a:t>Compliance</a:t>
            </a:r>
            <a:r>
              <a:rPr lang="en-US" dirty="0"/>
              <a:t>: Assisting organizations in meeting regulatory requirements by monitoring for unauthorized access and maintaining logs.</a:t>
            </a:r>
          </a:p>
          <a:p>
            <a:r>
              <a:rPr lang="en-US" b="1" dirty="0"/>
              <a:t>Incident Response</a:t>
            </a:r>
            <a:r>
              <a:rPr lang="en-US" dirty="0"/>
              <a:t>: Enhancing incident response capabilities by providing actionable intelligence on detected security events.</a:t>
            </a:r>
          </a:p>
          <a:p>
            <a:endParaRPr lang="en-US" dirty="0"/>
          </a:p>
        </p:txBody>
      </p:sp>
    </p:spTree>
    <p:extLst>
      <p:ext uri="{BB962C8B-B14F-4D97-AF65-F5344CB8AC3E}">
        <p14:creationId xmlns:p14="http://schemas.microsoft.com/office/powerpoint/2010/main" val="384964561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Heating, Ventilation, and Air Conditioning (HVAC) Sensors</a:t>
            </a:r>
            <a:endParaRPr lang="en-US" dirty="0"/>
          </a:p>
        </p:txBody>
      </p:sp>
      <p:sp>
        <p:nvSpPr>
          <p:cNvPr id="3" name="Content Placeholder 2"/>
          <p:cNvSpPr>
            <a:spLocks noGrp="1"/>
          </p:cNvSpPr>
          <p:nvPr>
            <p:ph idx="1"/>
          </p:nvPr>
        </p:nvSpPr>
        <p:spPr/>
        <p:txBody>
          <a:bodyPr>
            <a:normAutofit fontScale="77500" lnSpcReduction="20000"/>
          </a:bodyPr>
          <a:lstStyle/>
          <a:p>
            <a:r>
              <a:rPr lang="en-US" dirty="0"/>
              <a:t>Heating, ventilation, and air conditioning (HVAC) is the technology you</a:t>
            </a:r>
            <a:br>
              <a:rPr lang="en-US" dirty="0"/>
            </a:br>
            <a:r>
              <a:rPr lang="en-US" dirty="0"/>
              <a:t>most likely appreciate every day for your indoor and vehicular</a:t>
            </a:r>
            <a:br>
              <a:rPr lang="en-US" dirty="0"/>
            </a:br>
            <a:r>
              <a:rPr lang="en-US" dirty="0"/>
              <a:t>environmental comfort. </a:t>
            </a:r>
          </a:p>
          <a:p>
            <a:r>
              <a:rPr lang="en-US" dirty="0"/>
              <a:t>The goal of HVAC systems is to provide thermal comfort and acceptable indoor air quality.</a:t>
            </a:r>
          </a:p>
          <a:p>
            <a:r>
              <a:rPr lang="en-US" dirty="0"/>
              <a:t>HVAC devices are frequently connected to networks in modern enterprise</a:t>
            </a:r>
            <a:br>
              <a:rPr lang="en-US" dirty="0"/>
            </a:br>
            <a:r>
              <a:rPr lang="en-US" dirty="0"/>
              <a:t>infrastructures. </a:t>
            </a:r>
          </a:p>
          <a:p>
            <a:r>
              <a:rPr lang="en-US" dirty="0"/>
              <a:t>Providing connectivity to the HVAC system through an </a:t>
            </a:r>
            <a:r>
              <a:rPr lang="en-US" b="1" i="1" dirty="0"/>
              <a:t>HVAC sensor </a:t>
            </a:r>
            <a:r>
              <a:rPr lang="en-US" dirty="0"/>
              <a:t>is extremely beneficial from a maintenance and configuration standpoint. </a:t>
            </a:r>
          </a:p>
          <a:p>
            <a:r>
              <a:rPr lang="en-US" dirty="0"/>
              <a:t>In addition, such connectivity is also of huge benefit when it comes time to carefully monitor the system and compile monitoring data in a central location for any analysis that might be required. </a:t>
            </a:r>
            <a:br>
              <a:rPr lang="en-US" dirty="0"/>
            </a:br>
            <a:endParaRPr lang="en-US" dirty="0"/>
          </a:p>
        </p:txBody>
      </p:sp>
    </p:spTree>
    <p:extLst>
      <p:ext uri="{BB962C8B-B14F-4D97-AF65-F5344CB8AC3E}">
        <p14:creationId xmlns:p14="http://schemas.microsoft.com/office/powerpoint/2010/main" val="7776566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11887200" cy="1143000"/>
          </a:xfrm>
        </p:spPr>
        <p:txBody>
          <a:bodyPr>
            <a:normAutofit fontScale="90000"/>
          </a:bodyPr>
          <a:lstStyle/>
          <a:p>
            <a:r>
              <a:rPr lang="en-US" b="1" dirty="0"/>
              <a:t>Industrial Control Systems/Supervisory Control and Data Acquisition (SCADA)</a:t>
            </a:r>
            <a:endParaRPr lang="en-US" dirty="0"/>
          </a:p>
        </p:txBody>
      </p:sp>
      <p:sp>
        <p:nvSpPr>
          <p:cNvPr id="3" name="Content Placeholder 2"/>
          <p:cNvSpPr>
            <a:spLocks noGrp="1"/>
          </p:cNvSpPr>
          <p:nvPr>
            <p:ph idx="1"/>
          </p:nvPr>
        </p:nvSpPr>
        <p:spPr/>
        <p:txBody>
          <a:bodyPr>
            <a:normAutofit fontScale="92500"/>
          </a:bodyPr>
          <a:lstStyle/>
          <a:p>
            <a:r>
              <a:rPr lang="en-US" dirty="0"/>
              <a:t>A </a:t>
            </a:r>
            <a:r>
              <a:rPr lang="en-US" b="1" i="1" dirty="0"/>
              <a:t>supervisory control and data acquisition (SCADA) </a:t>
            </a:r>
            <a:r>
              <a:rPr lang="en-US" dirty="0"/>
              <a:t>system is used</a:t>
            </a:r>
            <a:br>
              <a:rPr lang="en-US" dirty="0"/>
            </a:br>
            <a:r>
              <a:rPr lang="en-US" dirty="0"/>
              <a:t>to control remote equipment and to monitor that equipment. </a:t>
            </a:r>
          </a:p>
          <a:p>
            <a:r>
              <a:rPr lang="en-US" dirty="0"/>
              <a:t>It might be part of an </a:t>
            </a:r>
            <a:r>
              <a:rPr lang="en-US" b="1" i="1" dirty="0"/>
              <a:t>industrial control system (ICS) </a:t>
            </a:r>
            <a:r>
              <a:rPr lang="en-US" dirty="0"/>
              <a:t>that is used to manage a power plant or water treatment facility. </a:t>
            </a:r>
          </a:p>
          <a:p>
            <a:r>
              <a:rPr lang="en-US" dirty="0"/>
              <a:t>Networked devices like these with distributed control systems (DCSs) may have devices such as programmable logic controllers (PLCs) and remote terminal units (RTUs) that are proprietary and may require specialized training to learn and troubleshoot. </a:t>
            </a:r>
            <a:br>
              <a:rPr lang="en-US" dirty="0"/>
            </a:br>
            <a:endParaRPr lang="en-US" dirty="0"/>
          </a:p>
        </p:txBody>
      </p:sp>
    </p:spTree>
    <p:extLst>
      <p:ext uri="{BB962C8B-B14F-4D97-AF65-F5344CB8AC3E}">
        <p14:creationId xmlns:p14="http://schemas.microsoft.com/office/powerpoint/2010/main" val="36676097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5633767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latin typeface="Gill Sans MT" panose="020B0502020104020203" pitchFamily="34" charset="0"/>
              </a:rPr>
              <a:t>					THANK YOU</a:t>
            </a:r>
          </a:p>
        </p:txBody>
      </p:sp>
    </p:spTree>
    <p:extLst>
      <p:ext uri="{BB962C8B-B14F-4D97-AF65-F5344CB8AC3E}">
        <p14:creationId xmlns:p14="http://schemas.microsoft.com/office/powerpoint/2010/main" val="2574429240"/>
      </p:ext>
    </p:extLst>
  </p:cSld>
  <p:clrMapOvr>
    <a:masterClrMapping/>
  </p:clrMapOvr>
</p:sld>
</file>

<file path=ppt/theme/theme1.xml><?xml version="1.0" encoding="utf-8"?>
<a:theme xmlns:a="http://schemas.openxmlformats.org/drawingml/2006/main" name="ppt9032.tmp">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ppt9032.tmp</Template>
  <TotalTime>25133</TotalTime>
  <Words>12335</Words>
  <Application>Microsoft Office PowerPoint</Application>
  <PresentationFormat>Widescreen</PresentationFormat>
  <Paragraphs>764</Paragraphs>
  <Slides>132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132</vt:i4>
      </vt:variant>
    </vt:vector>
  </HeadingPairs>
  <TitlesOfParts>
    <vt:vector size="137" baseType="lpstr">
      <vt:lpstr>Arial</vt:lpstr>
      <vt:lpstr>Calibri</vt:lpstr>
      <vt:lpstr>Gill Sans MT</vt:lpstr>
      <vt:lpstr>Times New Roman</vt:lpstr>
      <vt:lpstr>ppt9032.tmp</vt:lpstr>
      <vt:lpstr>PowerPoint Presentation</vt:lpstr>
      <vt:lpstr>NETWORK COMPONENTS AND DEVICES </vt:lpstr>
      <vt:lpstr>Key Network Components and Devices </vt:lpstr>
      <vt:lpstr>1. Network Interface Card (NIC) </vt:lpstr>
      <vt:lpstr>NICs (Network Interface Cards)  </vt:lpstr>
      <vt:lpstr> Key Functions of NIC </vt:lpstr>
      <vt:lpstr> Types of NICs </vt:lpstr>
      <vt:lpstr> Key Components of a NIC </vt:lpstr>
      <vt:lpstr> Advantages of NICs </vt:lpstr>
      <vt:lpstr> Disadvantages of NICs </vt:lpstr>
      <vt:lpstr> NIC Troubleshooting </vt:lpstr>
      <vt:lpstr>Use Cases of NICs </vt:lpstr>
      <vt:lpstr>Hub</vt:lpstr>
      <vt:lpstr> Key Features of a Hub </vt:lpstr>
      <vt:lpstr> Types of Hubs </vt:lpstr>
      <vt:lpstr> Advantages of Hubs </vt:lpstr>
      <vt:lpstr> Disadvantages of Hubs </vt:lpstr>
      <vt:lpstr> Use Cases of Hubs </vt:lpstr>
      <vt:lpstr>Switch </vt:lpstr>
      <vt:lpstr> Key Functions of a Network Switch </vt:lpstr>
      <vt:lpstr> Key Functions of a Network Switch </vt:lpstr>
      <vt:lpstr> Types of Network Switches </vt:lpstr>
      <vt:lpstr> Types of Network Switches </vt:lpstr>
      <vt:lpstr>Advantages of Network Switches </vt:lpstr>
      <vt:lpstr>Disadvantages of Network Switches </vt:lpstr>
      <vt:lpstr>Use Cases for Network Switches </vt:lpstr>
      <vt:lpstr> Router </vt:lpstr>
      <vt:lpstr> Key Functions of a Router </vt:lpstr>
      <vt:lpstr> Types of Routers </vt:lpstr>
      <vt:lpstr> Types of Routers </vt:lpstr>
      <vt:lpstr>Key Features of Routers </vt:lpstr>
      <vt:lpstr> Key Features of Routers </vt:lpstr>
      <vt:lpstr>Advantages of Routers </vt:lpstr>
      <vt:lpstr>Disadvantages of Routers </vt:lpstr>
      <vt:lpstr> Use Cases for Routers </vt:lpstr>
      <vt:lpstr> Common Router Protocols </vt:lpstr>
      <vt:lpstr>Brouter</vt:lpstr>
      <vt:lpstr>PowerPoint Presentation</vt:lpstr>
      <vt:lpstr> Key Features of Brouters </vt:lpstr>
      <vt:lpstr> Advantages of Brouters </vt:lpstr>
      <vt:lpstr> Advantages of Brouters </vt:lpstr>
      <vt:lpstr> Disadvantages of Brouters </vt:lpstr>
      <vt:lpstr> Disadvantages of Brouters </vt:lpstr>
      <vt:lpstr> Use Cases of Brouters </vt:lpstr>
      <vt:lpstr>SOHO Router</vt:lpstr>
      <vt:lpstr> Key Features of SOHO Routers </vt:lpstr>
      <vt:lpstr> Key Features of SOHO Routers </vt:lpstr>
      <vt:lpstr> Types of SOHO Routers </vt:lpstr>
      <vt:lpstr> How SOHO Routers Work </vt:lpstr>
      <vt:lpstr> Advantages of SOHO Routers </vt:lpstr>
      <vt:lpstr> Disadvantages of SOHO Routers </vt:lpstr>
      <vt:lpstr> Use Cases of SOHO Routers </vt:lpstr>
      <vt:lpstr>Modem </vt:lpstr>
      <vt:lpstr> Key Functions of a Modem </vt:lpstr>
      <vt:lpstr> Types of Modems </vt:lpstr>
      <vt:lpstr> Types of Modems </vt:lpstr>
      <vt:lpstr> Advantages of Modems </vt:lpstr>
      <vt:lpstr> Disadvantages of Modems </vt:lpstr>
      <vt:lpstr> Use Cases for Modems </vt:lpstr>
      <vt:lpstr>Access Point (AP) </vt:lpstr>
      <vt:lpstr>Wireless Access Point in a Network  </vt:lpstr>
      <vt:lpstr> Key Functions of an Access Point </vt:lpstr>
      <vt:lpstr> Types of Access Points </vt:lpstr>
      <vt:lpstr> Types of Access Points </vt:lpstr>
      <vt:lpstr> Advantages of Access Points </vt:lpstr>
      <vt:lpstr> Disadvantages of Access Points </vt:lpstr>
      <vt:lpstr> Use Cases for Access Points </vt:lpstr>
      <vt:lpstr>Firewall </vt:lpstr>
      <vt:lpstr>FIREWALL  </vt:lpstr>
      <vt:lpstr> Key Functions of a Firewall </vt:lpstr>
      <vt:lpstr> Types of Firewalls </vt:lpstr>
      <vt:lpstr> Types of Firewalls </vt:lpstr>
      <vt:lpstr> Firewall Security Policies </vt:lpstr>
      <vt:lpstr> Advantages of Firewalls </vt:lpstr>
      <vt:lpstr> Disadvantages of Firewalls </vt:lpstr>
      <vt:lpstr> Use Cases for Firewalls </vt:lpstr>
      <vt:lpstr>Repeater </vt:lpstr>
      <vt:lpstr> Key Functions of a Repeater </vt:lpstr>
      <vt:lpstr> Types of Repeaters </vt:lpstr>
      <vt:lpstr> Types of Repeaters </vt:lpstr>
      <vt:lpstr> Applications of Repeaters </vt:lpstr>
      <vt:lpstr> Advantages of Repeaters </vt:lpstr>
      <vt:lpstr> Disadvantages of Repeaters </vt:lpstr>
      <vt:lpstr> Types of Transmission Mediums for Repeaters </vt:lpstr>
      <vt:lpstr> Use Cases for Repeaters </vt:lpstr>
      <vt:lpstr>Bridge </vt:lpstr>
      <vt:lpstr>Ethernet Bridge  </vt:lpstr>
      <vt:lpstr>Key Functions of a Network Bridge </vt:lpstr>
      <vt:lpstr> Types of Network Bridges </vt:lpstr>
      <vt:lpstr> Types of Network Bridges </vt:lpstr>
      <vt:lpstr> Advantages of Network Bridges </vt:lpstr>
      <vt:lpstr> Disadvantages of Network Bridges </vt:lpstr>
      <vt:lpstr> Common Use Cases </vt:lpstr>
      <vt:lpstr>Gateway </vt:lpstr>
      <vt:lpstr> Key Functions of a Gateway </vt:lpstr>
      <vt:lpstr> Types of Gateways </vt:lpstr>
      <vt:lpstr> Types of Gateways </vt:lpstr>
      <vt:lpstr> Advantages of Gateways </vt:lpstr>
      <vt:lpstr> Disadvantages of Gateways </vt:lpstr>
      <vt:lpstr>  Applications of Gateways  </vt:lpstr>
      <vt:lpstr> Load Balancer </vt:lpstr>
      <vt:lpstr> Key Functions of a Load Balancer </vt:lpstr>
      <vt:lpstr> Types of Load Balancers </vt:lpstr>
      <vt:lpstr> Types of Load Balancers </vt:lpstr>
      <vt:lpstr> Load Balancing Algorithms </vt:lpstr>
      <vt:lpstr> Advantages of Load Balancers </vt:lpstr>
      <vt:lpstr> Disadvantages of Load Balancers </vt:lpstr>
      <vt:lpstr> Use Cases for Load Balancers </vt:lpstr>
      <vt:lpstr> Network Attached Storage (NAS) </vt:lpstr>
      <vt:lpstr> Types of NAS </vt:lpstr>
      <vt:lpstr> Advantages of NAS </vt:lpstr>
      <vt:lpstr> Disadvantages of NAS </vt:lpstr>
      <vt:lpstr> Use Cases for NAS </vt:lpstr>
      <vt:lpstr> VIRTUAL PRIVATE NETWORK HEADEND DEVICE  </vt:lpstr>
      <vt:lpstr>Key Functions of a VPN Headend Device </vt:lpstr>
      <vt:lpstr>Key Functions of a VPN Headend Device </vt:lpstr>
      <vt:lpstr> Types of VPN Headend Devices </vt:lpstr>
      <vt:lpstr> Advantages of VPN Headend Devices </vt:lpstr>
      <vt:lpstr> Disadvantages of VPN Headend Devices </vt:lpstr>
      <vt:lpstr> Use Cases of VPN Headend Devices </vt:lpstr>
      <vt:lpstr>Intrusion Detection and Prevention</vt:lpstr>
      <vt:lpstr>IDS and IPS Network Placement  </vt:lpstr>
      <vt:lpstr> Key Functions of IDPS </vt:lpstr>
      <vt:lpstr> Types of IDPS </vt:lpstr>
      <vt:lpstr> Detection Methods </vt:lpstr>
      <vt:lpstr> Advantages of IDPS </vt:lpstr>
      <vt:lpstr> Disadvantages of IDPS </vt:lpstr>
      <vt:lpstr> Use Cases of IDPS </vt:lpstr>
      <vt:lpstr>Heating, Ventilation, and Air Conditioning (HVAC) Sensors</vt:lpstr>
      <vt:lpstr>Industrial Control Systems/Supervisory Control and Data Acquisition (SCADA)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COMPETITIVE ADVANTAGE AND STRATEGIC INFORMATION SYSTEMS</dc:title>
  <dc:creator>AKWETEY HENRY</dc:creator>
  <cp:lastModifiedBy>Fujitsu</cp:lastModifiedBy>
  <cp:revision>577</cp:revision>
  <dcterms:created xsi:type="dcterms:W3CDTF">2016-09-06T07:24:28Z</dcterms:created>
  <dcterms:modified xsi:type="dcterms:W3CDTF">2024-11-21T00:15:59Z</dcterms:modified>
</cp:coreProperties>
</file>